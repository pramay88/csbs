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61" r:id="rId6"/>
    <p:sldId id="262" r:id="rId7"/>
    <p:sldId id="263" r:id="rId8"/>
    <p:sldId id="264" r:id="rId9"/>
    <p:sldId id="270" r:id="rId10"/>
    <p:sldId id="265" r:id="rId11"/>
    <p:sldId id="266" r:id="rId12"/>
    <p:sldId id="267" r:id="rId13"/>
    <p:sldId id="268" r:id="rId14"/>
    <p:sldId id="269" r:id="rId15"/>
    <p:sldId id="271" r:id="rId16"/>
    <p:sldId id="272" r:id="rId17"/>
    <p:sldId id="273" r:id="rId18"/>
    <p:sldId id="274" r:id="rId19"/>
    <p:sldId id="275" r:id="rId20"/>
    <p:sldId id="277" r:id="rId21"/>
    <p:sldId id="278" r:id="rId22"/>
    <p:sldId id="27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EECA98-1EE0-45F3-B06E-2E9784637047}" type="datetimeFigureOut">
              <a:rPr lang="en-US" smtClean="0"/>
              <a:pPr/>
              <a:t>8/15/2021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5AA9A5-6E7B-41BA-AF3F-A97F378A48D4}" type="slidenum">
              <a:rPr lang="en-US" smtClean="0"/>
              <a:pPr/>
              <a:t>‹#›</a:t>
            </a:fld>
            <a:endParaRPr lang="en-US"/>
          </a:p>
        </p:txBody>
      </p:sp>
    </p:spTree>
    <p:extLst>
      <p:ext uri="{BB962C8B-B14F-4D97-AF65-F5344CB8AC3E}">
        <p14:creationId xmlns:p14="http://schemas.microsoft.com/office/powerpoint/2010/main" val="1652551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9003816B-A1F5-452D-BAEF-349899C715E3}" type="slidenum">
              <a:rPr lang="en-US"/>
              <a:pPr/>
              <a:t>10</a:t>
            </a:fld>
            <a:endParaRPr lang="en-US"/>
          </a:p>
        </p:txBody>
      </p:sp>
      <p:sp>
        <p:nvSpPr>
          <p:cNvPr id="44033" name="Rectangle 1"/>
          <p:cNvSpPr txBox="1">
            <a:spLocks noGrp="1" noRot="1" noChangeAspect="1" noChangeArrowheads="1"/>
          </p:cNvSpPr>
          <p:nvPr>
            <p:ph type="sldImg"/>
          </p:nvPr>
        </p:nvSpPr>
        <p:spPr bwMode="auto">
          <a:xfrm>
            <a:off x="1139344" y="695808"/>
            <a:ext cx="4579314" cy="3427436"/>
          </a:xfrm>
          <a:prstGeom prst="rect">
            <a:avLst/>
          </a:prstGeom>
          <a:solidFill>
            <a:srgbClr val="FFFFFF"/>
          </a:solidFill>
          <a:ln>
            <a:solidFill>
              <a:srgbClr val="000000"/>
            </a:solidFill>
            <a:miter lim="800000"/>
            <a:headEnd/>
            <a:tailEnd/>
          </a:ln>
        </p:spPr>
      </p:sp>
      <p:sp>
        <p:nvSpPr>
          <p:cNvPr id="44034" name="Rectangle 2"/>
          <p:cNvSpPr txBox="1">
            <a:spLocks noGrp="1" noChangeArrowheads="1"/>
          </p:cNvSpPr>
          <p:nvPr>
            <p:ph type="body" idx="1"/>
          </p:nvPr>
        </p:nvSpPr>
        <p:spPr bwMode="auto">
          <a:xfrm>
            <a:off x="685512" y="4343231"/>
            <a:ext cx="5486977" cy="4115139"/>
          </a:xfrm>
          <a:prstGeom prst="rect">
            <a:avLst/>
          </a:prstGeom>
          <a:noFill/>
          <a:ln>
            <a:round/>
            <a:headEnd/>
            <a:tailEnd/>
          </a:ln>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F6481630-7469-4CCC-83AA-52CDFBAA0135}" type="slidenum">
              <a:rPr lang="en-US"/>
              <a:pPr/>
              <a:t>11</a:t>
            </a:fld>
            <a:endParaRPr lang="en-US"/>
          </a:p>
        </p:txBody>
      </p:sp>
      <p:sp>
        <p:nvSpPr>
          <p:cNvPr id="45057" name="Rectangle 1"/>
          <p:cNvSpPr txBox="1">
            <a:spLocks noGrp="1" noRot="1" noChangeAspect="1" noChangeArrowheads="1"/>
          </p:cNvSpPr>
          <p:nvPr>
            <p:ph type="sldImg"/>
          </p:nvPr>
        </p:nvSpPr>
        <p:spPr bwMode="auto">
          <a:xfrm>
            <a:off x="1139344" y="695808"/>
            <a:ext cx="4579314" cy="3427436"/>
          </a:xfrm>
          <a:prstGeom prst="rect">
            <a:avLst/>
          </a:prstGeom>
          <a:solidFill>
            <a:srgbClr val="FFFFFF"/>
          </a:solidFill>
          <a:ln>
            <a:solidFill>
              <a:srgbClr val="000000"/>
            </a:solidFill>
            <a:miter lim="800000"/>
            <a:headEnd/>
            <a:tailEnd/>
          </a:ln>
        </p:spPr>
      </p:sp>
      <p:sp>
        <p:nvSpPr>
          <p:cNvPr id="45058" name="Rectangle 2"/>
          <p:cNvSpPr txBox="1">
            <a:spLocks noGrp="1" noChangeArrowheads="1"/>
          </p:cNvSpPr>
          <p:nvPr>
            <p:ph type="body" idx="1"/>
          </p:nvPr>
        </p:nvSpPr>
        <p:spPr bwMode="auto">
          <a:xfrm>
            <a:off x="685512" y="4343231"/>
            <a:ext cx="5486977" cy="4115139"/>
          </a:xfrm>
          <a:prstGeom prst="rect">
            <a:avLst/>
          </a:prstGeom>
          <a:noFill/>
          <a:ln>
            <a:round/>
            <a:headEnd/>
            <a:tailEnd/>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89830B50-5E71-45BB-8ABB-A5789EA72106}" type="slidenum">
              <a:rPr lang="en-US"/>
              <a:pPr/>
              <a:t>12</a:t>
            </a:fld>
            <a:endParaRPr lang="en-US"/>
          </a:p>
        </p:txBody>
      </p:sp>
      <p:sp>
        <p:nvSpPr>
          <p:cNvPr id="46081" name="Rectangle 1"/>
          <p:cNvSpPr txBox="1">
            <a:spLocks noGrp="1" noRot="1" noChangeAspect="1" noChangeArrowheads="1"/>
          </p:cNvSpPr>
          <p:nvPr>
            <p:ph type="sldImg"/>
          </p:nvPr>
        </p:nvSpPr>
        <p:spPr bwMode="auto">
          <a:xfrm>
            <a:off x="1139344" y="695808"/>
            <a:ext cx="4579314" cy="3427436"/>
          </a:xfrm>
          <a:prstGeom prst="rect">
            <a:avLst/>
          </a:prstGeom>
          <a:solidFill>
            <a:srgbClr val="FFFFFF"/>
          </a:solidFill>
          <a:ln>
            <a:solidFill>
              <a:srgbClr val="000000"/>
            </a:solidFill>
            <a:miter lim="800000"/>
            <a:headEnd/>
            <a:tailEnd/>
          </a:ln>
        </p:spPr>
      </p:sp>
      <p:sp>
        <p:nvSpPr>
          <p:cNvPr id="46082" name="Rectangle 2"/>
          <p:cNvSpPr txBox="1">
            <a:spLocks noGrp="1" noChangeArrowheads="1"/>
          </p:cNvSpPr>
          <p:nvPr>
            <p:ph type="body" idx="1"/>
          </p:nvPr>
        </p:nvSpPr>
        <p:spPr bwMode="auto">
          <a:xfrm>
            <a:off x="685512" y="4343231"/>
            <a:ext cx="5486977" cy="4115139"/>
          </a:xfrm>
          <a:prstGeom prst="rect">
            <a:avLst/>
          </a:prstGeom>
          <a:noFill/>
          <a:ln>
            <a:round/>
            <a:headEnd/>
            <a:tailEnd/>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AA6742F2-97F9-4B69-BFCA-75DEBC84D048}" type="slidenum">
              <a:rPr lang="en-US"/>
              <a:pPr/>
              <a:t>13</a:t>
            </a:fld>
            <a:endParaRPr lang="en-US"/>
          </a:p>
        </p:txBody>
      </p:sp>
      <p:sp>
        <p:nvSpPr>
          <p:cNvPr id="47105" name="Rectangle 1"/>
          <p:cNvSpPr txBox="1">
            <a:spLocks noGrp="1" noRot="1" noChangeAspect="1" noChangeArrowheads="1"/>
          </p:cNvSpPr>
          <p:nvPr>
            <p:ph type="sldImg"/>
          </p:nvPr>
        </p:nvSpPr>
        <p:spPr bwMode="auto">
          <a:xfrm>
            <a:off x="1139344" y="695808"/>
            <a:ext cx="4579314" cy="3427436"/>
          </a:xfrm>
          <a:prstGeom prst="rect">
            <a:avLst/>
          </a:prstGeom>
          <a:solidFill>
            <a:srgbClr val="FFFFFF"/>
          </a:solidFill>
          <a:ln>
            <a:solidFill>
              <a:srgbClr val="000000"/>
            </a:solidFill>
            <a:miter lim="800000"/>
            <a:headEnd/>
            <a:tailEnd/>
          </a:ln>
        </p:spPr>
      </p:sp>
      <p:sp>
        <p:nvSpPr>
          <p:cNvPr id="47106" name="Rectangle 2"/>
          <p:cNvSpPr txBox="1">
            <a:spLocks noGrp="1" noChangeArrowheads="1"/>
          </p:cNvSpPr>
          <p:nvPr>
            <p:ph type="body" idx="1"/>
          </p:nvPr>
        </p:nvSpPr>
        <p:spPr bwMode="auto">
          <a:xfrm>
            <a:off x="685512" y="4343231"/>
            <a:ext cx="5486977" cy="4115139"/>
          </a:xfrm>
          <a:prstGeom prst="rect">
            <a:avLst/>
          </a:prstGeom>
          <a:noFill/>
          <a:ln>
            <a:round/>
            <a:headEnd/>
            <a:tailEnd/>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0BC7D2EE-B2A3-4075-9EE5-C1ADCA67A894}" type="slidenum">
              <a:rPr lang="en-US"/>
              <a:pPr/>
              <a:t>14</a:t>
            </a:fld>
            <a:endParaRPr lang="en-US"/>
          </a:p>
        </p:txBody>
      </p:sp>
      <p:sp>
        <p:nvSpPr>
          <p:cNvPr id="48129" name="Rectangle 1"/>
          <p:cNvSpPr txBox="1">
            <a:spLocks noGrp="1" noRot="1" noChangeAspect="1" noChangeArrowheads="1"/>
          </p:cNvSpPr>
          <p:nvPr>
            <p:ph type="sldImg"/>
          </p:nvPr>
        </p:nvSpPr>
        <p:spPr bwMode="auto">
          <a:xfrm>
            <a:off x="1139344" y="695808"/>
            <a:ext cx="4579314" cy="3427436"/>
          </a:xfrm>
          <a:prstGeom prst="rect">
            <a:avLst/>
          </a:prstGeom>
          <a:solidFill>
            <a:srgbClr val="FFFFFF"/>
          </a:solidFill>
          <a:ln>
            <a:solidFill>
              <a:srgbClr val="000000"/>
            </a:solidFill>
            <a:miter lim="800000"/>
            <a:headEnd/>
            <a:tailEnd/>
          </a:ln>
        </p:spPr>
      </p:sp>
      <p:sp>
        <p:nvSpPr>
          <p:cNvPr id="48130" name="Rectangle 2"/>
          <p:cNvSpPr txBox="1">
            <a:spLocks noGrp="1" noChangeArrowheads="1"/>
          </p:cNvSpPr>
          <p:nvPr>
            <p:ph type="body" idx="1"/>
          </p:nvPr>
        </p:nvSpPr>
        <p:spPr bwMode="auto">
          <a:xfrm>
            <a:off x="685512" y="4343231"/>
            <a:ext cx="5486977" cy="4115139"/>
          </a:xfrm>
          <a:prstGeom prst="rect">
            <a:avLst/>
          </a:prstGeom>
          <a:noFill/>
          <a:ln>
            <a:round/>
            <a:headEnd/>
            <a:tailEnd/>
          </a:ln>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FBB6A01-1EBA-4504-90E4-8327CE4778B1}" type="slidenum">
              <a:rPr lang="en-US" smtClean="0"/>
              <a:pPr>
                <a:defRPr/>
              </a:pPr>
              <a:t>15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9"/>
          <p:cNvSpPr>
            <a:spLocks noGrp="1" noChangeArrowheads="1"/>
          </p:cNvSpPr>
          <p:nvPr>
            <p:ph type="sldNum"/>
          </p:nvPr>
        </p:nvSpPr>
        <p:spPr>
          <a:ln/>
        </p:spPr>
        <p:txBody>
          <a:bodyPr/>
          <a:lstStyle/>
          <a:p>
            <a:fld id="{3F30DA65-79C6-4E38-BB4A-F84B9D70E27D}" type="slidenum">
              <a:rPr lang="en-GB"/>
              <a:pPr/>
              <a:t>20</a:t>
            </a:fld>
            <a:endParaRPr lang="en-GB"/>
          </a:p>
        </p:txBody>
      </p:sp>
      <p:sp>
        <p:nvSpPr>
          <p:cNvPr id="21505" name="Text Box 1"/>
          <p:cNvSpPr txBox="1">
            <a:spLocks noChangeArrowheads="1"/>
          </p:cNvSpPr>
          <p:nvPr/>
        </p:nvSpPr>
        <p:spPr bwMode="auto">
          <a:xfrm>
            <a:off x="1003786" y="695134"/>
            <a:ext cx="4848989" cy="3428152"/>
          </a:xfrm>
          <a:prstGeom prst="rect">
            <a:avLst/>
          </a:prstGeom>
          <a:solidFill>
            <a:srgbClr val="FFFFFF"/>
          </a:solidFill>
          <a:ln w="9360">
            <a:solidFill>
              <a:srgbClr val="000000"/>
            </a:solidFill>
            <a:miter lim="800000"/>
            <a:headEnd/>
            <a:tailEnd/>
          </a:ln>
          <a:effectLst/>
        </p:spPr>
        <p:txBody>
          <a:bodyPr wrap="none" lIns="80165" tIns="40083" rIns="80165" bIns="40083" anchor="ctr"/>
          <a:lstStyle/>
          <a:p>
            <a:endParaRPr lang="en-US"/>
          </a:p>
        </p:txBody>
      </p:sp>
      <p:sp>
        <p:nvSpPr>
          <p:cNvPr id="21506" name="Rectangle 2"/>
          <p:cNvSpPr txBox="1">
            <a:spLocks noGrp="1" noChangeArrowheads="1"/>
          </p:cNvSpPr>
          <p:nvPr>
            <p:ph type="body"/>
          </p:nvPr>
        </p:nvSpPr>
        <p:spPr bwMode="auto">
          <a:xfrm>
            <a:off x="685512" y="4343231"/>
            <a:ext cx="5482656" cy="4111066"/>
          </a:xfrm>
          <a:prstGeom prst="rect">
            <a:avLst/>
          </a:prstGeom>
          <a:noFill/>
          <a:ln>
            <a:round/>
            <a:headEnd/>
            <a:tailEnd/>
          </a:ln>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9"/>
          <p:cNvSpPr>
            <a:spLocks noGrp="1" noChangeArrowheads="1"/>
          </p:cNvSpPr>
          <p:nvPr>
            <p:ph type="sldNum"/>
          </p:nvPr>
        </p:nvSpPr>
        <p:spPr>
          <a:ln/>
        </p:spPr>
        <p:txBody>
          <a:bodyPr/>
          <a:lstStyle/>
          <a:p>
            <a:fld id="{438FF8DD-E4E6-43C2-9BB5-4CDEA1A437CF}" type="slidenum">
              <a:rPr lang="en-GB"/>
              <a:pPr/>
              <a:t>21</a:t>
            </a:fld>
            <a:endParaRPr lang="en-GB"/>
          </a:p>
        </p:txBody>
      </p:sp>
      <p:sp>
        <p:nvSpPr>
          <p:cNvPr id="22529" name="Text Box 1"/>
          <p:cNvSpPr txBox="1">
            <a:spLocks noChangeArrowheads="1"/>
          </p:cNvSpPr>
          <p:nvPr/>
        </p:nvSpPr>
        <p:spPr bwMode="auto">
          <a:xfrm>
            <a:off x="1003786" y="695134"/>
            <a:ext cx="4848989" cy="3428152"/>
          </a:xfrm>
          <a:prstGeom prst="rect">
            <a:avLst/>
          </a:prstGeom>
          <a:solidFill>
            <a:srgbClr val="FFFFFF"/>
          </a:solidFill>
          <a:ln w="9360">
            <a:solidFill>
              <a:srgbClr val="000000"/>
            </a:solidFill>
            <a:miter lim="800000"/>
            <a:headEnd/>
            <a:tailEnd/>
          </a:ln>
          <a:effectLst/>
        </p:spPr>
        <p:txBody>
          <a:bodyPr wrap="none" lIns="80165" tIns="40083" rIns="80165" bIns="40083" anchor="ctr"/>
          <a:lstStyle/>
          <a:p>
            <a:endParaRPr lang="en-US"/>
          </a:p>
        </p:txBody>
      </p:sp>
      <p:sp>
        <p:nvSpPr>
          <p:cNvPr id="22530" name="Rectangle 2"/>
          <p:cNvSpPr txBox="1">
            <a:spLocks noGrp="1" noChangeArrowheads="1"/>
          </p:cNvSpPr>
          <p:nvPr>
            <p:ph type="body"/>
          </p:nvPr>
        </p:nvSpPr>
        <p:spPr bwMode="auto">
          <a:xfrm>
            <a:off x="685512" y="4343231"/>
            <a:ext cx="5482656" cy="4111066"/>
          </a:xfrm>
          <a:prstGeom prst="rect">
            <a:avLst/>
          </a:prstGeom>
          <a:noFill/>
          <a:ln>
            <a:round/>
            <a:headEnd/>
            <a:tailEnd/>
          </a:ln>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9"/>
          <p:cNvSpPr>
            <a:spLocks noGrp="1" noChangeArrowheads="1"/>
          </p:cNvSpPr>
          <p:nvPr>
            <p:ph type="sldNum"/>
          </p:nvPr>
        </p:nvSpPr>
        <p:spPr>
          <a:ln/>
        </p:spPr>
        <p:txBody>
          <a:bodyPr/>
          <a:lstStyle/>
          <a:p>
            <a:fld id="{610141FC-F27A-4768-B170-B78CB2DC67DF}" type="slidenum">
              <a:rPr lang="en-GB"/>
              <a:pPr/>
              <a:t>22</a:t>
            </a:fld>
            <a:endParaRPr lang="en-GB"/>
          </a:p>
        </p:txBody>
      </p:sp>
      <p:sp>
        <p:nvSpPr>
          <p:cNvPr id="23553" name="Text Box 1"/>
          <p:cNvSpPr txBox="1">
            <a:spLocks noChangeArrowheads="1"/>
          </p:cNvSpPr>
          <p:nvPr/>
        </p:nvSpPr>
        <p:spPr bwMode="auto">
          <a:xfrm>
            <a:off x="1003786" y="695134"/>
            <a:ext cx="4848989" cy="3428152"/>
          </a:xfrm>
          <a:prstGeom prst="rect">
            <a:avLst/>
          </a:prstGeom>
          <a:solidFill>
            <a:srgbClr val="FFFFFF"/>
          </a:solidFill>
          <a:ln w="9360">
            <a:solidFill>
              <a:srgbClr val="000000"/>
            </a:solidFill>
            <a:miter lim="800000"/>
            <a:headEnd/>
            <a:tailEnd/>
          </a:ln>
          <a:effectLst/>
        </p:spPr>
        <p:txBody>
          <a:bodyPr wrap="none" lIns="80165" tIns="40083" rIns="80165" bIns="40083" anchor="ctr"/>
          <a:lstStyle/>
          <a:p>
            <a:endParaRPr lang="en-US"/>
          </a:p>
        </p:txBody>
      </p:sp>
      <p:sp>
        <p:nvSpPr>
          <p:cNvPr id="23554" name="Rectangle 2"/>
          <p:cNvSpPr txBox="1">
            <a:spLocks noGrp="1" noChangeArrowheads="1"/>
          </p:cNvSpPr>
          <p:nvPr>
            <p:ph type="body"/>
          </p:nvPr>
        </p:nvSpPr>
        <p:spPr bwMode="auto">
          <a:xfrm>
            <a:off x="685512" y="4343231"/>
            <a:ext cx="5482656" cy="4111066"/>
          </a:xfrm>
          <a:prstGeom prst="rect">
            <a:avLst/>
          </a:prstGeom>
          <a:noFill/>
          <a:ln>
            <a:round/>
            <a:headEnd/>
            <a:tailEnd/>
          </a:ln>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3368CD-7019-4FE6-82E1-37A6A588819D}" type="datetimeFigureOut">
              <a:rPr lang="en-US" smtClean="0"/>
              <a:pPr/>
              <a:t>8/15/2021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3368CD-7019-4FE6-82E1-37A6A588819D}" type="datetimeFigureOut">
              <a:rPr lang="en-US" smtClean="0"/>
              <a:pPr/>
              <a:t>8/15/2021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3368CD-7019-4FE6-82E1-37A6A588819D}" type="datetimeFigureOut">
              <a:rPr lang="en-US" smtClean="0"/>
              <a:pPr/>
              <a:t>8/15/2021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33368CD-7019-4FE6-82E1-37A6A588819D}" type="datetimeFigureOut">
              <a:rPr lang="en-US" smtClean="0"/>
              <a:pPr/>
              <a:t>8/15/2021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33368CD-7019-4FE6-82E1-37A6A588819D}" type="datetimeFigureOut">
              <a:rPr lang="en-US" smtClean="0"/>
              <a:pPr/>
              <a:t>8/15/2021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33368CD-7019-4FE6-82E1-37A6A588819D}" type="datetimeFigureOut">
              <a:rPr lang="en-US" smtClean="0"/>
              <a:pPr/>
              <a:t>8/15/2021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3368CD-7019-4FE6-82E1-37A6A588819D}" type="datetimeFigureOut">
              <a:rPr lang="en-US" smtClean="0"/>
              <a:pPr/>
              <a:t>8/15/2021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3368CD-7019-4FE6-82E1-37A6A588819D}" type="datetimeFigureOut">
              <a:rPr lang="en-US" smtClean="0"/>
              <a:pPr/>
              <a:t>8/15/2021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3368CD-7019-4FE6-82E1-37A6A588819D}" type="datetimeFigureOut">
              <a:rPr lang="en-US" smtClean="0"/>
              <a:pPr/>
              <a:t>8/15/2021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3368CD-7019-4FE6-82E1-37A6A588819D}" type="datetimeFigureOut">
              <a:rPr lang="en-US" smtClean="0"/>
              <a:pPr/>
              <a:t>8/15/2021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3368CD-7019-4FE6-82E1-37A6A588819D}" type="datetimeFigureOut">
              <a:rPr lang="en-US" smtClean="0"/>
              <a:pPr/>
              <a:t>8/15/2021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6EAE81-E4F9-4E42-B36C-D0FF117A041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3368CD-7019-4FE6-82E1-37A6A588819D}" type="datetimeFigureOut">
              <a:rPr lang="en-US" smtClean="0"/>
              <a:pPr/>
              <a:t>8/15/2021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6EAE81-E4F9-4E42-B36C-D0FF117A04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4"/>
          <p:cNvSpPr>
            <a:spLocks noGrp="1" noChangeArrowheads="1"/>
          </p:cNvSpPr>
          <p:nvPr>
            <p:ph type="ctrTitle"/>
          </p:nvPr>
        </p:nvSpPr>
        <p:spPr>
          <a:xfrm>
            <a:off x="2362200" y="2133600"/>
            <a:ext cx="6705600" cy="914400"/>
          </a:xfrm>
        </p:spPr>
        <p:txBody>
          <a:bodyPr>
            <a:normAutofit fontScale="90000"/>
          </a:bodyPr>
          <a:lstStyle/>
          <a:p>
            <a:pPr algn="ctr" rtl="0"/>
            <a:r>
              <a:rPr lang="en-US" sz="6000" b="1" dirty="0" smtClean="0">
                <a:effectLst>
                  <a:outerShdw blurRad="38100" dist="38100" dir="2700000" algn="tl">
                    <a:srgbClr val="000000">
                      <a:alpha val="43137"/>
                    </a:srgbClr>
                  </a:outerShdw>
                </a:effectLst>
              </a:rPr>
              <a:t>Cloud </a:t>
            </a:r>
            <a:br>
              <a:rPr lang="en-US" sz="6000" b="1" dirty="0" smtClean="0">
                <a:effectLst>
                  <a:outerShdw blurRad="38100" dist="38100" dir="2700000" algn="tl">
                    <a:srgbClr val="000000">
                      <a:alpha val="43137"/>
                    </a:srgbClr>
                  </a:outerShdw>
                </a:effectLst>
              </a:rPr>
            </a:br>
            <a:r>
              <a:rPr lang="en-US" sz="6000" b="1" dirty="0" smtClean="0">
                <a:effectLst>
                  <a:outerShdw blurRad="38100" dist="38100" dir="2700000" algn="tl">
                    <a:srgbClr val="000000">
                      <a:alpha val="43137"/>
                    </a:srgbClr>
                  </a:outerShdw>
                </a:effectLst>
              </a:rPr>
              <a:t>Computing</a:t>
            </a:r>
            <a:endParaRPr lang="en-US" sz="6000" b="1" dirty="0">
              <a:effectLst>
                <a:outerShdw blurRad="38100" dist="38100" dir="2700000" algn="tl">
                  <a:srgbClr val="000000">
                    <a:alpha val="43137"/>
                  </a:srgbClr>
                </a:outerShdw>
              </a:effectLst>
              <a:latin typeface="Constantia" pitchFamily="18"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11175"/>
            <a:ext cx="7705725" cy="555625"/>
          </a:xfrm>
        </p:spPr>
        <p:txBody>
          <a:bodyPr>
            <a:normAutofit fontScale="90000"/>
          </a:bodyPr>
          <a:lstStyle/>
          <a:p>
            <a:pPr algn="ctr"/>
            <a:r>
              <a:rPr lang="en-US" dirty="0" smtClean="0"/>
              <a:t>What is Cloud Computing?</a:t>
            </a:r>
            <a:endParaRPr lang="fa-IR" dirty="0"/>
          </a:p>
        </p:txBody>
      </p:sp>
      <p:sp>
        <p:nvSpPr>
          <p:cNvPr id="3" name="Content Placeholder 2"/>
          <p:cNvSpPr>
            <a:spLocks noGrp="1"/>
          </p:cNvSpPr>
          <p:nvPr>
            <p:ph idx="1"/>
          </p:nvPr>
        </p:nvSpPr>
        <p:spPr>
          <a:xfrm>
            <a:off x="762000" y="1447800"/>
            <a:ext cx="7934325" cy="4648199"/>
          </a:xfrm>
        </p:spPr>
        <p:txBody>
          <a:bodyPr>
            <a:normAutofit fontScale="85000" lnSpcReduction="10000"/>
          </a:bodyPr>
          <a:lstStyle/>
          <a:p>
            <a:r>
              <a:rPr lang="en-US" dirty="0" smtClean="0"/>
              <a:t>Cloud computing is a model for enabling </a:t>
            </a:r>
            <a:r>
              <a:rPr lang="en-US" i="1" dirty="0" smtClean="0">
                <a:solidFill>
                  <a:srgbClr val="FF0000"/>
                </a:solidFill>
              </a:rPr>
              <a:t>convenient</a:t>
            </a:r>
            <a:r>
              <a:rPr lang="en-US" dirty="0" smtClean="0"/>
              <a:t>, </a:t>
            </a:r>
            <a:r>
              <a:rPr lang="en-US" i="1" dirty="0" smtClean="0">
                <a:solidFill>
                  <a:srgbClr val="FF0000"/>
                </a:solidFill>
              </a:rPr>
              <a:t>on-demand network access </a:t>
            </a:r>
            <a:r>
              <a:rPr lang="en-US" dirty="0" smtClean="0"/>
              <a:t>to a </a:t>
            </a:r>
            <a:r>
              <a:rPr lang="en-US" i="1" dirty="0" smtClean="0">
                <a:solidFill>
                  <a:srgbClr val="FF0000"/>
                </a:solidFill>
              </a:rPr>
              <a:t>shared pool </a:t>
            </a:r>
            <a:r>
              <a:rPr lang="en-US" dirty="0" smtClean="0"/>
              <a:t>of </a:t>
            </a:r>
            <a:r>
              <a:rPr lang="en-US" i="1" dirty="0" smtClean="0">
                <a:solidFill>
                  <a:srgbClr val="FF0000"/>
                </a:solidFill>
              </a:rPr>
              <a:t>configurable computing resources </a:t>
            </a:r>
            <a:r>
              <a:rPr lang="en-US" dirty="0" smtClean="0"/>
              <a:t>(e.g., networks, servers, storage, applications, and services) [Mell_2009], [Berkely_2009]. </a:t>
            </a:r>
          </a:p>
          <a:p>
            <a:r>
              <a:rPr lang="en-US" dirty="0" smtClean="0"/>
              <a:t>It can be </a:t>
            </a:r>
            <a:r>
              <a:rPr lang="en-US" i="1" dirty="0" smtClean="0">
                <a:solidFill>
                  <a:srgbClr val="FF0000"/>
                </a:solidFill>
              </a:rPr>
              <a:t>rapidly provisioned </a:t>
            </a:r>
            <a:r>
              <a:rPr lang="en-US" dirty="0" smtClean="0"/>
              <a:t>and </a:t>
            </a:r>
            <a:r>
              <a:rPr lang="en-US" i="1" dirty="0" smtClean="0">
                <a:solidFill>
                  <a:srgbClr val="FF0000"/>
                </a:solidFill>
              </a:rPr>
              <a:t>released</a:t>
            </a:r>
            <a:r>
              <a:rPr lang="en-US" dirty="0" smtClean="0"/>
              <a:t> with minimal management effort.</a:t>
            </a:r>
          </a:p>
          <a:p>
            <a:r>
              <a:rPr lang="en-US" dirty="0" smtClean="0"/>
              <a:t>It provides </a:t>
            </a:r>
            <a:r>
              <a:rPr lang="en-US" i="1" dirty="0" smtClean="0">
                <a:solidFill>
                  <a:srgbClr val="FF0000"/>
                </a:solidFill>
              </a:rPr>
              <a:t>high level abstraction </a:t>
            </a:r>
            <a:r>
              <a:rPr lang="en-US" dirty="0" smtClean="0"/>
              <a:t>of computation and storage model.</a:t>
            </a:r>
          </a:p>
          <a:p>
            <a:r>
              <a:rPr lang="en-US" dirty="0" smtClean="0"/>
              <a:t>It has some essential </a:t>
            </a:r>
            <a:r>
              <a:rPr lang="en-US" b="1" dirty="0" smtClean="0"/>
              <a:t>characteristics,</a:t>
            </a:r>
            <a:r>
              <a:rPr lang="en-US" dirty="0" smtClean="0"/>
              <a:t> </a:t>
            </a:r>
            <a:r>
              <a:rPr lang="en-US" b="1" dirty="0" smtClean="0"/>
              <a:t>service models</a:t>
            </a:r>
            <a:r>
              <a:rPr lang="en-US" dirty="0" smtClean="0"/>
              <a:t>, and </a:t>
            </a:r>
            <a:r>
              <a:rPr lang="en-US" b="1" dirty="0" smtClean="0"/>
              <a:t>deployment models</a:t>
            </a:r>
            <a:r>
              <a:rPr lang="en-US" dirty="0" smtClean="0"/>
              <a:t>.</a:t>
            </a:r>
          </a:p>
        </p:txBody>
      </p:sp>
      <p:sp>
        <p:nvSpPr>
          <p:cNvPr id="4" name="Slide Number Placeholder 3"/>
          <p:cNvSpPr>
            <a:spLocks noGrp="1"/>
          </p:cNvSpPr>
          <p:nvPr>
            <p:ph type="sldNum" sz="quarter" idx="12"/>
          </p:nvPr>
        </p:nvSpPr>
        <p:spPr/>
        <p:txBody>
          <a:bodyPr/>
          <a:lstStyle/>
          <a:p>
            <a:fld id="{EB60F204-AFC3-485B-B6AB-4A651EB29C6A}" type="slidenum">
              <a:rPr lang="en-US" smtClean="0"/>
              <a:pPr/>
              <a:t>2</a:t>
            </a:fld>
            <a:endParaRPr 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2989" y="533399"/>
            <a:ext cx="4595812" cy="555625"/>
          </a:xfrm>
        </p:spPr>
        <p:txBody>
          <a:bodyPr>
            <a:normAutofit fontScale="90000"/>
          </a:bodyPr>
          <a:lstStyle/>
          <a:p>
            <a:r>
              <a:rPr lang="en-US" dirty="0" smtClean="0"/>
              <a:t>Essential Characteristics</a:t>
            </a:r>
            <a:endParaRPr lang="fa-IR" dirty="0"/>
          </a:p>
        </p:txBody>
      </p:sp>
      <p:sp>
        <p:nvSpPr>
          <p:cNvPr id="3" name="Content Placeholder 2"/>
          <p:cNvSpPr>
            <a:spLocks noGrp="1"/>
          </p:cNvSpPr>
          <p:nvPr>
            <p:ph idx="1"/>
          </p:nvPr>
        </p:nvSpPr>
        <p:spPr>
          <a:xfrm>
            <a:off x="838200" y="1295400"/>
            <a:ext cx="7910513" cy="4057650"/>
          </a:xfrm>
        </p:spPr>
        <p:txBody>
          <a:bodyPr>
            <a:normAutofit fontScale="92500"/>
          </a:bodyPr>
          <a:lstStyle/>
          <a:p>
            <a:r>
              <a:rPr lang="en-US" b="1" i="1" dirty="0" smtClean="0">
                <a:solidFill>
                  <a:srgbClr val="FF0000"/>
                </a:solidFill>
              </a:rPr>
              <a:t>On-Demand Self Service:</a:t>
            </a:r>
            <a:r>
              <a:rPr lang="en-US" dirty="0" smtClean="0"/>
              <a:t> </a:t>
            </a:r>
          </a:p>
          <a:p>
            <a:pPr lvl="1"/>
            <a:r>
              <a:rPr lang="en-US" dirty="0" smtClean="0"/>
              <a:t>A consumer can unilaterally provision computing capabilities, automatically </a:t>
            </a:r>
            <a:r>
              <a:rPr lang="en-US" dirty="0" smtClean="0">
                <a:solidFill>
                  <a:srgbClr val="FF0000"/>
                </a:solidFill>
              </a:rPr>
              <a:t>without requiring human interaction with each service’s provider. </a:t>
            </a:r>
          </a:p>
          <a:p>
            <a:r>
              <a:rPr lang="en-US" b="1" i="1" dirty="0" smtClean="0">
                <a:solidFill>
                  <a:srgbClr val="FF0000"/>
                </a:solidFill>
              </a:rPr>
              <a:t>Heterogeneous</a:t>
            </a:r>
            <a:r>
              <a:rPr lang="en-US" dirty="0" smtClean="0"/>
              <a:t> </a:t>
            </a:r>
            <a:r>
              <a:rPr lang="en-US" b="1" i="1" dirty="0" smtClean="0">
                <a:solidFill>
                  <a:srgbClr val="FF0000"/>
                </a:solidFill>
              </a:rPr>
              <a:t>Access:</a:t>
            </a:r>
            <a:r>
              <a:rPr lang="en-US" dirty="0" smtClean="0"/>
              <a:t> </a:t>
            </a:r>
          </a:p>
          <a:p>
            <a:pPr lvl="1"/>
            <a:r>
              <a:rPr lang="en-US" dirty="0" smtClean="0"/>
              <a:t>Capabilities are available over the network and accessed through standard mechanisms that promote use by heterogeneous </a:t>
            </a:r>
            <a:r>
              <a:rPr lang="en-US" b="1" i="1" dirty="0" smtClean="0">
                <a:solidFill>
                  <a:srgbClr val="FF0000"/>
                </a:solidFill>
              </a:rPr>
              <a:t>thin</a:t>
            </a:r>
            <a:r>
              <a:rPr lang="en-US" dirty="0" smtClean="0"/>
              <a:t> or </a:t>
            </a:r>
            <a:r>
              <a:rPr lang="en-US" b="1" i="1" dirty="0" smtClean="0">
                <a:solidFill>
                  <a:srgbClr val="FF0000"/>
                </a:solidFill>
              </a:rPr>
              <a:t>thick</a:t>
            </a:r>
            <a:r>
              <a:rPr lang="en-US" dirty="0" smtClean="0"/>
              <a:t> client platforms.</a:t>
            </a:r>
          </a:p>
        </p:txBody>
      </p:sp>
      <p:sp>
        <p:nvSpPr>
          <p:cNvPr id="4" name="Slide Number Placeholder 3"/>
          <p:cNvSpPr>
            <a:spLocks noGrp="1"/>
          </p:cNvSpPr>
          <p:nvPr>
            <p:ph type="sldNum" sz="quarter" idx="12"/>
          </p:nvPr>
        </p:nvSpPr>
        <p:spPr/>
        <p:txBody>
          <a:bodyPr/>
          <a:lstStyle/>
          <a:p>
            <a:fld id="{EB60F204-AFC3-485B-B6AB-4A651EB29C6A}" type="slidenum">
              <a:rPr lang="en-US" smtClean="0"/>
              <a:pPr/>
              <a:t>3</a:t>
            </a:fld>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304925"/>
            <a:ext cx="7834313" cy="4029075"/>
          </a:xfrm>
        </p:spPr>
        <p:txBody>
          <a:bodyPr>
            <a:normAutofit fontScale="77500" lnSpcReduction="20000"/>
          </a:bodyPr>
          <a:lstStyle/>
          <a:p>
            <a:r>
              <a:rPr lang="en-US" b="1" i="1" dirty="0" smtClean="0">
                <a:solidFill>
                  <a:srgbClr val="FF0000"/>
                </a:solidFill>
              </a:rPr>
              <a:t>Resource Pooling: </a:t>
            </a:r>
          </a:p>
          <a:p>
            <a:pPr lvl="1"/>
            <a:r>
              <a:rPr lang="en-US" dirty="0" smtClean="0"/>
              <a:t>The provider’s computing resources are pooled to serve multiple consumers using a </a:t>
            </a:r>
            <a:r>
              <a:rPr lang="en-US" i="1" dirty="0" smtClean="0">
                <a:solidFill>
                  <a:srgbClr val="FF0000"/>
                </a:solidFill>
              </a:rPr>
              <a:t>multi-tenant model.</a:t>
            </a:r>
            <a:endParaRPr lang="en-US" dirty="0" smtClean="0"/>
          </a:p>
          <a:p>
            <a:pPr lvl="1"/>
            <a:r>
              <a:rPr lang="en-US" dirty="0" smtClean="0"/>
              <a:t>Different physical and virtual resources dynamically assigned and reassigned according to consumer demand. </a:t>
            </a:r>
          </a:p>
          <a:p>
            <a:r>
              <a:rPr lang="en-US" b="1" i="1" dirty="0" smtClean="0">
                <a:solidFill>
                  <a:srgbClr val="FF0000"/>
                </a:solidFill>
              </a:rPr>
              <a:t>Measured Service:</a:t>
            </a:r>
            <a:r>
              <a:rPr lang="en-US" dirty="0" smtClean="0"/>
              <a:t> </a:t>
            </a:r>
          </a:p>
          <a:p>
            <a:pPr lvl="1"/>
            <a:r>
              <a:rPr lang="en-US" dirty="0" smtClean="0"/>
              <a:t>Cloud systems </a:t>
            </a:r>
            <a:r>
              <a:rPr lang="en-US" i="1" dirty="0" smtClean="0">
                <a:solidFill>
                  <a:srgbClr val="FF0000"/>
                </a:solidFill>
              </a:rPr>
              <a:t>automatically</a:t>
            </a:r>
            <a:r>
              <a:rPr lang="en-US" dirty="0" smtClean="0"/>
              <a:t> </a:t>
            </a:r>
            <a:r>
              <a:rPr lang="en-US" i="1" dirty="0" smtClean="0">
                <a:solidFill>
                  <a:srgbClr val="FF0000"/>
                </a:solidFill>
              </a:rPr>
              <a:t>control</a:t>
            </a:r>
            <a:r>
              <a:rPr lang="en-US" dirty="0" smtClean="0"/>
              <a:t> and </a:t>
            </a:r>
            <a:r>
              <a:rPr lang="en-US" i="1" dirty="0" smtClean="0">
                <a:solidFill>
                  <a:srgbClr val="FF0000"/>
                </a:solidFill>
              </a:rPr>
              <a:t>optimize</a:t>
            </a:r>
            <a:r>
              <a:rPr lang="en-US" dirty="0" smtClean="0"/>
              <a:t> resources used by leveraging a metering capability at some level of abstraction appropriate to the type of service. </a:t>
            </a:r>
          </a:p>
          <a:p>
            <a:pPr lvl="1"/>
            <a:r>
              <a:rPr lang="en-US" b="1" i="1" dirty="0" smtClean="0">
                <a:solidFill>
                  <a:srgbClr val="FF0000"/>
                </a:solidFill>
              </a:rPr>
              <a:t>It will provide analyzable and predictable computing platform. </a:t>
            </a:r>
          </a:p>
        </p:txBody>
      </p:sp>
      <p:sp>
        <p:nvSpPr>
          <p:cNvPr id="4" name="Slide Number Placeholder 3"/>
          <p:cNvSpPr>
            <a:spLocks noGrp="1"/>
          </p:cNvSpPr>
          <p:nvPr>
            <p:ph type="sldNum" sz="quarter" idx="12"/>
          </p:nvPr>
        </p:nvSpPr>
        <p:spPr/>
        <p:txBody>
          <a:bodyPr/>
          <a:lstStyle/>
          <a:p>
            <a:fld id="{EB60F204-AFC3-485B-B6AB-4A651EB29C6A}" type="slidenum">
              <a:rPr lang="en-US" smtClean="0"/>
              <a:pPr/>
              <a:t>4</a:t>
            </a:fld>
            <a:endParaRPr lang="en-US" dirty="0"/>
          </a:p>
        </p:txBody>
      </p:sp>
      <p:sp>
        <p:nvSpPr>
          <p:cNvPr id="5" name="Title 1"/>
          <p:cNvSpPr>
            <a:spLocks noGrp="1"/>
          </p:cNvSpPr>
          <p:nvPr>
            <p:ph type="title"/>
          </p:nvPr>
        </p:nvSpPr>
        <p:spPr>
          <a:xfrm>
            <a:off x="1042988" y="533399"/>
            <a:ext cx="7567612" cy="555625"/>
          </a:xfrm>
        </p:spPr>
        <p:txBody>
          <a:bodyPr>
            <a:normAutofit fontScale="90000"/>
          </a:bodyPr>
          <a:lstStyle/>
          <a:p>
            <a:pPr rtl="0"/>
            <a:r>
              <a:rPr lang="en-US" dirty="0" smtClean="0"/>
              <a:t>Essential Characteristics (cont.)</a:t>
            </a:r>
            <a:endParaRPr lang="fa-IR"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Models</a:t>
            </a:r>
            <a:endParaRPr lang="fa-IR" dirty="0"/>
          </a:p>
        </p:txBody>
      </p:sp>
      <p:sp>
        <p:nvSpPr>
          <p:cNvPr id="3" name="Content Placeholder 2"/>
          <p:cNvSpPr>
            <a:spLocks noGrp="1"/>
          </p:cNvSpPr>
          <p:nvPr>
            <p:ph idx="1"/>
          </p:nvPr>
        </p:nvSpPr>
        <p:spPr>
          <a:xfrm>
            <a:off x="685800" y="1295400"/>
            <a:ext cx="7848600" cy="4486275"/>
          </a:xfrm>
        </p:spPr>
        <p:txBody>
          <a:bodyPr>
            <a:normAutofit fontScale="92500" lnSpcReduction="20000"/>
          </a:bodyPr>
          <a:lstStyle/>
          <a:p>
            <a:r>
              <a:rPr lang="en-US" b="1" i="1" dirty="0" smtClean="0">
                <a:solidFill>
                  <a:srgbClr val="FF0000"/>
                </a:solidFill>
              </a:rPr>
              <a:t>Cloud  Software as a Service (SaaS): </a:t>
            </a:r>
          </a:p>
          <a:p>
            <a:pPr lvl="1"/>
            <a:r>
              <a:rPr lang="en-US" dirty="0" smtClean="0"/>
              <a:t>The capability provided to the consumer is to use the provider’s applications running on a cloud infrastructure. </a:t>
            </a:r>
          </a:p>
          <a:p>
            <a:pPr lvl="1"/>
            <a:r>
              <a:rPr lang="en-US" dirty="0" smtClean="0"/>
              <a:t>The applications are accessible from various client devices such as a web browser (e.g., web-based email). </a:t>
            </a:r>
          </a:p>
          <a:p>
            <a:pPr lvl="1"/>
            <a:r>
              <a:rPr lang="en-US" dirty="0" smtClean="0"/>
              <a:t>The consumer does not manage or control the underlying cloud infrastructure including network, servers, operating systems, storage,…</a:t>
            </a:r>
          </a:p>
          <a:p>
            <a:pPr lvl="1"/>
            <a:r>
              <a:rPr lang="en-US" b="1" i="1" dirty="0" smtClean="0">
                <a:solidFill>
                  <a:srgbClr val="FF0000"/>
                </a:solidFill>
              </a:rPr>
              <a:t>Examples: Caspio, Google Apps, Salesforce, Nivio, Learn.com.</a:t>
            </a:r>
          </a:p>
          <a:p>
            <a:endParaRPr lang="fa-IR" dirty="0"/>
          </a:p>
        </p:txBody>
      </p:sp>
      <p:sp>
        <p:nvSpPr>
          <p:cNvPr id="4" name="Slide Number Placeholder 3"/>
          <p:cNvSpPr>
            <a:spLocks noGrp="1"/>
          </p:cNvSpPr>
          <p:nvPr>
            <p:ph type="sldNum" sz="quarter" idx="12"/>
          </p:nvPr>
        </p:nvSpPr>
        <p:spPr/>
        <p:txBody>
          <a:bodyPr/>
          <a:lstStyle/>
          <a:p>
            <a:fld id="{EB60F204-AFC3-485B-B6AB-4A651EB29C6A}" type="slidenum">
              <a:rPr lang="en-US" smtClean="0"/>
              <a:pPr/>
              <a:t>5</a:t>
            </a:fld>
            <a:endParaRPr lang="en-US"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95400"/>
            <a:ext cx="7705725" cy="3886200"/>
          </a:xfrm>
        </p:spPr>
        <p:txBody>
          <a:bodyPr>
            <a:normAutofit fontScale="85000" lnSpcReduction="20000"/>
          </a:bodyPr>
          <a:lstStyle/>
          <a:p>
            <a:r>
              <a:rPr lang="en-US" b="1" i="1" dirty="0" smtClean="0">
                <a:solidFill>
                  <a:srgbClr val="FF0000"/>
                </a:solidFill>
              </a:rPr>
              <a:t>Cloud Platform as a Service (PaaS): </a:t>
            </a:r>
          </a:p>
          <a:p>
            <a:pPr lvl="1"/>
            <a:r>
              <a:rPr lang="en-US" dirty="0" smtClean="0"/>
              <a:t>The capability provided to the consumer is to deploy onto the cloud infrastructure </a:t>
            </a:r>
            <a:r>
              <a:rPr lang="en-US" i="1" dirty="0" smtClean="0">
                <a:solidFill>
                  <a:srgbClr val="FF0000"/>
                </a:solidFill>
              </a:rPr>
              <a:t>consumer-created</a:t>
            </a:r>
            <a:r>
              <a:rPr lang="en-US" dirty="0" smtClean="0"/>
              <a:t> or </a:t>
            </a:r>
            <a:r>
              <a:rPr lang="en-US" i="1" dirty="0" smtClean="0">
                <a:solidFill>
                  <a:srgbClr val="FF0000"/>
                </a:solidFill>
              </a:rPr>
              <a:t>acquired</a:t>
            </a:r>
            <a:r>
              <a:rPr lang="en-US" dirty="0" smtClean="0"/>
              <a:t> </a:t>
            </a:r>
            <a:r>
              <a:rPr lang="en-US" i="1" dirty="0" smtClean="0">
                <a:solidFill>
                  <a:srgbClr val="FF0000"/>
                </a:solidFill>
              </a:rPr>
              <a:t>applications</a:t>
            </a:r>
            <a:r>
              <a:rPr lang="en-US" dirty="0" smtClean="0"/>
              <a:t> created using </a:t>
            </a:r>
            <a:r>
              <a:rPr lang="en-US" i="1" dirty="0" smtClean="0">
                <a:solidFill>
                  <a:srgbClr val="FF0000"/>
                </a:solidFill>
              </a:rPr>
              <a:t>programming languages and tools </a:t>
            </a:r>
            <a:r>
              <a:rPr lang="en-US" dirty="0" smtClean="0"/>
              <a:t>supported by the provider. </a:t>
            </a:r>
          </a:p>
          <a:p>
            <a:pPr lvl="1"/>
            <a:r>
              <a:rPr lang="en-US" dirty="0" smtClean="0"/>
              <a:t>The consumer does not manage or control the underlying cloud infrastructure.</a:t>
            </a:r>
          </a:p>
          <a:p>
            <a:pPr lvl="1"/>
            <a:r>
              <a:rPr lang="en-US" dirty="0" smtClean="0"/>
              <a:t> Consumer has control over the deployed applications and possibly application hosting environment configurations.</a:t>
            </a:r>
          </a:p>
          <a:p>
            <a:pPr lvl="1"/>
            <a:r>
              <a:rPr lang="en-US" b="1" i="1" dirty="0" smtClean="0">
                <a:solidFill>
                  <a:srgbClr val="FF0000"/>
                </a:solidFill>
              </a:rPr>
              <a:t>Examples: Windows Azure, Google App.</a:t>
            </a:r>
            <a:endParaRPr lang="fa-IR" b="1" i="1" dirty="0">
              <a:solidFill>
                <a:srgbClr val="FF0000"/>
              </a:solidFill>
            </a:endParaRPr>
          </a:p>
        </p:txBody>
      </p:sp>
      <p:sp>
        <p:nvSpPr>
          <p:cNvPr id="4" name="Slide Number Placeholder 3"/>
          <p:cNvSpPr>
            <a:spLocks noGrp="1"/>
          </p:cNvSpPr>
          <p:nvPr>
            <p:ph type="sldNum" sz="quarter" idx="12"/>
          </p:nvPr>
        </p:nvSpPr>
        <p:spPr/>
        <p:txBody>
          <a:bodyPr/>
          <a:lstStyle/>
          <a:p>
            <a:fld id="{EB60F204-AFC3-485B-B6AB-4A651EB29C6A}" type="slidenum">
              <a:rPr lang="en-US" smtClean="0"/>
              <a:pPr/>
              <a:t>6</a:t>
            </a:fld>
            <a:endParaRPr lang="en-US" dirty="0"/>
          </a:p>
        </p:txBody>
      </p:sp>
      <p:sp>
        <p:nvSpPr>
          <p:cNvPr id="5" name="Title 1"/>
          <p:cNvSpPr>
            <a:spLocks noGrp="1"/>
          </p:cNvSpPr>
          <p:nvPr>
            <p:ph type="title"/>
          </p:nvPr>
        </p:nvSpPr>
        <p:spPr>
          <a:xfrm>
            <a:off x="1042988" y="225425"/>
            <a:ext cx="7705725" cy="863600"/>
          </a:xfrm>
        </p:spPr>
        <p:txBody>
          <a:bodyPr/>
          <a:lstStyle/>
          <a:p>
            <a:pPr rtl="0"/>
            <a:r>
              <a:rPr lang="en-US" dirty="0" smtClean="0"/>
              <a:t> Service Models (cont.)</a:t>
            </a:r>
            <a:endParaRPr lang="fa-IR"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295400"/>
            <a:ext cx="7705725" cy="4191000"/>
          </a:xfrm>
        </p:spPr>
        <p:txBody>
          <a:bodyPr>
            <a:normAutofit fontScale="77500" lnSpcReduction="20000"/>
          </a:bodyPr>
          <a:lstStyle/>
          <a:p>
            <a:r>
              <a:rPr lang="en-US" b="1" i="1" dirty="0" smtClean="0">
                <a:solidFill>
                  <a:srgbClr val="FF0000"/>
                </a:solidFill>
              </a:rPr>
              <a:t>Cloud Infrastructure as a Service (IaaS): </a:t>
            </a:r>
          </a:p>
          <a:p>
            <a:pPr lvl="1"/>
            <a:r>
              <a:rPr lang="en-US" dirty="0" smtClean="0"/>
              <a:t>The capability provided to the consumer is to provision processing, storage, networks, and other fundamental computing resources.</a:t>
            </a:r>
          </a:p>
          <a:p>
            <a:pPr lvl="1"/>
            <a:r>
              <a:rPr lang="en-US" dirty="0" smtClean="0"/>
              <a:t> The consumer is able to deploy and run arbitrary software, which can include operating systems and applications. </a:t>
            </a:r>
          </a:p>
          <a:p>
            <a:pPr lvl="1"/>
            <a:r>
              <a:rPr lang="en-US" dirty="0" smtClean="0"/>
              <a:t>The consumer does not manage or control the underlying cloud infrastructure but has control over operating systems, storage, deployed applications, and possibly limited control of select networking components (e.g., host firewalls).</a:t>
            </a:r>
          </a:p>
          <a:p>
            <a:pPr lvl="1"/>
            <a:r>
              <a:rPr lang="en-US" b="1" i="1" dirty="0" smtClean="0">
                <a:solidFill>
                  <a:srgbClr val="FF0000"/>
                </a:solidFill>
              </a:rPr>
              <a:t>Examples: Amazon EC2, GoGrid, iland, Rackspace Cloud Servers, ReliaCloud.</a:t>
            </a:r>
            <a:endParaRPr lang="fa-IR" b="1" i="1" dirty="0">
              <a:solidFill>
                <a:srgbClr val="FF0000"/>
              </a:solidFill>
            </a:endParaRPr>
          </a:p>
        </p:txBody>
      </p:sp>
      <p:sp>
        <p:nvSpPr>
          <p:cNvPr id="4" name="Slide Number Placeholder 3"/>
          <p:cNvSpPr>
            <a:spLocks noGrp="1"/>
          </p:cNvSpPr>
          <p:nvPr>
            <p:ph type="sldNum" sz="quarter" idx="12"/>
          </p:nvPr>
        </p:nvSpPr>
        <p:spPr/>
        <p:txBody>
          <a:bodyPr/>
          <a:lstStyle/>
          <a:p>
            <a:fld id="{EB60F204-AFC3-485B-B6AB-4A651EB29C6A}" type="slidenum">
              <a:rPr lang="en-US" smtClean="0"/>
              <a:pPr/>
              <a:t>7</a:t>
            </a:fld>
            <a:endParaRPr lang="en-US" dirty="0"/>
          </a:p>
        </p:txBody>
      </p:sp>
      <p:sp>
        <p:nvSpPr>
          <p:cNvPr id="5" name="Title 1"/>
          <p:cNvSpPr>
            <a:spLocks noGrp="1"/>
          </p:cNvSpPr>
          <p:nvPr>
            <p:ph type="title"/>
          </p:nvPr>
        </p:nvSpPr>
        <p:spPr>
          <a:xfrm>
            <a:off x="1042988" y="225425"/>
            <a:ext cx="7705725" cy="863600"/>
          </a:xfrm>
        </p:spPr>
        <p:txBody>
          <a:bodyPr/>
          <a:lstStyle/>
          <a:p>
            <a:pPr rtl="0"/>
            <a:r>
              <a:rPr lang="en-US" dirty="0" smtClean="0"/>
              <a:t> Service Models (cont.)</a:t>
            </a:r>
            <a:endParaRPr lang="fa-IR"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424px-Cloud_Computing_Stack.svg.png"/>
          <p:cNvPicPr>
            <a:picLocks noGrp="1" noChangeAspect="1"/>
          </p:cNvPicPr>
          <p:nvPr>
            <p:ph idx="1"/>
          </p:nvPr>
        </p:nvPicPr>
        <p:blipFill>
          <a:blip r:embed="rId2" cstate="print"/>
          <a:stretch>
            <a:fillRect/>
          </a:stretch>
        </p:blipFill>
        <p:spPr>
          <a:xfrm>
            <a:off x="3124200" y="1123950"/>
            <a:ext cx="3465510" cy="4895850"/>
          </a:xfrm>
        </p:spPr>
      </p:pic>
      <p:sp>
        <p:nvSpPr>
          <p:cNvPr id="5" name="TextBox 4"/>
          <p:cNvSpPr txBox="1"/>
          <p:nvPr/>
        </p:nvSpPr>
        <p:spPr>
          <a:xfrm>
            <a:off x="1447800" y="6019800"/>
            <a:ext cx="6966267" cy="276999"/>
          </a:xfrm>
          <a:prstGeom prst="rect">
            <a:avLst/>
          </a:prstGeom>
          <a:noFill/>
        </p:spPr>
        <p:txBody>
          <a:bodyPr wrap="none" rtlCol="1">
            <a:spAutoFit/>
          </a:bodyPr>
          <a:lstStyle/>
          <a:p>
            <a:r>
              <a:rPr lang="en-US" sz="1200" b="1" dirty="0" smtClean="0"/>
              <a:t>Service Model at a glance: Picture From http://en.wikipedia.org/wiki/File:Cloud_Computing_Stack.svg</a:t>
            </a:r>
            <a:endParaRPr lang="fa-IR" sz="1200" b="1" dirty="0"/>
          </a:p>
        </p:txBody>
      </p:sp>
      <p:sp>
        <p:nvSpPr>
          <p:cNvPr id="6" name="Slide Number Placeholder 5"/>
          <p:cNvSpPr>
            <a:spLocks noGrp="1"/>
          </p:cNvSpPr>
          <p:nvPr>
            <p:ph type="sldNum" sz="quarter" idx="12"/>
          </p:nvPr>
        </p:nvSpPr>
        <p:spPr/>
        <p:txBody>
          <a:bodyPr/>
          <a:lstStyle/>
          <a:p>
            <a:fld id="{EB60F204-AFC3-485B-B6AB-4A651EB29C6A}" type="slidenum">
              <a:rPr lang="en-US" smtClean="0"/>
              <a:pPr/>
              <a:t>8</a:t>
            </a:fld>
            <a:endParaRPr lang="en-US" dirty="0"/>
          </a:p>
        </p:txBody>
      </p:sp>
      <p:sp>
        <p:nvSpPr>
          <p:cNvPr id="7" name="Title 1"/>
          <p:cNvSpPr>
            <a:spLocks noGrp="1"/>
          </p:cNvSpPr>
          <p:nvPr>
            <p:ph type="title"/>
          </p:nvPr>
        </p:nvSpPr>
        <p:spPr>
          <a:xfrm>
            <a:off x="1042988" y="225425"/>
            <a:ext cx="7705725" cy="863600"/>
          </a:xfrm>
        </p:spPr>
        <p:txBody>
          <a:bodyPr/>
          <a:lstStyle/>
          <a:p>
            <a:pPr rtl="0"/>
            <a:r>
              <a:rPr lang="en-US" dirty="0" smtClean="0"/>
              <a:t> Service Models (cont.)</a:t>
            </a:r>
            <a:endParaRPr lang="fa-IR" dirty="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4"/>
          <p:cNvSpPr>
            <a:spLocks noGrp="1" noChangeArrowheads="1"/>
          </p:cNvSpPr>
          <p:nvPr>
            <p:ph type="ftr" sz="quarter" idx="10"/>
          </p:nvPr>
        </p:nvSpPr>
        <p:spPr>
          <a:noFill/>
        </p:spPr>
        <p:txBody>
          <a:bodyPr/>
          <a:lstStyle/>
          <a:p>
            <a:r>
              <a:rPr lang="en-US"/>
              <a:t>Copyright © 2011 Open Geospatial Consortium</a:t>
            </a:r>
          </a:p>
        </p:txBody>
      </p:sp>
      <p:sp>
        <p:nvSpPr>
          <p:cNvPr id="34819" name="Rectangle 1026"/>
          <p:cNvSpPr>
            <a:spLocks noGrp="1" noChangeArrowheads="1"/>
          </p:cNvSpPr>
          <p:nvPr>
            <p:ph type="title"/>
          </p:nvPr>
        </p:nvSpPr>
        <p:spPr>
          <a:noFill/>
        </p:spPr>
        <p:txBody>
          <a:bodyPr/>
          <a:lstStyle/>
          <a:p>
            <a:r>
              <a:rPr lang="en-US" smtClean="0">
                <a:effectLst/>
              </a:rPr>
              <a:t>From another perspective</a:t>
            </a:r>
          </a:p>
        </p:txBody>
      </p:sp>
      <p:pic>
        <p:nvPicPr>
          <p:cNvPr id="34820" name="Picture 1027"/>
          <p:cNvPicPr>
            <a:picLocks noChangeAspect="1" noChangeArrowheads="1"/>
          </p:cNvPicPr>
          <p:nvPr/>
        </p:nvPicPr>
        <p:blipFill>
          <a:blip r:embed="rId2"/>
          <a:srcRect/>
          <a:stretch>
            <a:fillRect/>
          </a:stretch>
        </p:blipFill>
        <p:spPr bwMode="auto">
          <a:xfrm>
            <a:off x="609600" y="1524000"/>
            <a:ext cx="7924800" cy="4181475"/>
          </a:xfrm>
          <a:prstGeom prst="rect">
            <a:avLst/>
          </a:prstGeom>
          <a:noFill/>
          <a:ln w="9525">
            <a:noFill/>
            <a:miter lim="800000"/>
            <a:headEnd/>
            <a:tailEnd/>
          </a:ln>
        </p:spPr>
      </p:pic>
    </p:spTree>
  </p:cSld>
  <p:clrMapOvr>
    <a:masterClrMapping/>
  </p:clrMapOvr>
  <p:transition>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480960" y="2903345"/>
            <a:ext cx="8228160" cy="1144921"/>
          </a:xfrm>
          <a:ln/>
        </p:spPr>
        <p:txBody>
          <a:bodyPr/>
          <a:lstStyle/>
          <a:p>
            <a:pPr>
              <a:lnSpc>
                <a:spcPct val="102000"/>
              </a:lnSpc>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3300" dirty="0">
                <a:solidFill>
                  <a:srgbClr val="000000"/>
                </a:solidFill>
                <a:effectLst>
                  <a:outerShdw blurRad="38100" dist="38100" dir="2700000" algn="tl">
                    <a:srgbClr val="C0C0C0"/>
                  </a:outerShdw>
                </a:effectLst>
              </a:rPr>
              <a:t>Deployment Models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body"/>
          </p:nvPr>
        </p:nvSpPr>
        <p:spPr>
          <a:xfrm>
            <a:off x="622080" y="1244291"/>
            <a:ext cx="8032320" cy="3755914"/>
          </a:xfrm>
          <a:ln/>
        </p:spPr>
        <p:txBody>
          <a:bodyPr anchor="t">
            <a:normAutofit lnSpcReduction="10000"/>
          </a:bodyPr>
          <a:lstStyle/>
          <a:p>
            <a:pPr marL="388806" indent="-293764">
              <a:lnSpc>
                <a:spcPct val="102000"/>
              </a:lnSpc>
              <a:spcAft>
                <a:spcPts val="1293"/>
              </a:spcAft>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2200" b="1" i="1" dirty="0">
                <a:solidFill>
                  <a:srgbClr val="FF0000"/>
                </a:solidFill>
              </a:rPr>
              <a:t>Private Cloud:</a:t>
            </a:r>
            <a:r>
              <a:rPr lang="en-US" sz="2200" i="1" dirty="0">
                <a:solidFill>
                  <a:srgbClr val="000000"/>
                </a:solidFill>
              </a:rPr>
              <a:t> </a:t>
            </a:r>
          </a:p>
          <a:p>
            <a:pPr marL="1563863" lvl="1" indent="-519848">
              <a:lnSpc>
                <a:spcPct val="102000"/>
              </a:lnSpc>
              <a:spcAft>
                <a:spcPts val="1032"/>
              </a:spcAft>
              <a:buClr>
                <a:srgbClr val="FF6633"/>
              </a:buClr>
              <a:buSzPct val="75000"/>
              <a:buFont typeface="Symbol" pitchFamily="18"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1800" dirty="0">
                <a:solidFill>
                  <a:srgbClr val="000000"/>
                </a:solidFill>
                <a:latin typeface="Constantia" pitchFamily="18" charset="0"/>
              </a:rPr>
              <a:t>The cloud is operated </a:t>
            </a:r>
            <a:r>
              <a:rPr lang="en-US" sz="1800" b="1" dirty="0">
                <a:solidFill>
                  <a:srgbClr val="FF0000"/>
                </a:solidFill>
                <a:latin typeface="Constantia" pitchFamily="18" charset="0"/>
              </a:rPr>
              <a:t>solely</a:t>
            </a:r>
            <a:r>
              <a:rPr lang="en-US" sz="1800" dirty="0">
                <a:solidFill>
                  <a:srgbClr val="000000"/>
                </a:solidFill>
                <a:latin typeface="Constantia" pitchFamily="18" charset="0"/>
              </a:rPr>
              <a:t> for an organization. It may be managed by the organization or a third party and may exist on premise or off premise.</a:t>
            </a:r>
          </a:p>
          <a:p>
            <a:pPr marL="388806" indent="-293764">
              <a:lnSpc>
                <a:spcPct val="102000"/>
              </a:lnSpc>
              <a:spcAft>
                <a:spcPts val="1293"/>
              </a:spcAft>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endParaRPr lang="en-US" sz="1800" dirty="0">
              <a:solidFill>
                <a:srgbClr val="000000"/>
              </a:solidFill>
            </a:endParaRPr>
          </a:p>
          <a:p>
            <a:pPr marL="388806" indent="-293764">
              <a:lnSpc>
                <a:spcPct val="102000"/>
              </a:lnSpc>
              <a:spcAft>
                <a:spcPts val="1293"/>
              </a:spcAft>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2200" b="1" i="1" dirty="0">
                <a:solidFill>
                  <a:srgbClr val="FF0000"/>
                </a:solidFill>
              </a:rPr>
              <a:t>Community Cloud:</a:t>
            </a:r>
            <a:r>
              <a:rPr lang="en-US" sz="2200" dirty="0">
                <a:solidFill>
                  <a:srgbClr val="000000"/>
                </a:solidFill>
              </a:rPr>
              <a:t> </a:t>
            </a:r>
          </a:p>
          <a:p>
            <a:pPr marL="1563863" lvl="1" indent="-519848">
              <a:lnSpc>
                <a:spcPct val="102000"/>
              </a:lnSpc>
              <a:spcAft>
                <a:spcPts val="1032"/>
              </a:spcAft>
              <a:buClr>
                <a:srgbClr val="FF6633"/>
              </a:buClr>
              <a:buSzPct val="75000"/>
              <a:buFont typeface="Symbol" pitchFamily="18"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1800" dirty="0">
                <a:solidFill>
                  <a:srgbClr val="000000"/>
                </a:solidFill>
                <a:latin typeface="Constantia" pitchFamily="18" charset="0"/>
              </a:rPr>
              <a:t>The cloud infrastructure is shared by several organizations and supports a specific community that has </a:t>
            </a:r>
            <a:r>
              <a:rPr lang="en-US" sz="1800" b="1" dirty="0">
                <a:solidFill>
                  <a:srgbClr val="FF0000"/>
                </a:solidFill>
                <a:latin typeface="Constantia" pitchFamily="18" charset="0"/>
              </a:rPr>
              <a:t>shared concerns.</a:t>
            </a:r>
          </a:p>
          <a:p>
            <a:pPr marL="1563863" lvl="1" indent="-519848">
              <a:lnSpc>
                <a:spcPct val="102000"/>
              </a:lnSpc>
              <a:spcAft>
                <a:spcPts val="1032"/>
              </a:spcAft>
              <a:buClr>
                <a:srgbClr val="FF6633"/>
              </a:buClr>
              <a:buSzPct val="75000"/>
              <a:buFont typeface="Symbol" pitchFamily="18"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1800" dirty="0">
                <a:solidFill>
                  <a:srgbClr val="000000"/>
                </a:solidFill>
                <a:latin typeface="Constantia" pitchFamily="18" charset="0"/>
              </a:rPr>
              <a:t>It may be managed by the organizations or a third party and may exist on premise or off premise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body"/>
          </p:nvPr>
        </p:nvSpPr>
        <p:spPr>
          <a:xfrm>
            <a:off x="622080" y="1244290"/>
            <a:ext cx="8032320" cy="4699309"/>
          </a:xfrm>
          <a:ln/>
        </p:spPr>
        <p:txBody>
          <a:bodyPr anchor="t"/>
          <a:lstStyle/>
          <a:p>
            <a:pPr marL="388806" indent="-293764">
              <a:lnSpc>
                <a:spcPct val="102000"/>
              </a:lnSpc>
              <a:spcAft>
                <a:spcPts val="1293"/>
              </a:spcAft>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2200" b="1" i="1" dirty="0">
                <a:solidFill>
                  <a:srgbClr val="FF0000"/>
                </a:solidFill>
              </a:rPr>
              <a:t>Public Cloud:</a:t>
            </a:r>
            <a:r>
              <a:rPr lang="en-US" sz="2200" i="1" dirty="0">
                <a:solidFill>
                  <a:srgbClr val="000000"/>
                </a:solidFill>
              </a:rPr>
              <a:t> </a:t>
            </a:r>
          </a:p>
          <a:p>
            <a:pPr marL="1563863" lvl="1" indent="-519848">
              <a:lnSpc>
                <a:spcPct val="102000"/>
              </a:lnSpc>
              <a:spcAft>
                <a:spcPts val="1032"/>
              </a:spcAft>
              <a:buClr>
                <a:srgbClr val="FF6633"/>
              </a:buClr>
              <a:buSzPct val="75000"/>
              <a:buFont typeface="Symbol" pitchFamily="18"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1800" dirty="0">
                <a:solidFill>
                  <a:srgbClr val="000000"/>
                </a:solidFill>
                <a:latin typeface="Constantia" pitchFamily="18" charset="0"/>
              </a:rPr>
              <a:t>The cloud infrastructure is made available to the general public or a large industry group and it is owned by an organization selling cloud services.</a:t>
            </a:r>
          </a:p>
          <a:p>
            <a:pPr marL="388806" indent="-293764">
              <a:lnSpc>
                <a:spcPct val="102000"/>
              </a:lnSpc>
              <a:spcAft>
                <a:spcPts val="1293"/>
              </a:spcAft>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endParaRPr lang="en-US" sz="1800" dirty="0">
              <a:solidFill>
                <a:srgbClr val="000000"/>
              </a:solidFill>
            </a:endParaRPr>
          </a:p>
          <a:p>
            <a:pPr marL="388806" indent="-293764">
              <a:lnSpc>
                <a:spcPct val="102000"/>
              </a:lnSpc>
              <a:spcAft>
                <a:spcPts val="1293"/>
              </a:spcAft>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2200" b="1" i="1" dirty="0">
                <a:solidFill>
                  <a:srgbClr val="FF0000"/>
                </a:solidFill>
              </a:rPr>
              <a:t>Hybrid cloud:</a:t>
            </a:r>
            <a:r>
              <a:rPr lang="en-US" sz="2200" b="1" dirty="0">
                <a:solidFill>
                  <a:srgbClr val="FF0000"/>
                </a:solidFill>
              </a:rPr>
              <a:t> </a:t>
            </a:r>
          </a:p>
          <a:p>
            <a:pPr marL="1563863" lvl="1" indent="-519848">
              <a:lnSpc>
                <a:spcPct val="102000"/>
              </a:lnSpc>
              <a:spcAft>
                <a:spcPts val="1032"/>
              </a:spcAft>
              <a:buClr>
                <a:srgbClr val="FF6633"/>
              </a:buClr>
              <a:buSzPct val="75000"/>
              <a:buFont typeface="Symbol" pitchFamily="18"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sz="1800" dirty="0">
                <a:solidFill>
                  <a:srgbClr val="000000"/>
                </a:solidFill>
                <a:latin typeface="Constantia" pitchFamily="18" charset="0"/>
              </a:rPr>
              <a:t>The cloud infrastructure is a composition of two or more </a:t>
            </a:r>
            <a:r>
              <a:rPr lang="en-US" sz="1800" dirty="0" smtClean="0">
                <a:solidFill>
                  <a:srgbClr val="000000"/>
                </a:solidFill>
                <a:latin typeface="Constantia" pitchFamily="18" charset="0"/>
              </a:rPr>
              <a:t>   clouds </a:t>
            </a:r>
            <a:r>
              <a:rPr lang="en-US" sz="1800" dirty="0">
                <a:solidFill>
                  <a:srgbClr val="000000"/>
                </a:solidFill>
                <a:latin typeface="Constantia" pitchFamily="18" charset="0"/>
              </a:rPr>
              <a:t>(private, community, or public).</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Picture 1"/>
          <p:cNvPicPr>
            <a:picLocks noChangeAspect="1" noChangeArrowheads="1"/>
          </p:cNvPicPr>
          <p:nvPr/>
        </p:nvPicPr>
        <p:blipFill>
          <a:blip r:embed="rId3" cstate="print"/>
          <a:srcRect/>
          <a:stretch>
            <a:fillRect/>
          </a:stretch>
        </p:blipFill>
        <p:spPr bwMode="auto">
          <a:xfrm>
            <a:off x="760320" y="1036909"/>
            <a:ext cx="7534080" cy="4355017"/>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p:nvPr>
        </p:nvSpPr>
        <p:spPr>
          <a:xfrm>
            <a:off x="456481" y="273629"/>
            <a:ext cx="8228160" cy="1144921"/>
          </a:xfrm>
          <a:ln/>
        </p:spPr>
        <p:txBody>
          <a:bodyPr/>
          <a:lstStyle/>
          <a:p>
            <a:pPr>
              <a:lnSpc>
                <a:spcPct val="102000"/>
              </a:lnSpc>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2200" u="sng" dirty="0">
                <a:solidFill>
                  <a:srgbClr val="000000"/>
                </a:solidFill>
                <a:effectLst>
                  <a:outerShdw blurRad="38100" dist="38100" dir="2700000" algn="tl">
                    <a:srgbClr val="C0C0C0"/>
                  </a:outerShdw>
                </a:effectLst>
              </a:rPr>
              <a:t>Advantages of Cloud Computing</a:t>
            </a:r>
          </a:p>
        </p:txBody>
      </p:sp>
      <p:sp>
        <p:nvSpPr>
          <p:cNvPr id="19458" name="Rectangle 2"/>
          <p:cNvSpPr>
            <a:spLocks noGrp="1" noChangeArrowheads="1"/>
          </p:cNvSpPr>
          <p:nvPr>
            <p:ph type="body" idx="1"/>
          </p:nvPr>
        </p:nvSpPr>
        <p:spPr>
          <a:xfrm>
            <a:off x="622080" y="1391187"/>
            <a:ext cx="7879680" cy="4622885"/>
          </a:xfrm>
          <a:ln/>
        </p:spPr>
        <p:txBody>
          <a:bodyPr tIns="20900">
            <a:normAutofit fontScale="92500" lnSpcReduction="10000"/>
          </a:bodyPr>
          <a:lstStyle/>
          <a:p>
            <a:pPr marL="388806" indent="-293764">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dirty="0"/>
              <a:t>Cloud computing do not need high quality equipment for user, and it is very easy to use.</a:t>
            </a:r>
          </a:p>
          <a:p>
            <a:pPr marL="388806" indent="-293764">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dirty="0"/>
              <a:t>Provides dependable and secure data storage center.</a:t>
            </a:r>
          </a:p>
          <a:p>
            <a:pPr marL="388806" indent="-293764">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dirty="0"/>
              <a:t>Reduce run time and response time.</a:t>
            </a:r>
          </a:p>
          <a:p>
            <a:pPr marL="388806" indent="-293764">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dirty="0"/>
              <a:t>Cloud is a large resource pool that you can buy on-demand service.</a:t>
            </a:r>
          </a:p>
          <a:p>
            <a:pPr marL="388806" indent="-293764">
              <a:buClr>
                <a:srgbClr val="FF6633"/>
              </a:buClr>
              <a:buSzPct val="45000"/>
              <a:buFont typeface="Wingdings" pitchFamily="2" charset="2"/>
              <a:buChar char=""/>
              <a:tabLst>
                <a:tab pos="388806" algn="l"/>
                <a:tab pos="491048" algn="l"/>
                <a:tab pos="905774" algn="l"/>
                <a:tab pos="1320500" algn="l"/>
                <a:tab pos="1735226" algn="l"/>
                <a:tab pos="2149952" algn="l"/>
                <a:tab pos="2564678" algn="l"/>
                <a:tab pos="2979404" algn="l"/>
                <a:tab pos="3394131" algn="l"/>
                <a:tab pos="3808857" algn="l"/>
                <a:tab pos="4223583" algn="l"/>
                <a:tab pos="4638309" algn="l"/>
                <a:tab pos="5053035" algn="l"/>
                <a:tab pos="5467761" algn="l"/>
                <a:tab pos="5882487" algn="l"/>
                <a:tab pos="6297213" algn="l"/>
                <a:tab pos="6711939" algn="l"/>
                <a:tab pos="7126666" algn="l"/>
                <a:tab pos="7541392" algn="l"/>
                <a:tab pos="7956118" algn="l"/>
                <a:tab pos="8370844" algn="l"/>
              </a:tabLst>
            </a:pPr>
            <a:r>
              <a:rPr lang="en-US" dirty="0"/>
              <a:t>Scale of cloud can extend dynamically providing nearly infinite possibility for users to use internet.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ftr" sz="quarter" idx="10"/>
          </p:nvPr>
        </p:nvSpPr>
        <p:spPr>
          <a:noFill/>
        </p:spPr>
        <p:txBody>
          <a:bodyPr/>
          <a:lstStyle/>
          <a:p>
            <a:r>
              <a:rPr lang="en-US"/>
              <a:t>Copyright © 2011 Open Geospatial Consortium</a:t>
            </a:r>
          </a:p>
        </p:txBody>
      </p:sp>
      <p:sp>
        <p:nvSpPr>
          <p:cNvPr id="48131" name="Rectangle 2"/>
          <p:cNvSpPr>
            <a:spLocks noGrp="1" noChangeArrowheads="1"/>
          </p:cNvSpPr>
          <p:nvPr>
            <p:ph type="title"/>
          </p:nvPr>
        </p:nvSpPr>
        <p:spPr>
          <a:xfrm>
            <a:off x="231775" y="136525"/>
            <a:ext cx="8226425" cy="685800"/>
          </a:xfrm>
          <a:noFill/>
        </p:spPr>
        <p:txBody>
          <a:bodyPr>
            <a:normAutofit fontScale="90000"/>
          </a:bodyPr>
          <a:lstStyle/>
          <a:p>
            <a:r>
              <a:rPr lang="en-US" smtClean="0">
                <a:effectLst/>
              </a:rPr>
              <a:t>General Security Advantages</a:t>
            </a:r>
          </a:p>
        </p:txBody>
      </p:sp>
      <p:sp>
        <p:nvSpPr>
          <p:cNvPr id="48132" name="Rectangle 3"/>
          <p:cNvSpPr>
            <a:spLocks noGrp="1" noChangeArrowheads="1"/>
          </p:cNvSpPr>
          <p:nvPr>
            <p:ph type="body" idx="1"/>
          </p:nvPr>
        </p:nvSpPr>
        <p:spPr/>
        <p:txBody>
          <a:bodyPr>
            <a:normAutofit fontScale="92500" lnSpcReduction="10000"/>
          </a:bodyPr>
          <a:lstStyle/>
          <a:p>
            <a:r>
              <a:rPr lang="en-US" smtClean="0"/>
              <a:t>Shifting public data to a external cloud reduces the exposure of the internal sensitive data</a:t>
            </a:r>
          </a:p>
          <a:p>
            <a:pPr lvl="1"/>
            <a:endParaRPr lang="en-US" smtClean="0"/>
          </a:p>
          <a:p>
            <a:r>
              <a:rPr lang="en-US" smtClean="0"/>
              <a:t>Cloud homogeneity makes security auditing/testing simpler</a:t>
            </a:r>
          </a:p>
          <a:p>
            <a:pPr lvl="1"/>
            <a:endParaRPr lang="en-US" smtClean="0"/>
          </a:p>
          <a:p>
            <a:r>
              <a:rPr lang="en-US" smtClean="0"/>
              <a:t>Clouds enable automated security management</a:t>
            </a:r>
          </a:p>
          <a:p>
            <a:pPr lvl="1"/>
            <a:endParaRPr lang="en-US" smtClean="0"/>
          </a:p>
          <a:p>
            <a:r>
              <a:rPr lang="en-US" smtClean="0"/>
              <a:t>Redundancy / Disaster Recovery</a:t>
            </a:r>
          </a:p>
        </p:txBody>
      </p:sp>
    </p:spTree>
  </p:cSld>
  <p:clrMapOvr>
    <a:masterClrMapping/>
  </p:clrMapOvr>
  <p:transition>
    <p:zoom dir="in"/>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Grp="1" noChangeArrowheads="1"/>
          </p:cNvSpPr>
          <p:nvPr>
            <p:ph type="ftr" sz="quarter" idx="10"/>
          </p:nvPr>
        </p:nvSpPr>
        <p:spPr>
          <a:noFill/>
        </p:spPr>
        <p:txBody>
          <a:bodyPr/>
          <a:lstStyle/>
          <a:p>
            <a:r>
              <a:rPr lang="en-US"/>
              <a:t>Copyright © 2011 Open Geospatial Consortium</a:t>
            </a:r>
          </a:p>
        </p:txBody>
      </p:sp>
      <p:sp>
        <p:nvSpPr>
          <p:cNvPr id="49155" name="Rectangle 2"/>
          <p:cNvSpPr>
            <a:spLocks noGrp="1" noChangeArrowheads="1"/>
          </p:cNvSpPr>
          <p:nvPr>
            <p:ph type="title"/>
          </p:nvPr>
        </p:nvSpPr>
        <p:spPr>
          <a:xfrm>
            <a:off x="231775" y="136525"/>
            <a:ext cx="8607425" cy="685800"/>
          </a:xfrm>
          <a:noFill/>
        </p:spPr>
        <p:txBody>
          <a:bodyPr>
            <a:normAutofit fontScale="90000"/>
          </a:bodyPr>
          <a:lstStyle/>
          <a:p>
            <a:r>
              <a:rPr lang="en-US" smtClean="0">
                <a:effectLst/>
              </a:rPr>
              <a:t>General Security Challenges</a:t>
            </a:r>
          </a:p>
        </p:txBody>
      </p:sp>
      <p:sp>
        <p:nvSpPr>
          <p:cNvPr id="49156" name="Rectangle 3"/>
          <p:cNvSpPr>
            <a:spLocks noGrp="1" noChangeArrowheads="1"/>
          </p:cNvSpPr>
          <p:nvPr>
            <p:ph type="body" idx="1"/>
          </p:nvPr>
        </p:nvSpPr>
        <p:spPr>
          <a:xfrm>
            <a:off x="685800" y="1219200"/>
            <a:ext cx="7620000" cy="5257800"/>
          </a:xfrm>
        </p:spPr>
        <p:txBody>
          <a:bodyPr>
            <a:normAutofit fontScale="85000" lnSpcReduction="10000"/>
          </a:bodyPr>
          <a:lstStyle/>
          <a:p>
            <a:r>
              <a:rPr lang="en-US" smtClean="0"/>
              <a:t>Trusting vendor’s security model</a:t>
            </a:r>
          </a:p>
          <a:p>
            <a:pPr lvl="1"/>
            <a:endParaRPr lang="en-US" smtClean="0"/>
          </a:p>
          <a:p>
            <a:r>
              <a:rPr lang="en-US" smtClean="0"/>
              <a:t>Customer inability to respond to audit findings</a:t>
            </a:r>
          </a:p>
          <a:p>
            <a:pPr lvl="1"/>
            <a:endParaRPr lang="en-US" smtClean="0"/>
          </a:p>
          <a:p>
            <a:r>
              <a:rPr lang="en-US" smtClean="0"/>
              <a:t>Obtaining support for investigations</a:t>
            </a:r>
          </a:p>
          <a:p>
            <a:pPr lvl="1"/>
            <a:endParaRPr lang="en-US" smtClean="0"/>
          </a:p>
          <a:p>
            <a:r>
              <a:rPr lang="en-US" smtClean="0"/>
              <a:t>Indirect administrator accountability</a:t>
            </a:r>
          </a:p>
          <a:p>
            <a:pPr lvl="1"/>
            <a:endParaRPr lang="en-US" smtClean="0"/>
          </a:p>
          <a:p>
            <a:r>
              <a:rPr lang="en-US" smtClean="0"/>
              <a:t>Proprietary implementations can’t be examined</a:t>
            </a:r>
          </a:p>
          <a:p>
            <a:pPr lvl="1"/>
            <a:endParaRPr lang="en-US" smtClean="0"/>
          </a:p>
          <a:p>
            <a:r>
              <a:rPr lang="en-US" smtClean="0"/>
              <a:t>Loss of physical control</a:t>
            </a:r>
          </a:p>
          <a:p>
            <a:endParaRPr lang="en-US" smtClean="0"/>
          </a:p>
        </p:txBody>
      </p:sp>
    </p:spTree>
  </p:cSld>
  <p:clrMapOvr>
    <a:masterClrMapping/>
  </p:clrMapOvr>
  <p:transition>
    <p:zoom dir="in"/>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ftr" sz="quarter" idx="10"/>
          </p:nvPr>
        </p:nvSpPr>
        <p:spPr>
          <a:noFill/>
        </p:spPr>
        <p:txBody>
          <a:bodyPr/>
          <a:lstStyle/>
          <a:p>
            <a:r>
              <a:rPr lang="en-US"/>
              <a:t>Copyright © 2011 Open Geospatial Consortium</a:t>
            </a:r>
          </a:p>
        </p:txBody>
      </p:sp>
      <p:sp>
        <p:nvSpPr>
          <p:cNvPr id="50179" name="Rectangle 2"/>
          <p:cNvSpPr>
            <a:spLocks noGrp="1" noChangeArrowheads="1"/>
          </p:cNvSpPr>
          <p:nvPr>
            <p:ph type="title"/>
          </p:nvPr>
        </p:nvSpPr>
        <p:spPr>
          <a:noFill/>
        </p:spPr>
        <p:txBody>
          <a:bodyPr/>
          <a:lstStyle/>
          <a:p>
            <a:r>
              <a:rPr lang="en-US" smtClean="0">
                <a:effectLst/>
              </a:rPr>
              <a:t>Issues - Other</a:t>
            </a:r>
          </a:p>
        </p:txBody>
      </p:sp>
      <p:sp>
        <p:nvSpPr>
          <p:cNvPr id="50180" name="Rectangle 3"/>
          <p:cNvSpPr>
            <a:spLocks noGrp="1" noChangeArrowheads="1"/>
          </p:cNvSpPr>
          <p:nvPr>
            <p:ph type="body" idx="1"/>
          </p:nvPr>
        </p:nvSpPr>
        <p:spPr/>
        <p:txBody>
          <a:bodyPr>
            <a:normAutofit fontScale="77500" lnSpcReduction="20000"/>
          </a:bodyPr>
          <a:lstStyle/>
          <a:p>
            <a:pPr>
              <a:lnSpc>
                <a:spcPct val="90000"/>
              </a:lnSpc>
            </a:pPr>
            <a:r>
              <a:rPr lang="en-US" smtClean="0"/>
              <a:t>Privacy</a:t>
            </a:r>
          </a:p>
          <a:p>
            <a:pPr lvl="1">
              <a:lnSpc>
                <a:spcPct val="90000"/>
              </a:lnSpc>
            </a:pPr>
            <a:r>
              <a:rPr lang="en-US" smtClean="0"/>
              <a:t>Greater ease in which the companies hosting the cloud services control, and, thus, can monitor at will, lawfully or unlawfully, the communication and data stored between the user and the host company </a:t>
            </a:r>
          </a:p>
          <a:p>
            <a:pPr>
              <a:lnSpc>
                <a:spcPct val="90000"/>
              </a:lnSpc>
            </a:pPr>
            <a:r>
              <a:rPr lang="en-US" smtClean="0"/>
              <a:t>Standards</a:t>
            </a:r>
          </a:p>
          <a:p>
            <a:pPr lvl="1">
              <a:lnSpc>
                <a:spcPct val="90000"/>
              </a:lnSpc>
            </a:pPr>
            <a:r>
              <a:rPr lang="en-US" smtClean="0"/>
              <a:t>Most cloud providers expose APIs that are typically well-documented but also unique to their implementation and thus not interoperable. Open Cloud Consortium is working this issue</a:t>
            </a:r>
          </a:p>
          <a:p>
            <a:pPr>
              <a:lnSpc>
                <a:spcPct val="90000"/>
              </a:lnSpc>
            </a:pPr>
            <a:r>
              <a:rPr lang="en-US" smtClean="0"/>
              <a:t>Legal</a:t>
            </a:r>
          </a:p>
          <a:p>
            <a:pPr lvl="1">
              <a:lnSpc>
                <a:spcPct val="90000"/>
              </a:lnSpc>
            </a:pPr>
            <a:r>
              <a:rPr lang="en-US" smtClean="0"/>
              <a:t>E-Discovery</a:t>
            </a:r>
          </a:p>
          <a:p>
            <a:pPr lvl="1">
              <a:lnSpc>
                <a:spcPct val="90000"/>
              </a:lnSpc>
            </a:pPr>
            <a:r>
              <a:rPr lang="en-US" smtClean="0"/>
              <a:t>Search Warrants and Customer data</a:t>
            </a:r>
          </a:p>
          <a:p>
            <a:pPr lvl="1">
              <a:lnSpc>
                <a:spcPct val="90000"/>
              </a:lnSpc>
            </a:pPr>
            <a:r>
              <a:rPr lang="en-US" smtClean="0"/>
              <a:t>Cross-jurisdiction compliance</a:t>
            </a:r>
          </a:p>
          <a:p>
            <a:pPr lvl="1">
              <a:lnSpc>
                <a:spcPct val="90000"/>
              </a:lnSpc>
            </a:pPr>
            <a:r>
              <a:rPr lang="en-US" smtClean="0"/>
              <a:t>Patents</a:t>
            </a:r>
          </a:p>
        </p:txBody>
      </p:sp>
    </p:spTree>
  </p:cSld>
  <p:clrMapOvr>
    <a:masterClrMapping/>
  </p:clrMapOvr>
  <p:transition>
    <p:zoom dir="in"/>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ftr" sz="quarter" idx="10"/>
          </p:nvPr>
        </p:nvSpPr>
        <p:spPr>
          <a:noFill/>
        </p:spPr>
        <p:txBody>
          <a:bodyPr/>
          <a:lstStyle/>
          <a:p>
            <a:r>
              <a:rPr lang="en-US"/>
              <a:t>Copyright © 2011 Open Geospatial Consortium</a:t>
            </a:r>
          </a:p>
        </p:txBody>
      </p:sp>
      <p:sp>
        <p:nvSpPr>
          <p:cNvPr id="34818" name="Rectangle 2"/>
          <p:cNvSpPr>
            <a:spLocks noGrp="1" noChangeArrowheads="1"/>
          </p:cNvSpPr>
          <p:nvPr>
            <p:ph type="title" idx="4294967295"/>
          </p:nvPr>
        </p:nvSpPr>
        <p:spPr/>
        <p:txBody>
          <a:bodyPr>
            <a:normAutofit fontScale="90000"/>
          </a:bodyPr>
          <a:lstStyle/>
          <a:p>
            <a:pPr>
              <a:defRPr/>
            </a:pPr>
            <a:r>
              <a:rPr lang="en-US" smtClean="0"/>
              <a:t>Issues for the Geospatial Community</a:t>
            </a:r>
          </a:p>
        </p:txBody>
      </p:sp>
      <p:sp>
        <p:nvSpPr>
          <p:cNvPr id="98307" name="Rectangle 3"/>
          <p:cNvSpPr>
            <a:spLocks noGrp="1" noChangeArrowheads="1"/>
          </p:cNvSpPr>
          <p:nvPr>
            <p:ph type="body" idx="4294967295"/>
          </p:nvPr>
        </p:nvSpPr>
        <p:spPr>
          <a:xfrm>
            <a:off x="346075" y="1219200"/>
            <a:ext cx="8458200" cy="4951413"/>
          </a:xfrm>
        </p:spPr>
        <p:txBody>
          <a:bodyPr>
            <a:normAutofit fontScale="85000" lnSpcReduction="20000"/>
          </a:bodyPr>
          <a:lstStyle/>
          <a:p>
            <a:pPr>
              <a:lnSpc>
                <a:spcPct val="90000"/>
              </a:lnSpc>
              <a:defRPr/>
            </a:pPr>
            <a:r>
              <a:rPr lang="en-US" smtClean="0">
                <a:effectLst>
                  <a:outerShdw blurRad="38100" dist="38100" dir="2700000" algn="tl">
                    <a:srgbClr val="C0C0C0"/>
                  </a:outerShdw>
                </a:effectLst>
              </a:rPr>
              <a:t>Security, Privacy and Confidentiality</a:t>
            </a:r>
            <a:endParaRPr lang="en-US" smtClean="0"/>
          </a:p>
          <a:p>
            <a:pPr lvl="1">
              <a:lnSpc>
                <a:spcPct val="90000"/>
              </a:lnSpc>
              <a:defRPr/>
            </a:pPr>
            <a:r>
              <a:rPr lang="en-US" smtClean="0"/>
              <a:t>Safeguards needed to protect confidential information and services. Especially true for location content and applications</a:t>
            </a:r>
          </a:p>
          <a:p>
            <a:pPr lvl="1">
              <a:lnSpc>
                <a:spcPct val="90000"/>
              </a:lnSpc>
              <a:defRPr/>
            </a:pPr>
            <a:endParaRPr lang="en-US" smtClean="0"/>
          </a:p>
          <a:p>
            <a:pPr>
              <a:lnSpc>
                <a:spcPct val="90000"/>
              </a:lnSpc>
              <a:defRPr/>
            </a:pPr>
            <a:r>
              <a:rPr lang="en-US" smtClean="0"/>
              <a:t>Performance</a:t>
            </a:r>
          </a:p>
          <a:p>
            <a:pPr lvl="1">
              <a:lnSpc>
                <a:spcPct val="90000"/>
              </a:lnSpc>
              <a:defRPr/>
            </a:pPr>
            <a:r>
              <a:rPr lang="en-US" smtClean="0"/>
              <a:t>Existing geospatial applications may not be structured (architectured) correctly for the cloud</a:t>
            </a:r>
          </a:p>
          <a:p>
            <a:pPr lvl="1">
              <a:lnSpc>
                <a:spcPct val="90000"/>
              </a:lnSpc>
              <a:defRPr/>
            </a:pPr>
            <a:endParaRPr lang="en-US" smtClean="0"/>
          </a:p>
          <a:p>
            <a:pPr>
              <a:lnSpc>
                <a:spcPct val="90000"/>
              </a:lnSpc>
              <a:defRPr/>
            </a:pPr>
            <a:r>
              <a:rPr lang="en-US" smtClean="0"/>
              <a:t>Revenue models</a:t>
            </a:r>
          </a:p>
          <a:p>
            <a:pPr lvl="1">
              <a:lnSpc>
                <a:spcPct val="90000"/>
              </a:lnSpc>
              <a:defRPr/>
            </a:pPr>
            <a:r>
              <a:rPr lang="en-US" smtClean="0"/>
              <a:t>Much to be learned here</a:t>
            </a:r>
          </a:p>
          <a:p>
            <a:pPr lvl="1">
              <a:lnSpc>
                <a:spcPct val="90000"/>
              </a:lnSpc>
              <a:defRPr/>
            </a:pPr>
            <a:endParaRPr lang="en-US" smtClean="0"/>
          </a:p>
          <a:p>
            <a:pPr>
              <a:lnSpc>
                <a:spcPct val="90000"/>
              </a:lnSpc>
              <a:defRPr/>
            </a:pPr>
            <a:r>
              <a:rPr lang="en-US" smtClean="0"/>
              <a:t>Data Usage</a:t>
            </a:r>
          </a:p>
          <a:p>
            <a:pPr lvl="1">
              <a:lnSpc>
                <a:spcPct val="90000"/>
              </a:lnSpc>
              <a:defRPr/>
            </a:pPr>
            <a:r>
              <a:rPr lang="en-US" smtClean="0"/>
              <a:t>An individual's internet usage could soar as large files are sent via the internet between the user's computer and the data center </a:t>
            </a:r>
          </a:p>
        </p:txBody>
      </p:sp>
    </p:spTree>
  </p:cSld>
  <p:clrMapOvr>
    <a:masterClrMapping/>
  </p:clrMapOvr>
  <p:transition>
    <p:zoom dir="in"/>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SOA (SERVICE ORIENTED ARCHITECTURE )</a:t>
            </a:r>
            <a:endParaRPr lang="en-US" dirty="0"/>
          </a:p>
        </p:txBody>
      </p:sp>
      <p:sp>
        <p:nvSpPr>
          <p:cNvPr id="3" name="Content Placeholder 2"/>
          <p:cNvSpPr>
            <a:spLocks noGrp="1"/>
          </p:cNvSpPr>
          <p:nvPr>
            <p:ph idx="1"/>
          </p:nvPr>
        </p:nvSpPr>
        <p:spPr/>
        <p:txBody>
          <a:bodyPr/>
          <a:lstStyle/>
          <a:p>
            <a:r>
              <a:rPr lang="en-US" smtClean="0"/>
              <a:t>REFER TEXT BOOK</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424801" y="0"/>
            <a:ext cx="8228160" cy="1144921"/>
          </a:xfrm>
          <a:ln/>
        </p:spPr>
        <p:txBody>
          <a:bodyPr/>
          <a:lstStyle/>
          <a:p>
            <a:pPr algn="just">
              <a:lnSpc>
                <a:spcPct val="94000"/>
              </a:lnSpc>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GB" sz="4900" dirty="0">
                <a:latin typeface="Arial Narrow" pitchFamily="32" charset="0"/>
              </a:rPr>
              <a:t>What is SOA?</a:t>
            </a:r>
          </a:p>
        </p:txBody>
      </p:sp>
      <p:sp>
        <p:nvSpPr>
          <p:cNvPr id="4098" name="Rectangle 2"/>
          <p:cNvSpPr>
            <a:spLocks noGrp="1" noChangeArrowheads="1"/>
          </p:cNvSpPr>
          <p:nvPr>
            <p:ph type="body" idx="1"/>
          </p:nvPr>
        </p:nvSpPr>
        <p:spPr>
          <a:xfrm>
            <a:off x="456481" y="1604328"/>
            <a:ext cx="8228160" cy="4925317"/>
          </a:xfrm>
          <a:ln/>
        </p:spPr>
        <p:txBody>
          <a:bodyPr>
            <a:normAutofit fontScale="92500" lnSpcReduction="10000"/>
          </a:bodyPr>
          <a:lstStyle/>
          <a:p>
            <a:pPr>
              <a:lnSpc>
                <a:spcPct val="118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dirty="0">
                <a:latin typeface="Arial Black" charset="0"/>
              </a:rPr>
              <a:t>SOA – Service Oriented Architecture</a:t>
            </a:r>
          </a:p>
          <a:p>
            <a:pPr lvl="1">
              <a:lnSpc>
                <a:spcPct val="118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dirty="0">
                <a:latin typeface="Arial Black" charset="0"/>
              </a:rPr>
              <a:t>S – Service is basically an independent component that has a certain function. (e.g. Viewing online bank statement, filling out an app for an account). Emphasis on modularity and loose coupling (implementation hidden)</a:t>
            </a:r>
            <a:r>
              <a:rPr lang="ar-SA" dirty="0">
                <a:latin typeface="Arial Black" charset="0"/>
                <a:cs typeface="Arial" charset="0"/>
              </a:rPr>
              <a:t>‏</a:t>
            </a:r>
            <a:endParaRPr lang="en-GB" dirty="0">
              <a:latin typeface="Arial Black" charset="0"/>
            </a:endParaRPr>
          </a:p>
          <a:p>
            <a:pPr lvl="1">
              <a:lnSpc>
                <a:spcPct val="118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dirty="0">
                <a:latin typeface="Arial Black" charset="0"/>
              </a:rPr>
              <a:t>A – Architecture basically means this is not a technology but an approach to software design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Picture 1"/>
          <p:cNvPicPr>
            <a:picLocks noChangeAspect="1" noChangeArrowheads="1"/>
          </p:cNvPicPr>
          <p:nvPr/>
        </p:nvPicPr>
        <p:blipFill>
          <a:blip r:embed="rId3"/>
          <a:srcRect/>
          <a:stretch>
            <a:fillRect/>
          </a:stretch>
        </p:blipFill>
        <p:spPr bwMode="auto">
          <a:xfrm>
            <a:off x="207360" y="1548164"/>
            <a:ext cx="8870400" cy="4673290"/>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xfrm>
            <a:off x="424801" y="0"/>
            <a:ext cx="8228160" cy="1144921"/>
          </a:xfrm>
          <a:ln/>
        </p:spPr>
        <p:txBody>
          <a:bodyPr/>
          <a:lstStyle/>
          <a:p>
            <a:pPr algn="just">
              <a:lnSpc>
                <a:spcPct val="94000"/>
              </a:lnSpc>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GB" sz="4900" dirty="0">
                <a:latin typeface="Arial Narrow" pitchFamily="32" charset="0"/>
              </a:rPr>
              <a:t>What is SOA?</a:t>
            </a:r>
          </a:p>
        </p:txBody>
      </p:sp>
      <p:sp>
        <p:nvSpPr>
          <p:cNvPr id="6146" name="Rectangle 2"/>
          <p:cNvSpPr>
            <a:spLocks noGrp="1" noChangeArrowheads="1"/>
          </p:cNvSpPr>
          <p:nvPr>
            <p:ph type="body" idx="1"/>
          </p:nvPr>
        </p:nvSpPr>
        <p:spPr>
          <a:xfrm>
            <a:off x="456481" y="1604329"/>
            <a:ext cx="8228160" cy="5187425"/>
          </a:xfrm>
          <a:ln/>
        </p:spPr>
        <p:txBody>
          <a:bodyPr>
            <a:normAutofit fontScale="92500"/>
          </a:bodyPr>
          <a:lstStyle/>
          <a:p>
            <a:pPr>
              <a:lnSpc>
                <a:spcPct val="118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dirty="0">
                <a:latin typeface="Arial Black" charset="0"/>
              </a:rPr>
              <a:t>How do services talk to </a:t>
            </a:r>
            <a:r>
              <a:rPr lang="en-GB" dirty="0" err="1">
                <a:latin typeface="Arial Black" charset="0"/>
              </a:rPr>
              <a:t>eachother</a:t>
            </a:r>
            <a:r>
              <a:rPr lang="en-GB" dirty="0">
                <a:latin typeface="Arial Black" charset="0"/>
              </a:rPr>
              <a:t>?</a:t>
            </a:r>
          </a:p>
          <a:p>
            <a:pPr lvl="1">
              <a:lnSpc>
                <a:spcPct val="118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dirty="0">
                <a:latin typeface="Arial Black" charset="0"/>
              </a:rPr>
              <a:t>In the past through COMs or ORBs, but recent SOAs using Web Service (i.e. XML based messaging)</a:t>
            </a:r>
            <a:r>
              <a:rPr lang="ar-SA" dirty="0">
                <a:latin typeface="Arial Black" charset="0"/>
                <a:cs typeface="Arial" charset="0"/>
              </a:rPr>
              <a:t>‏</a:t>
            </a:r>
            <a:endParaRPr lang="en-GB" dirty="0">
              <a:latin typeface="Arial Black" charset="0"/>
              <a:cs typeface="Arial" charset="0"/>
            </a:endParaRPr>
          </a:p>
          <a:p>
            <a:pPr lvl="1">
              <a:lnSpc>
                <a:spcPct val="118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dirty="0" err="1">
                <a:latin typeface="Arial Black" charset="0"/>
              </a:rPr>
              <a:t>Adhoc</a:t>
            </a:r>
            <a:r>
              <a:rPr lang="en-GB" dirty="0">
                <a:latin typeface="Arial Black" charset="0"/>
              </a:rPr>
              <a:t> philosophy</a:t>
            </a:r>
          </a:p>
          <a:p>
            <a:pPr lvl="1">
              <a:lnSpc>
                <a:spcPct val="118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dirty="0">
                <a:latin typeface="Arial Black" charset="0"/>
              </a:rPr>
              <a:t>Platform, language, OS independent.</a:t>
            </a:r>
          </a:p>
          <a:p>
            <a:pPr lvl="1">
              <a:lnSpc>
                <a:spcPct val="118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dirty="0">
                <a:latin typeface="Arial Black" charset="0"/>
              </a:rPr>
              <a:t>More recently, services are being offered for a price, like in the travel industry, financing, using off the shelf software services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1084</Words>
  <Application>Microsoft Office PowerPoint</Application>
  <PresentationFormat>On-screen Show (4:3)</PresentationFormat>
  <Paragraphs>132</Paragraphs>
  <Slides>22</Slides>
  <Notes>9</Notes>
  <HiddenSlides>1</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Cloud  Computing</vt:lpstr>
      <vt:lpstr>What is Cloud Computing?</vt:lpstr>
      <vt:lpstr>Essential Characteristics</vt:lpstr>
      <vt:lpstr>Essential Characteristics (cont.)</vt:lpstr>
      <vt:lpstr>Service Models</vt:lpstr>
      <vt:lpstr> Service Models (cont.)</vt:lpstr>
      <vt:lpstr> Service Models (cont.)</vt:lpstr>
      <vt:lpstr> Service Models (cont.)</vt:lpstr>
      <vt:lpstr>From another perspective</vt:lpstr>
      <vt:lpstr>Deployment Models</vt:lpstr>
      <vt:lpstr>PowerPoint Presentation</vt:lpstr>
      <vt:lpstr>PowerPoint Presentation</vt:lpstr>
      <vt:lpstr>PowerPoint Presentation</vt:lpstr>
      <vt:lpstr>Advantages of Cloud Computing</vt:lpstr>
      <vt:lpstr>General Security Advantages</vt:lpstr>
      <vt:lpstr>General Security Challenges</vt:lpstr>
      <vt:lpstr>Issues - Other</vt:lpstr>
      <vt:lpstr>Issues for the Geospatial Community</vt:lpstr>
      <vt:lpstr>SOA (SERVICE ORIENTED ARCHITECTURE )</vt:lpstr>
      <vt:lpstr>What is SOA?</vt:lpstr>
      <vt:lpstr>PowerPoint Presentation</vt:lpstr>
      <vt:lpstr>What is SOA?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dc:title>
  <dc:creator>OM</dc:creator>
  <cp:lastModifiedBy>Varad_K</cp:lastModifiedBy>
  <cp:revision>5</cp:revision>
  <dcterms:created xsi:type="dcterms:W3CDTF">2019-12-29T17:07:58Z</dcterms:created>
  <dcterms:modified xsi:type="dcterms:W3CDTF">2021-08-15T05:39:43Z</dcterms:modified>
</cp:coreProperties>
</file>