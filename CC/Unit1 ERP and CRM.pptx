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6D8CAFC-6416-4636-B07C-F0655C77336F}" type="datetimeFigureOut">
              <a:rPr lang="en-IN" smtClean="0"/>
              <a:t>15-02-2023</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FEE8A03-9E40-42CF-B87B-0622F62382D3}"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6D8CAFC-6416-4636-B07C-F0655C77336F}"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EE8A03-9E40-42CF-B87B-0622F62382D3}"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6D8CAFC-6416-4636-B07C-F0655C77336F}" type="datetimeFigureOut">
              <a:rPr lang="en-IN" smtClean="0"/>
              <a:t>15-02-2023</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7FEE8A03-9E40-42CF-B87B-0622F62382D3}"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6D8CAFC-6416-4636-B07C-F0655C77336F}" type="datetimeFigureOut">
              <a:rPr lang="en-IN" smtClean="0"/>
              <a:t>15-02-2023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EE8A03-9E40-42CF-B87B-0622F62382D3}"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6D8CAFC-6416-4636-B07C-F0655C77336F}" type="datetimeFigureOut">
              <a:rPr lang="en-IN" smtClean="0"/>
              <a:t>15-02-2023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EE8A03-9E40-42CF-B87B-0622F62382D3}"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6D8CAFC-6416-4636-B07C-F0655C77336F}" type="datetimeFigureOut">
              <a:rPr lang="en-IN" smtClean="0"/>
              <a:t>15-02-2023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EE8A03-9E40-42CF-B87B-0622F62382D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D8CAFC-6416-4636-B07C-F0655C77336F}" type="datetimeFigureOut">
              <a:rPr lang="en-IN" smtClean="0"/>
              <a:t>15-02-2023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EE8A03-9E40-42CF-B87B-0622F62382D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6D8CAFC-6416-4636-B07C-F0655C77336F}" type="datetimeFigureOut">
              <a:rPr lang="en-IN" smtClean="0"/>
              <a:t>15-02-2023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EE8A03-9E40-42CF-B87B-0622F62382D3}"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6D8CAFC-6416-4636-B07C-F0655C77336F}" type="datetimeFigureOut">
              <a:rPr lang="en-IN" smtClean="0"/>
              <a:t>15-02-2023</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7FEE8A03-9E40-42CF-B87B-0622F62382D3}"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D8CAFC-6416-4636-B07C-F0655C77336F}"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EE8A03-9E40-42CF-B87B-0622F62382D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D8CAFC-6416-4636-B07C-F0655C77336F}" type="datetimeFigureOut">
              <a:rPr lang="en-IN" smtClean="0"/>
              <a:t>15-02-2023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EE8A03-9E40-42CF-B87B-0622F62382D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6D8CAFC-6416-4636-B07C-F0655C77336F}" type="datetimeFigureOut">
              <a:rPr lang="en-IN" smtClean="0"/>
              <a:t>15-02-2023</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FEE8A03-9E40-42CF-B87B-0622F62382D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cio.com/article/3085453/software/how-to-select-a-tier-2-erp-package.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cio.com/article/2406234/enterprise-resource-planning/customize-your-erp-or-adapt-to-it--what-s-your-strategy-.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synoptek.com/insights/it-blogs/five-reasons-to-choose-cloud-cr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synoptek.com/about-us/events-webinars/crm-not-just-for-the-sales-team/"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synoptek.com/offerings/business-infrastructure-and-systems-solutions/cloud-advancement/cloud-strategy-and-plann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synoptek.com/offerings/business-infrastructure-and-systems-solutions/cyber-security/"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JSPM’S </a:t>
            </a:r>
            <a:r>
              <a:rPr lang="en-US" dirty="0" err="1" smtClean="0"/>
              <a:t>RSCOE,Tathawade</a:t>
            </a:r>
            <a:endParaRPr lang="en-US" dirty="0" smtClean="0"/>
          </a:p>
          <a:p>
            <a:r>
              <a:rPr lang="en-US" dirty="0" err="1" smtClean="0"/>
              <a:t>Class:T.Y</a:t>
            </a:r>
            <a:r>
              <a:rPr lang="en-US" dirty="0" smtClean="0"/>
              <a:t> </a:t>
            </a:r>
            <a:r>
              <a:rPr lang="en-US" dirty="0" err="1" smtClean="0"/>
              <a:t>Engg</a:t>
            </a:r>
            <a:endParaRPr lang="en-US" dirty="0" smtClean="0"/>
          </a:p>
          <a:p>
            <a:r>
              <a:rPr lang="en-US" dirty="0" err="1" smtClean="0"/>
              <a:t>Faculty:K.V.Deshpande</a:t>
            </a:r>
            <a:endParaRPr lang="en-IN" dirty="0"/>
          </a:p>
        </p:txBody>
      </p:sp>
      <p:sp>
        <p:nvSpPr>
          <p:cNvPr id="2" name="Title 1"/>
          <p:cNvSpPr>
            <a:spLocks noGrp="1"/>
          </p:cNvSpPr>
          <p:nvPr>
            <p:ph type="ctrTitle"/>
          </p:nvPr>
        </p:nvSpPr>
        <p:spPr/>
        <p:txBody>
          <a:bodyPr/>
          <a:lstStyle/>
          <a:p>
            <a:r>
              <a:rPr lang="en-US" dirty="0" smtClean="0"/>
              <a:t>Unit1:ERP &amp;CRM</a:t>
            </a:r>
            <a:endParaRPr lang="en-IN" dirty="0"/>
          </a:p>
        </p:txBody>
      </p:sp>
    </p:spTree>
    <p:extLst>
      <p:ext uri="{BB962C8B-B14F-4D97-AF65-F5344CB8AC3E}">
        <p14:creationId xmlns:p14="http://schemas.microsoft.com/office/powerpoint/2010/main" val="2833361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ERP definition</a:t>
            </a:r>
            <a:r>
              <a:rPr lang="en-IN" dirty="0"/>
              <a:t/>
            </a:r>
            <a:br>
              <a:rPr lang="en-IN" dirty="0"/>
            </a:br>
            <a:endParaRPr lang="en-IN" dirty="0"/>
          </a:p>
        </p:txBody>
      </p:sp>
      <p:sp>
        <p:nvSpPr>
          <p:cNvPr id="3" name="Content Placeholder 2"/>
          <p:cNvSpPr>
            <a:spLocks noGrp="1"/>
          </p:cNvSpPr>
          <p:nvPr>
            <p:ph sz="quarter" idx="1"/>
          </p:nvPr>
        </p:nvSpPr>
        <p:spPr/>
        <p:txBody>
          <a:bodyPr>
            <a:normAutofit fontScale="92500" lnSpcReduction="20000"/>
          </a:bodyPr>
          <a:lstStyle/>
          <a:p>
            <a:r>
              <a:rPr lang="en-IN" dirty="0" smtClean="0"/>
              <a:t>Enterprise </a:t>
            </a:r>
            <a:r>
              <a:rPr lang="en-IN" dirty="0"/>
              <a:t>resource planning (ERP) is a system of integrated software applications that standardizes, streamlines and integrates business processes across finance, human resources, procurement, distribution, and other departments. Typically, ERP systems operate on an integrated software platform using common data definitions operating on a single database</a:t>
            </a:r>
            <a:r>
              <a:rPr lang="en-IN" dirty="0" smtClean="0"/>
              <a:t>.</a:t>
            </a:r>
          </a:p>
          <a:p>
            <a:r>
              <a:rPr lang="en-IN" dirty="0"/>
              <a:t>ERPs were originally designed for manufacturing companies but have since expanded to service industries, higher education, hospitality, health care, financial services, and government. Each industry has its own ERP peculiarities. For example, government ERP uses contract lifecycle management (CLM) rather than traditional purchasing and follows government accounting rules rather than GAAP. Banks have back-office settlement processes to reconcile checks, credit cards, debit cards, and other instruments.</a:t>
            </a:r>
          </a:p>
          <a:p>
            <a:endParaRPr lang="en-IN" dirty="0"/>
          </a:p>
          <a:p>
            <a:endParaRPr lang="en-IN" dirty="0"/>
          </a:p>
        </p:txBody>
      </p:sp>
    </p:spTree>
    <p:extLst>
      <p:ext uri="{BB962C8B-B14F-4D97-AF65-F5344CB8AC3E}">
        <p14:creationId xmlns:p14="http://schemas.microsoft.com/office/powerpoint/2010/main" val="2874044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4 key features of ERP systems</a:t>
            </a:r>
            <a:br>
              <a:rPr lang="en-IN" b="1" dirty="0"/>
            </a:br>
            <a:endParaRPr lang="en-IN" dirty="0"/>
          </a:p>
        </p:txBody>
      </p:sp>
      <p:sp>
        <p:nvSpPr>
          <p:cNvPr id="3" name="Content Placeholder 2"/>
          <p:cNvSpPr>
            <a:spLocks noGrp="1"/>
          </p:cNvSpPr>
          <p:nvPr>
            <p:ph sz="quarter" idx="1"/>
          </p:nvPr>
        </p:nvSpPr>
        <p:spPr/>
        <p:txBody>
          <a:bodyPr>
            <a:normAutofit fontScale="77500" lnSpcReduction="20000"/>
          </a:bodyPr>
          <a:lstStyle/>
          <a:p>
            <a:pPr lvl="0"/>
            <a:r>
              <a:rPr lang="en-IN" b="1" dirty="0"/>
              <a:t>Enterprise-wide integration. </a:t>
            </a:r>
            <a:r>
              <a:rPr lang="en-IN" dirty="0"/>
              <a:t>Business processes are integrated end to end across departments and business units. For example, a new order automatically initiates a credit check, queries product availability, and updates the distribution schedule. Once the order is shipped, the invoice is sent.</a:t>
            </a:r>
          </a:p>
          <a:p>
            <a:pPr lvl="0"/>
            <a:r>
              <a:rPr lang="en-IN" b="1" dirty="0"/>
              <a:t>Real-time (or near real-time) operations</a:t>
            </a:r>
            <a:r>
              <a:rPr lang="en-IN" dirty="0"/>
              <a:t>. Since the processes in the example above occur within a few seconds of order receipt, problems are identified quickly, giving the seller more time to correct the situation.</a:t>
            </a:r>
          </a:p>
          <a:p>
            <a:pPr lvl="0"/>
            <a:r>
              <a:rPr lang="en-IN" b="1" dirty="0"/>
              <a:t>A common database. </a:t>
            </a:r>
            <a:r>
              <a:rPr lang="en-IN" dirty="0"/>
              <a:t>A common database enables data to be defined once for the enterprise with every department using the same definition. Some ERP systems split the physical database to improve performance.</a:t>
            </a:r>
          </a:p>
          <a:p>
            <a:pPr lvl="0"/>
            <a:r>
              <a:rPr lang="en-IN" b="1" dirty="0"/>
              <a:t>Consistent look and feel. </a:t>
            </a:r>
            <a:r>
              <a:rPr lang="en-IN" dirty="0"/>
              <a:t>Early ERP vendors realized that software with a consistent user interface reduces training costs and appears more professional. When other software is acquired by an ERP vendor, common look and feel is sometimes abandoned in </a:t>
            </a:r>
            <a:r>
              <a:rPr lang="en-IN" dirty="0" err="1"/>
              <a:t>favor</a:t>
            </a:r>
            <a:r>
              <a:rPr lang="en-IN" dirty="0"/>
              <a:t> of speed to market. As new releases enter the market, most ERP vendors restore the consistent user interface.</a:t>
            </a:r>
          </a:p>
          <a:p>
            <a:endParaRPr lang="en-IN" dirty="0"/>
          </a:p>
        </p:txBody>
      </p:sp>
    </p:spTree>
    <p:extLst>
      <p:ext uri="{BB962C8B-B14F-4D97-AF65-F5344CB8AC3E}">
        <p14:creationId xmlns:p14="http://schemas.microsoft.com/office/powerpoint/2010/main" val="402403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ERP solutions</a:t>
            </a:r>
            <a:br>
              <a:rPr lang="en-IN" b="1" dirty="0"/>
            </a:br>
            <a:endParaRPr lang="en-IN" dirty="0"/>
          </a:p>
        </p:txBody>
      </p:sp>
      <p:sp>
        <p:nvSpPr>
          <p:cNvPr id="3" name="Content Placeholder 2"/>
          <p:cNvSpPr>
            <a:spLocks noGrp="1"/>
          </p:cNvSpPr>
          <p:nvPr>
            <p:ph sz="quarter" idx="1"/>
          </p:nvPr>
        </p:nvSpPr>
        <p:spPr/>
        <p:txBody>
          <a:bodyPr>
            <a:normAutofit fontScale="70000" lnSpcReduction="20000"/>
          </a:bodyPr>
          <a:lstStyle/>
          <a:p>
            <a:pPr lvl="0"/>
            <a:r>
              <a:rPr lang="en-IN" b="1" dirty="0"/>
              <a:t>Tier I ERPs </a:t>
            </a:r>
            <a:r>
              <a:rPr lang="en-IN" dirty="0"/>
              <a:t>support large, global enterprises and handle all internationalization issues, including currency, language, alphabet, postal code, accounting rules, etc. For decades, Oracle and SAP have been considered Tier I. Microsoft and </a:t>
            </a:r>
            <a:r>
              <a:rPr lang="en-IN" dirty="0" err="1"/>
              <a:t>Infor</a:t>
            </a:r>
            <a:r>
              <a:rPr lang="en-IN" dirty="0"/>
              <a:t> are more recent competitors but are frequently categorized as Tier I as well.</a:t>
            </a:r>
          </a:p>
          <a:p>
            <a:pPr lvl="0"/>
            <a:r>
              <a:rPr lang="en-IN" b="1" dirty="0"/>
              <a:t>Tier I Government ERPs </a:t>
            </a:r>
            <a:r>
              <a:rPr lang="en-IN" dirty="0"/>
              <a:t>support large, mostly federal, government agencies. These vendors support the nuances of government accounting, HR, and procurement. Oracle, SAP and CompuServe’s PRISM are considered Tier I with </a:t>
            </a:r>
            <a:r>
              <a:rPr lang="en-IN" dirty="0" err="1"/>
              <a:t>Infor</a:t>
            </a:r>
            <a:r>
              <a:rPr lang="en-IN" dirty="0"/>
              <a:t> and CGI’s Momentum close behind.</a:t>
            </a:r>
          </a:p>
          <a:p>
            <a:pPr lvl="0"/>
            <a:r>
              <a:rPr lang="en-IN" b="1" dirty="0"/>
              <a:t>Tier II ERPs </a:t>
            </a:r>
            <a:r>
              <a:rPr lang="en-IN" dirty="0"/>
              <a:t>support large enterprises that may operate in multiple countries but lack global reach. </a:t>
            </a:r>
            <a:r>
              <a:rPr lang="en-IN" u="sng" dirty="0">
                <a:hlinkClick r:id="rId2"/>
              </a:rPr>
              <a:t>Tier II customers</a:t>
            </a:r>
            <a:r>
              <a:rPr lang="en-IN" dirty="0"/>
              <a:t> can be standalone entities or business units of large global enterprises. Most of these ERPs have some internationalization but lack Tier I breadth. Depending on how vendors are categorized there are 25 to 45 vendors in this tier.</a:t>
            </a:r>
          </a:p>
          <a:p>
            <a:pPr lvl="0"/>
            <a:r>
              <a:rPr lang="en-IN" b="1" dirty="0"/>
              <a:t>Tier II Government ERPs </a:t>
            </a:r>
            <a:r>
              <a:rPr lang="en-IN" dirty="0"/>
              <a:t>focus mostly on state and local governments with some federal installations. Tyler Technologies and UNIT4 fall in this category.</a:t>
            </a:r>
          </a:p>
          <a:p>
            <a:pPr lvl="0"/>
            <a:r>
              <a:rPr lang="en-IN" b="1" dirty="0"/>
              <a:t>Tier III ERPs </a:t>
            </a:r>
            <a:r>
              <a:rPr lang="en-IN" dirty="0"/>
              <a:t>support mid-tier enterprises. Most handle a handful of languages and currencies but only a single alphabet. Depending on how ERPs are categorized, there are 75 to 100 Tier III ERP solutions.</a:t>
            </a:r>
          </a:p>
          <a:p>
            <a:r>
              <a:rPr lang="en-IN" b="1" dirty="0"/>
              <a:t>Tier IV ERPs </a:t>
            </a:r>
            <a:r>
              <a:rPr lang="en-IN" dirty="0"/>
              <a:t>are designed for small enterprises and often focus on accounting</a:t>
            </a:r>
          </a:p>
        </p:txBody>
      </p:sp>
    </p:spTree>
    <p:extLst>
      <p:ext uri="{BB962C8B-B14F-4D97-AF65-F5344CB8AC3E}">
        <p14:creationId xmlns:p14="http://schemas.microsoft.com/office/powerpoint/2010/main" val="1890035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ERP solutions</a:t>
            </a:r>
            <a:endParaRPr lang="en-IN" dirty="0"/>
          </a:p>
        </p:txBody>
      </p:sp>
      <p:sp>
        <p:nvSpPr>
          <p:cNvPr id="3" name="Content Placeholder 2"/>
          <p:cNvSpPr>
            <a:spLocks noGrp="1"/>
          </p:cNvSpPr>
          <p:nvPr>
            <p:ph sz="quarter" idx="1"/>
          </p:nvPr>
        </p:nvSpPr>
        <p:spPr/>
        <p:txBody>
          <a:bodyPr/>
          <a:lstStyle/>
          <a:p>
            <a:pPr lvl="0"/>
            <a:r>
              <a:rPr lang="en-IN" b="1" dirty="0"/>
              <a:t>ERP as a service</a:t>
            </a:r>
            <a:r>
              <a:rPr lang="en-IN" dirty="0"/>
              <a:t>. With these ERPs, all customers operate on the same code base and have no access to the source code. Users can configure but not customize the code.</a:t>
            </a:r>
          </a:p>
          <a:p>
            <a:pPr lvl="0"/>
            <a:r>
              <a:rPr lang="en-IN" b="1" dirty="0"/>
              <a:t>ERP in an </a:t>
            </a:r>
            <a:r>
              <a:rPr lang="en-IN" b="1" dirty="0" err="1"/>
              <a:t>IaaS</a:t>
            </a:r>
            <a:r>
              <a:rPr lang="en-IN" b="1" dirty="0"/>
              <a:t> cloud. </a:t>
            </a:r>
            <a:r>
              <a:rPr lang="en-IN" dirty="0"/>
              <a:t>Enterprises that rely on custom code in their ERP cannot use ERP as a service. If they wish to operate in the cloud, the only option is to move to an </a:t>
            </a:r>
            <a:r>
              <a:rPr lang="en-IN" dirty="0" err="1"/>
              <a:t>IaaS</a:t>
            </a:r>
            <a:r>
              <a:rPr lang="en-IN" dirty="0"/>
              <a:t> provider, which shifts their servers to a different location.</a:t>
            </a:r>
          </a:p>
        </p:txBody>
      </p:sp>
    </p:spTree>
    <p:extLst>
      <p:ext uri="{BB962C8B-B14F-4D97-AF65-F5344CB8AC3E}">
        <p14:creationId xmlns:p14="http://schemas.microsoft.com/office/powerpoint/2010/main" val="3135294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
            </a:r>
            <a:br>
              <a:rPr lang="en-IN" b="1" dirty="0" smtClean="0"/>
            </a:br>
            <a:r>
              <a:rPr lang="en-IN" b="1" dirty="0"/>
              <a:t/>
            </a:r>
            <a:br>
              <a:rPr lang="en-IN" b="1" dirty="0"/>
            </a:br>
            <a:r>
              <a:rPr lang="en-IN" b="1" dirty="0"/>
              <a:t/>
            </a:r>
            <a:br>
              <a:rPr lang="en-IN" b="1" dirty="0"/>
            </a:br>
            <a:r>
              <a:rPr lang="en-IN" b="1" dirty="0"/>
              <a:t>ERP implementation: The 5 major steps</a:t>
            </a:r>
            <a:endParaRPr lang="en-IN" dirty="0"/>
          </a:p>
        </p:txBody>
      </p:sp>
      <p:sp>
        <p:nvSpPr>
          <p:cNvPr id="3" name="Content Placeholder 2"/>
          <p:cNvSpPr>
            <a:spLocks noGrp="1"/>
          </p:cNvSpPr>
          <p:nvPr>
            <p:ph sz="quarter" idx="1"/>
          </p:nvPr>
        </p:nvSpPr>
        <p:spPr/>
        <p:txBody>
          <a:bodyPr>
            <a:normAutofit fontScale="85000" lnSpcReduction="20000"/>
          </a:bodyPr>
          <a:lstStyle/>
          <a:p>
            <a:r>
              <a:rPr lang="en-IN" b="1" dirty="0"/>
              <a:t>. Gain approval</a:t>
            </a:r>
          </a:p>
          <a:p>
            <a:r>
              <a:rPr lang="en-IN" dirty="0"/>
              <a:t>The executive sponsor oversees the creation of any documentation required for approval. This document, usually called a </a:t>
            </a:r>
            <a:r>
              <a:rPr lang="en-IN" u="sng" dirty="0"/>
              <a:t>business case</a:t>
            </a:r>
            <a:r>
              <a:rPr lang="en-IN" dirty="0"/>
              <a:t>, typically includes the following:</a:t>
            </a:r>
          </a:p>
          <a:p>
            <a:pPr lvl="0"/>
            <a:r>
              <a:rPr lang="en-IN" dirty="0"/>
              <a:t>Problem definition</a:t>
            </a:r>
          </a:p>
          <a:p>
            <a:pPr lvl="0"/>
            <a:r>
              <a:rPr lang="en-IN" dirty="0"/>
              <a:t>Description of the program’s objectives and scope</a:t>
            </a:r>
          </a:p>
          <a:p>
            <a:pPr lvl="0"/>
            <a:r>
              <a:rPr lang="en-IN" dirty="0"/>
              <a:t>Assumptions</a:t>
            </a:r>
          </a:p>
          <a:p>
            <a:pPr lvl="0"/>
            <a:r>
              <a:rPr lang="en-IN" dirty="0"/>
              <a:t>Implementation costs</a:t>
            </a:r>
          </a:p>
          <a:p>
            <a:pPr lvl="0"/>
            <a:r>
              <a:rPr lang="en-IN" dirty="0"/>
              <a:t>Implementation schedule</a:t>
            </a:r>
          </a:p>
          <a:p>
            <a:pPr lvl="0"/>
            <a:r>
              <a:rPr lang="en-IN" dirty="0"/>
              <a:t>Development and operational risks</a:t>
            </a:r>
          </a:p>
          <a:p>
            <a:pPr lvl="0"/>
            <a:r>
              <a:rPr lang="en-IN" dirty="0"/>
              <a:t>Projected benefits</a:t>
            </a:r>
          </a:p>
          <a:p>
            <a:r>
              <a:rPr lang="en-IN" dirty="0"/>
              <a:t>Once the business case is complete, the executive sponsor presents the business case to the appropriate group of senior executives for formal approval to spend money and direct staff to implement the ERP.</a:t>
            </a:r>
          </a:p>
          <a:p>
            <a:endParaRPr lang="en-IN" dirty="0"/>
          </a:p>
        </p:txBody>
      </p:sp>
    </p:spTree>
    <p:extLst>
      <p:ext uri="{BB962C8B-B14F-4D97-AF65-F5344CB8AC3E}">
        <p14:creationId xmlns:p14="http://schemas.microsoft.com/office/powerpoint/2010/main" val="33572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ERP implementation: The 5 major steps</a:t>
            </a:r>
            <a:endParaRPr lang="en-IN" dirty="0"/>
          </a:p>
        </p:txBody>
      </p:sp>
      <p:sp>
        <p:nvSpPr>
          <p:cNvPr id="3" name="Content Placeholder 2"/>
          <p:cNvSpPr>
            <a:spLocks noGrp="1"/>
          </p:cNvSpPr>
          <p:nvPr>
            <p:ph sz="quarter" idx="1"/>
          </p:nvPr>
        </p:nvSpPr>
        <p:spPr/>
        <p:txBody>
          <a:bodyPr>
            <a:normAutofit fontScale="77500" lnSpcReduction="20000"/>
          </a:bodyPr>
          <a:lstStyle/>
          <a:p>
            <a:r>
              <a:rPr lang="en-IN" b="1" dirty="0"/>
              <a:t>2. Plan the program</a:t>
            </a:r>
          </a:p>
          <a:p>
            <a:r>
              <a:rPr lang="en-IN" dirty="0"/>
              <a:t>The high-level timeline created for the business case is then refined into a work plan, which should include the following steps:</a:t>
            </a:r>
          </a:p>
          <a:p>
            <a:pPr lvl="0"/>
            <a:r>
              <a:rPr lang="en-IN" b="1" dirty="0"/>
              <a:t>Finalize team members.</a:t>
            </a:r>
            <a:r>
              <a:rPr lang="en-IN" dirty="0"/>
              <a:t> Key internal individuals should be identified by name. Other required staff should be identified by role. External partners need to be selected. Typical partners include: ERP implementation specialists, organizational change management specialists and technical specialists.</a:t>
            </a:r>
          </a:p>
          <a:p>
            <a:pPr lvl="0"/>
            <a:r>
              <a:rPr lang="en-IN" b="1" dirty="0"/>
              <a:t>Complete contracts. </a:t>
            </a:r>
            <a:r>
              <a:rPr lang="en-IN" dirty="0"/>
              <a:t>Contracts for new software, technology, and services should be finalized.</a:t>
            </a:r>
          </a:p>
          <a:p>
            <a:r>
              <a:rPr lang="en-IN" b="1" dirty="0"/>
              <a:t>Plan infrastructure upgrades. </a:t>
            </a:r>
            <a:r>
              <a:rPr lang="en-IN" dirty="0"/>
              <a:t>On-premises ERP systems frequently require faster processors, additional storage, and improved communications. Some organizations can minimize infrastructure upgrades by using a cloud ERP. But even cloud ERPs can require infrastructure </a:t>
            </a:r>
            <a:r>
              <a:rPr lang="en-IN" dirty="0" smtClean="0"/>
              <a:t>upgrades</a:t>
            </a:r>
          </a:p>
          <a:p>
            <a:pPr lvl="0"/>
            <a:r>
              <a:rPr lang="en-IN" b="1" dirty="0"/>
              <a:t>Create a work plan and timeline</a:t>
            </a:r>
            <a:r>
              <a:rPr lang="en-IN" dirty="0"/>
              <a:t>. Tasks, dependencies, resources, and timing need to be made as specific as possible.</a:t>
            </a:r>
          </a:p>
          <a:p>
            <a:endParaRPr lang="en-IN" dirty="0"/>
          </a:p>
        </p:txBody>
      </p:sp>
    </p:spTree>
    <p:extLst>
      <p:ext uri="{BB962C8B-B14F-4D97-AF65-F5344CB8AC3E}">
        <p14:creationId xmlns:p14="http://schemas.microsoft.com/office/powerpoint/2010/main" val="2531053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ERP implementation: The 5 major steps</a:t>
            </a:r>
            <a:endParaRPr lang="en-IN" dirty="0"/>
          </a:p>
        </p:txBody>
      </p:sp>
      <p:sp>
        <p:nvSpPr>
          <p:cNvPr id="3" name="Content Placeholder 2"/>
          <p:cNvSpPr>
            <a:spLocks noGrp="1"/>
          </p:cNvSpPr>
          <p:nvPr>
            <p:ph sz="quarter" idx="1"/>
          </p:nvPr>
        </p:nvSpPr>
        <p:spPr/>
        <p:txBody>
          <a:bodyPr>
            <a:normAutofit fontScale="62500" lnSpcReduction="20000"/>
          </a:bodyPr>
          <a:lstStyle/>
          <a:p>
            <a:r>
              <a:rPr lang="en-IN" b="1" dirty="0"/>
              <a:t>3. Configure software</a:t>
            </a:r>
          </a:p>
          <a:p>
            <a:r>
              <a:rPr lang="en-IN" dirty="0"/>
              <a:t>This is the largest, most difficult phase. Major steps include:</a:t>
            </a:r>
          </a:p>
          <a:p>
            <a:pPr lvl="0"/>
            <a:r>
              <a:rPr lang="en-IN" b="1" dirty="0" err="1"/>
              <a:t>Analyze</a:t>
            </a:r>
            <a:r>
              <a:rPr lang="en-IN" b="1" dirty="0"/>
              <a:t> gaps. </a:t>
            </a:r>
            <a:r>
              <a:rPr lang="en-IN" dirty="0"/>
              <a:t>Understanding the gaps in current business processes and supporting applications helps the project team determine how to change business processes to conform to the software.</a:t>
            </a:r>
          </a:p>
          <a:p>
            <a:pPr lvl="0"/>
            <a:r>
              <a:rPr lang="en-IN" b="1" dirty="0"/>
              <a:t>Configure parameters. </a:t>
            </a:r>
            <a:r>
              <a:rPr lang="en-IN" dirty="0"/>
              <a:t>Parameters in the ERP software are set to reflect the new business processes.</a:t>
            </a:r>
          </a:p>
          <a:p>
            <a:pPr lvl="0"/>
            <a:r>
              <a:rPr lang="en-IN" b="1" dirty="0"/>
              <a:t>Complete required programming</a:t>
            </a:r>
            <a:r>
              <a:rPr lang="en-IN" dirty="0"/>
              <a:t>. Ideally, no changes are needed for the ERP software. However, some programming may be required for interfaces to other systems or for data migration.</a:t>
            </a:r>
          </a:p>
          <a:p>
            <a:pPr lvl="0"/>
            <a:r>
              <a:rPr lang="en-IN" b="1" dirty="0"/>
              <a:t>Migrate data. </a:t>
            </a:r>
            <a:r>
              <a:rPr lang="en-IN" dirty="0"/>
              <a:t>The team standardizes data definitions and examines existing files for data completeness, quality, and redundancy. Finally, existing data is cleansed and migrated to the new ERP.</a:t>
            </a:r>
          </a:p>
          <a:p>
            <a:pPr lvl="0"/>
            <a:r>
              <a:rPr lang="en-IN" b="1" dirty="0"/>
              <a:t>Test system. </a:t>
            </a:r>
            <a:r>
              <a:rPr lang="en-IN" dirty="0"/>
              <a:t>The system is tested to ensure it delivers the needed functionality and required responsiveness.</a:t>
            </a:r>
          </a:p>
          <a:p>
            <a:pPr lvl="0"/>
            <a:r>
              <a:rPr lang="en-IN" b="1" dirty="0"/>
              <a:t>Document system. </a:t>
            </a:r>
            <a:r>
              <a:rPr lang="en-IN" dirty="0"/>
              <a:t>Required functional and technical documentation is created. Typically, the vendor has documentation that can be tailored to enterprise standards.</a:t>
            </a:r>
          </a:p>
          <a:p>
            <a:pPr lvl="0"/>
            <a:r>
              <a:rPr lang="en-IN" b="1" dirty="0"/>
              <a:t>Upgrade infrastructure. </a:t>
            </a:r>
            <a:r>
              <a:rPr lang="en-IN" dirty="0"/>
              <a:t>Complete any required upgrades.</a:t>
            </a:r>
          </a:p>
          <a:p>
            <a:endParaRPr lang="en-IN" dirty="0"/>
          </a:p>
        </p:txBody>
      </p:sp>
    </p:spTree>
    <p:extLst>
      <p:ext uri="{BB962C8B-B14F-4D97-AF65-F5344CB8AC3E}">
        <p14:creationId xmlns:p14="http://schemas.microsoft.com/office/powerpoint/2010/main" val="174459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ERP implementation: The 5 major steps</a:t>
            </a:r>
            <a:endParaRPr lang="en-IN" dirty="0"/>
          </a:p>
        </p:txBody>
      </p:sp>
      <p:sp>
        <p:nvSpPr>
          <p:cNvPr id="3" name="Content Placeholder 2"/>
          <p:cNvSpPr>
            <a:spLocks noGrp="1"/>
          </p:cNvSpPr>
          <p:nvPr>
            <p:ph sz="quarter" idx="1"/>
          </p:nvPr>
        </p:nvSpPr>
        <p:spPr/>
        <p:txBody>
          <a:bodyPr>
            <a:normAutofit fontScale="92500" lnSpcReduction="20000"/>
          </a:bodyPr>
          <a:lstStyle/>
          <a:p>
            <a:r>
              <a:rPr lang="en-IN" b="1" dirty="0"/>
              <a:t>4. Deploy the system</a:t>
            </a:r>
          </a:p>
          <a:p>
            <a:r>
              <a:rPr lang="en-IN" dirty="0"/>
              <a:t>Prior to the final cutover when the new system is in production, multiple activities have to be completed. These include:</a:t>
            </a:r>
          </a:p>
          <a:p>
            <a:pPr lvl="0"/>
            <a:r>
              <a:rPr lang="en-IN" b="1" dirty="0"/>
              <a:t>Train staff. </a:t>
            </a:r>
            <a:r>
              <a:rPr lang="en-IN" dirty="0"/>
              <a:t>All staff need to be trained to operate the system and be given access rights.</a:t>
            </a:r>
          </a:p>
          <a:p>
            <a:pPr lvl="0"/>
            <a:r>
              <a:rPr lang="en-IN" b="1" dirty="0"/>
              <a:t>Plan support. </a:t>
            </a:r>
            <a:r>
              <a:rPr lang="en-IN" dirty="0"/>
              <a:t>A support team will be needed to answer questions and resolve problems after the ERP is operational.</a:t>
            </a:r>
          </a:p>
          <a:p>
            <a:pPr lvl="0"/>
            <a:r>
              <a:rPr lang="en-IN" b="1" dirty="0"/>
              <a:t>Test the system. </a:t>
            </a:r>
            <a:r>
              <a:rPr lang="en-IN" dirty="0"/>
              <a:t>The new system must be thoroughly tested to ensure it is secure, responsive, and delivers the functionality described in the business case.</a:t>
            </a:r>
          </a:p>
          <a:p>
            <a:pPr lvl="0"/>
            <a:r>
              <a:rPr lang="en-IN" b="1" dirty="0"/>
              <a:t>Make the “Go live” decision. </a:t>
            </a:r>
            <a:r>
              <a:rPr lang="en-IN" dirty="0"/>
              <a:t>Once the executive sponsor is confident the new ERP is ready, the enterprise needs to switch from the old system to the new system.</a:t>
            </a:r>
          </a:p>
        </p:txBody>
      </p:sp>
    </p:spTree>
    <p:extLst>
      <p:ext uri="{BB962C8B-B14F-4D97-AF65-F5344CB8AC3E}">
        <p14:creationId xmlns:p14="http://schemas.microsoft.com/office/powerpoint/2010/main" val="3192179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ERP implementation: The 5 major steps</a:t>
            </a:r>
            <a:endParaRPr lang="en-IN" dirty="0"/>
          </a:p>
        </p:txBody>
      </p:sp>
      <p:sp>
        <p:nvSpPr>
          <p:cNvPr id="3" name="Content Placeholder 2"/>
          <p:cNvSpPr>
            <a:spLocks noGrp="1"/>
          </p:cNvSpPr>
          <p:nvPr>
            <p:ph sz="quarter" idx="1"/>
          </p:nvPr>
        </p:nvSpPr>
        <p:spPr/>
        <p:txBody>
          <a:bodyPr/>
          <a:lstStyle/>
          <a:p>
            <a:r>
              <a:rPr lang="en-IN" b="1" dirty="0"/>
              <a:t>5. Stabilize the system </a:t>
            </a:r>
          </a:p>
          <a:p>
            <a:r>
              <a:rPr lang="en-IN" dirty="0"/>
              <a:t>Following ERP deployment, most organizations experience a dip in business performance as staff learn new roles, tools, business processes, and metrics. In addition, poorly cleansed data and infrastructure bottlenecks will cause disruption. All impose a workload bubble on the ERP deployment and support team.</a:t>
            </a:r>
          </a:p>
          <a:p>
            <a:endParaRPr lang="en-IN" dirty="0"/>
          </a:p>
        </p:txBody>
      </p:sp>
    </p:spTree>
    <p:extLst>
      <p:ext uri="{BB962C8B-B14F-4D97-AF65-F5344CB8AC3E}">
        <p14:creationId xmlns:p14="http://schemas.microsoft.com/office/powerpoint/2010/main" val="1422648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Hidden costs of ERP</a:t>
            </a:r>
            <a:br>
              <a:rPr lang="en-IN" b="1" dirty="0"/>
            </a:br>
            <a:endParaRPr lang="en-IN" dirty="0"/>
          </a:p>
        </p:txBody>
      </p:sp>
      <p:sp>
        <p:nvSpPr>
          <p:cNvPr id="3" name="Content Placeholder 2"/>
          <p:cNvSpPr>
            <a:spLocks noGrp="1"/>
          </p:cNvSpPr>
          <p:nvPr>
            <p:ph sz="quarter" idx="1"/>
          </p:nvPr>
        </p:nvSpPr>
        <p:spPr/>
        <p:txBody>
          <a:bodyPr>
            <a:normAutofit fontScale="62500" lnSpcReduction="20000"/>
          </a:bodyPr>
          <a:lstStyle/>
          <a:p>
            <a:r>
              <a:rPr lang="en-IN" dirty="0"/>
              <a:t>The four factors that are commonly underestimated during project planning include:</a:t>
            </a:r>
          </a:p>
          <a:p>
            <a:pPr lvl="0"/>
            <a:r>
              <a:rPr lang="en-IN" b="1" dirty="0"/>
              <a:t>Business process change. </a:t>
            </a:r>
            <a:r>
              <a:rPr lang="en-IN" dirty="0"/>
              <a:t>Most people are content to work within the current environment unless they are a systems analyst or worked for a different enterprise with better systems. Once teams see the results of their improvements, most feel empowered and seek additional improvements. Success breeds success often consuming more time than originally budgeted.</a:t>
            </a:r>
          </a:p>
          <a:p>
            <a:pPr lvl="0"/>
            <a:r>
              <a:rPr lang="en-IN" b="1" dirty="0"/>
              <a:t>Organizational change management</a:t>
            </a:r>
            <a:r>
              <a:rPr lang="en-IN" dirty="0"/>
              <a:t>. Although process improvements make enterprises more efficient and effective, change creates uncertainty at all organization levels. A formal organizational change management program reassures staff and helps them accept the changes. With many executives unfamiliar with the nuances of organization change management, the effort is easily underestimated.</a:t>
            </a:r>
          </a:p>
          <a:p>
            <a:pPr lvl="0"/>
            <a:r>
              <a:rPr lang="en-IN" b="1" dirty="0"/>
              <a:t>Data migration</a:t>
            </a:r>
            <a:r>
              <a:rPr lang="en-IN" dirty="0"/>
              <a:t>. Prior to an ERP implementation, enterprises frequently have overlapping databases and weak editing rules. The tighter editing required with an ERP system increases data migration time. The time required is easy to underestimate, particularly if all data sources cannot be identified.</a:t>
            </a:r>
          </a:p>
          <a:p>
            <a:r>
              <a:rPr lang="en-IN" b="1" dirty="0"/>
              <a:t>Custom code. </a:t>
            </a:r>
            <a:r>
              <a:rPr lang="en-IN" dirty="0"/>
              <a:t>Although enterprises have </a:t>
            </a:r>
            <a:r>
              <a:rPr lang="en-IN" u="sng" dirty="0">
                <a:hlinkClick r:id="rId2"/>
              </a:rPr>
              <a:t>customized ERPs</a:t>
            </a:r>
            <a:r>
              <a:rPr lang="en-IN" dirty="0"/>
              <a:t> for years, it remains a bad practice. Customization increases implementation cost significantly as users demand additional features. It voids the warranty; problems reported to the vendor must be reproduced on unmodified software. It makes upgrades difficult; the custom code usually requires changes every time the vendor issues a new release. Finally, most enterprises underestimate the cost; even enterprises that estimate the initial cost rarely include the cost of migrating to new release</a:t>
            </a:r>
          </a:p>
        </p:txBody>
      </p:sp>
    </p:spTree>
    <p:extLst>
      <p:ext uri="{BB962C8B-B14F-4D97-AF65-F5344CB8AC3E}">
        <p14:creationId xmlns:p14="http://schemas.microsoft.com/office/powerpoint/2010/main" val="1347441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Why ERP projects fail</a:t>
            </a:r>
            <a:br>
              <a:rPr lang="en-IN" b="1" dirty="0"/>
            </a:br>
            <a:endParaRPr lang="en-IN" dirty="0"/>
          </a:p>
        </p:txBody>
      </p:sp>
      <p:sp>
        <p:nvSpPr>
          <p:cNvPr id="3" name="Content Placeholder 2"/>
          <p:cNvSpPr>
            <a:spLocks noGrp="1"/>
          </p:cNvSpPr>
          <p:nvPr>
            <p:ph sz="quarter" idx="1"/>
          </p:nvPr>
        </p:nvSpPr>
        <p:spPr/>
        <p:txBody>
          <a:bodyPr>
            <a:normAutofit fontScale="85000" lnSpcReduction="20000"/>
          </a:bodyPr>
          <a:lstStyle/>
          <a:p>
            <a:r>
              <a:rPr lang="en-IN" dirty="0"/>
              <a:t>There are several causes of failure that are closely tied to ERPs. Specifically:</a:t>
            </a:r>
          </a:p>
          <a:p>
            <a:pPr lvl="0"/>
            <a:r>
              <a:rPr lang="en-IN" b="1" dirty="0"/>
              <a:t>Inappropriate package selection. </a:t>
            </a:r>
            <a:r>
              <a:rPr lang="en-IN" dirty="0"/>
              <a:t>ERPs, particularly Tier I ERPs, are very complex with many options. Many enterprises believe a Tier I ERP is by definition “best” for every enterprise. In reality, only very large, global enterprises will ever use more than a small percentage of the functionality available in a Tier I ERP. Enterprises that are not complex enough to justify Tier I, may find implementation delayed by feature overload. Conversely, large, global enterprises may find that Tier II or Tier III ERPs lack sufficient features for complex, global operations.</a:t>
            </a:r>
          </a:p>
          <a:p>
            <a:r>
              <a:rPr lang="en-IN" b="1" dirty="0"/>
              <a:t>Internal resistance. </a:t>
            </a:r>
            <a:r>
              <a:rPr lang="en-IN" dirty="0"/>
              <a:t>While any new program can generate resistance, this is more common with ERPs. Remote business units frequently view the financial or other standardization imposed by an ERP as an effort by headquarters to increase control over the field. Even with an active campaign to explain the benefits of the new system, it is not uncommon to find people in the field slowing implementation as much as possible</a:t>
            </a:r>
          </a:p>
        </p:txBody>
      </p:sp>
    </p:spTree>
    <p:extLst>
      <p:ext uri="{BB962C8B-B14F-4D97-AF65-F5344CB8AC3E}">
        <p14:creationId xmlns:p14="http://schemas.microsoft.com/office/powerpoint/2010/main" val="2001039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is a Cloud-Based CRM?</a:t>
            </a:r>
            <a:r>
              <a:rPr lang="en-IN" b="1" dirty="0"/>
              <a:t/>
            </a:r>
            <a:br>
              <a:rPr lang="en-IN" b="1" dirty="0"/>
            </a:br>
            <a:endParaRPr lang="en-IN" dirty="0"/>
          </a:p>
        </p:txBody>
      </p:sp>
      <p:sp>
        <p:nvSpPr>
          <p:cNvPr id="3" name="Content Placeholder 2"/>
          <p:cNvSpPr>
            <a:spLocks noGrp="1"/>
          </p:cNvSpPr>
          <p:nvPr>
            <p:ph sz="quarter" idx="1"/>
          </p:nvPr>
        </p:nvSpPr>
        <p:spPr/>
        <p:txBody>
          <a:bodyPr>
            <a:normAutofit fontScale="92500" lnSpcReduction="20000"/>
          </a:bodyPr>
          <a:lstStyle/>
          <a:p>
            <a:r>
              <a:rPr lang="en-IN" dirty="0"/>
              <a:t>A </a:t>
            </a:r>
            <a:r>
              <a:rPr lang="en-IN" u="sng" dirty="0">
                <a:hlinkClick r:id="rId2"/>
              </a:rPr>
              <a:t>cloud-based CRM (or cloud CRM)</a:t>
            </a:r>
            <a:r>
              <a:rPr lang="en-IN" dirty="0"/>
              <a:t> is CRM software hosted on the cloud. It can be accessed from any device, enabling users to access the same information at the same time. By offering instant access to real-time insights, it allows you to automate critical processes such as qualifying leads, closing sales deals, and ensuring better customer service for increased customer retention rates</a:t>
            </a:r>
            <a:r>
              <a:rPr lang="en-IN" dirty="0" smtClean="0"/>
              <a:t>.</a:t>
            </a:r>
          </a:p>
          <a:p>
            <a:r>
              <a:rPr lang="en-IN" b="1" dirty="0"/>
              <a:t>A </a:t>
            </a:r>
            <a:r>
              <a:rPr lang="en-IN" dirty="0"/>
              <a:t>cloud-based CRM</a:t>
            </a:r>
            <a:r>
              <a:rPr lang="en-IN" b="1" dirty="0"/>
              <a:t> is a CRM system hosted in the cloud, which allows for </a:t>
            </a:r>
            <a:r>
              <a:rPr lang="en-IN" dirty="0"/>
              <a:t>accessing data from anywhere</a:t>
            </a:r>
            <a:r>
              <a:rPr lang="en-IN" b="1" dirty="0"/>
              <a:t> (any place &amp; any device with internet access). Also, colleagues irrespective of department (or from any business unit) can work with the same data simultaneously. Cloud CRM software enables you to work remotely with high efficiency, which is especially important during the COVID-19 pandemic.</a:t>
            </a:r>
          </a:p>
          <a:p>
            <a:endParaRPr lang="en-IN" dirty="0"/>
          </a:p>
          <a:p>
            <a:endParaRPr lang="en-IN" dirty="0"/>
          </a:p>
        </p:txBody>
      </p:sp>
    </p:spTree>
    <p:extLst>
      <p:ext uri="{BB962C8B-B14F-4D97-AF65-F5344CB8AC3E}">
        <p14:creationId xmlns:p14="http://schemas.microsoft.com/office/powerpoint/2010/main" val="96943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How is it Different From Other CRMs?</a:t>
            </a:r>
            <a:r>
              <a:rPr lang="en-IN" b="1" dirty="0"/>
              <a:t/>
            </a:r>
            <a:br>
              <a:rPr lang="en-IN" b="1" dirty="0"/>
            </a:br>
            <a:endParaRPr lang="en-IN" dirty="0"/>
          </a:p>
        </p:txBody>
      </p:sp>
      <p:sp>
        <p:nvSpPr>
          <p:cNvPr id="3" name="Content Placeholder 2"/>
          <p:cNvSpPr>
            <a:spLocks noGrp="1"/>
          </p:cNvSpPr>
          <p:nvPr>
            <p:ph sz="quarter" idx="1"/>
          </p:nvPr>
        </p:nvSpPr>
        <p:spPr>
          <a:xfrm>
            <a:off x="755576" y="1052736"/>
            <a:ext cx="7772400" cy="5221560"/>
          </a:xfrm>
        </p:spPr>
        <p:txBody>
          <a:bodyPr>
            <a:noAutofit/>
          </a:bodyPr>
          <a:lstStyle/>
          <a:p>
            <a:r>
              <a:rPr lang="en-IN" sz="1500" dirty="0" smtClean="0"/>
              <a:t>A </a:t>
            </a:r>
            <a:r>
              <a:rPr lang="en-IN" sz="1500" dirty="0"/>
              <a:t>cloud-based CRM is different from traditional, on-premises CRMs in many ways. These differences includes:</a:t>
            </a:r>
          </a:p>
          <a:p>
            <a:pPr lvl="0"/>
            <a:r>
              <a:rPr lang="en-IN" sz="1500" dirty="0"/>
              <a:t>Traditional on-premises CRM systems are complex in architecture and usually take a lot of time to install and implement. A cloud-based CRM on the other hand can be set up in an instant, enabling organizations to make the most of the features almost immediately.</a:t>
            </a:r>
          </a:p>
          <a:p>
            <a:pPr lvl="0"/>
            <a:r>
              <a:rPr lang="en-IN" sz="1500" dirty="0"/>
              <a:t>Cloud-based CRMs host all solutions in the cloud versus on-premises CRMs, which are typically hosted at your location and managed by your IT department.</a:t>
            </a:r>
          </a:p>
          <a:p>
            <a:pPr lvl="0"/>
            <a:r>
              <a:rPr lang="en-IN" sz="1500" dirty="0"/>
              <a:t>Updates, maintenance, and storage of a CRM application is done by the cloud-based CRM provider, whereas with an on-premises CRM that is managed by an in-house IT department who is responsible for updates, customizations, system administration, and maintenance.</a:t>
            </a:r>
          </a:p>
          <a:p>
            <a:pPr lvl="0"/>
            <a:r>
              <a:rPr lang="en-IN" sz="1500" dirty="0"/>
              <a:t>Unlike a traditional CRM, a cloud-based CRM is easy to use and offers instant access to critical information across the sales cycle.</a:t>
            </a:r>
          </a:p>
          <a:p>
            <a:pPr lvl="0"/>
            <a:r>
              <a:rPr lang="en-IN" sz="1500" dirty="0"/>
              <a:t>A cloud-based CRM is typically extremely affordable with minimal upfront costs when compared to a traditional CRM where the initial capital investment can be higher.</a:t>
            </a:r>
          </a:p>
          <a:p>
            <a:pPr lvl="0"/>
            <a:r>
              <a:rPr lang="en-IN" sz="1500" dirty="0"/>
              <a:t>With traditional CRM systems, access is possible only during work hours, from a system within the office premises. However, cloud-based CRMs offer anytime, anywhere access to important information that helps organizations improve process efficiency.</a:t>
            </a:r>
          </a:p>
          <a:p>
            <a:pPr lvl="0"/>
            <a:r>
              <a:rPr lang="en-IN" sz="1500" dirty="0"/>
              <a:t>Most traditional CRM systems are stand-alone systems with very poor integration capabilities. On the other hand, cloud-based CRM systems offer robust integration with multiple third-party products, allowing organizations to seamlessly carry out multiple tasks across multiple departments with ease.</a:t>
            </a:r>
          </a:p>
          <a:p>
            <a:endParaRPr lang="en-IN" sz="1500" dirty="0"/>
          </a:p>
        </p:txBody>
      </p:sp>
    </p:spTree>
    <p:extLst>
      <p:ext uri="{BB962C8B-B14F-4D97-AF65-F5344CB8AC3E}">
        <p14:creationId xmlns:p14="http://schemas.microsoft.com/office/powerpoint/2010/main" val="2403415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b="1" dirty="0"/>
              <a:t/>
            </a:r>
            <a:br>
              <a:rPr lang="en-IN" b="1" dirty="0"/>
            </a:br>
            <a:r>
              <a:rPr lang="en-IN" dirty="0"/>
              <a:t>The Top Benefits of a Cloud-Based CRM</a:t>
            </a:r>
          </a:p>
        </p:txBody>
      </p:sp>
      <p:sp>
        <p:nvSpPr>
          <p:cNvPr id="3" name="Content Placeholder 2"/>
          <p:cNvSpPr>
            <a:spLocks noGrp="1"/>
          </p:cNvSpPr>
          <p:nvPr>
            <p:ph sz="quarter" idx="1"/>
          </p:nvPr>
        </p:nvSpPr>
        <p:spPr/>
        <p:txBody>
          <a:bodyPr>
            <a:normAutofit lnSpcReduction="10000"/>
          </a:bodyPr>
          <a:lstStyle/>
          <a:p>
            <a:r>
              <a:rPr lang="en-IN" dirty="0"/>
              <a:t>1. Easy Installation</a:t>
            </a:r>
            <a:endParaRPr lang="en-IN" b="1" dirty="0"/>
          </a:p>
          <a:p>
            <a:r>
              <a:rPr lang="en-IN" dirty="0"/>
              <a:t>A deep-rooted fear within most organizations is that a CRM installation is a long and complex process, but that’s no longer true when it comes to a cloud-based CRM. A </a:t>
            </a:r>
            <a:r>
              <a:rPr lang="en-IN" u="sng" dirty="0">
                <a:hlinkClick r:id="rId2"/>
              </a:rPr>
              <a:t>modern cloud-based CRM</a:t>
            </a:r>
            <a:r>
              <a:rPr lang="en-IN" dirty="0"/>
              <a:t> can be up and running in no time. All you actually need is an internet connection. Once you sign in online, you can immediately start using the software and make the most of its capabilities. You don’t have to set up hardware, pay for server and software maintenance, have an IT person onsite 24×7, or worry about complex installations, data migrations, or even upgrades – all of this is taken care of by your cloud-CRM service provider.</a:t>
            </a:r>
          </a:p>
          <a:p>
            <a:endParaRPr lang="en-IN" dirty="0"/>
          </a:p>
        </p:txBody>
      </p:sp>
    </p:spTree>
    <p:extLst>
      <p:ext uri="{BB962C8B-B14F-4D97-AF65-F5344CB8AC3E}">
        <p14:creationId xmlns:p14="http://schemas.microsoft.com/office/powerpoint/2010/main" val="1762620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Top Benefits of a Cloud-Based CRM</a:t>
            </a:r>
          </a:p>
        </p:txBody>
      </p:sp>
      <p:sp>
        <p:nvSpPr>
          <p:cNvPr id="3" name="Content Placeholder 2"/>
          <p:cNvSpPr>
            <a:spLocks noGrp="1"/>
          </p:cNvSpPr>
          <p:nvPr>
            <p:ph sz="quarter" idx="1"/>
          </p:nvPr>
        </p:nvSpPr>
        <p:spPr/>
        <p:txBody>
          <a:bodyPr>
            <a:normAutofit fontScale="70000" lnSpcReduction="20000"/>
          </a:bodyPr>
          <a:lstStyle/>
          <a:p>
            <a:r>
              <a:rPr lang="en-IN" dirty="0"/>
              <a:t>2. Anywhere &amp; Anytime Access</a:t>
            </a:r>
            <a:endParaRPr lang="en-IN" b="1" dirty="0"/>
          </a:p>
          <a:p>
            <a:r>
              <a:rPr lang="en-IN" dirty="0"/>
              <a:t>Unlike traditional on-premises CRM systems that are accessed only from the office during work-hours, around-the-clock accessibility is undeniably the greatest benefit of a cloud-based CRM. By offering access to the system from anywhere – in the office or on the way home and on any device – a desktop, a laptop, a smartphone, or tablet, a cloud-based CRM enables various teams to get the information they need, ultimately improving business process efficiency. From making urgent sales calls on-the-go, to amending a sales proposal, quickly finding a prospect’s phone number, or sending an email to the manager when out of office, a cloud-based CRM offers seamless around-the-clock access to the centralized database.</a:t>
            </a:r>
          </a:p>
          <a:p>
            <a:r>
              <a:rPr lang="en-IN" dirty="0"/>
              <a:t>3. Cost-Effective</a:t>
            </a:r>
            <a:endParaRPr lang="en-IN" b="1" dirty="0"/>
          </a:p>
          <a:p>
            <a:r>
              <a:rPr lang="en-IN" dirty="0"/>
              <a:t>The most substantial investment with traditional CRM systems was upfront capital expenditures but not anymore. Like other </a:t>
            </a:r>
            <a:r>
              <a:rPr lang="en-IN" u="sng" dirty="0">
                <a:hlinkClick r:id="rId2"/>
              </a:rPr>
              <a:t>cloud solutions</a:t>
            </a:r>
            <a:r>
              <a:rPr lang="en-IN" dirty="0"/>
              <a:t>, cloud-based CRMs operate on a pay-as-you-go subscription model. With minimal upfront investment, cloud-based CRMs reduce the chances of risk and enables smaller organizations to achieve economies of scale sooner. Since small businesses are not likely to allocate big sums of money for an enterprise system, these smaller, regular </a:t>
            </a:r>
            <a:r>
              <a:rPr lang="en-IN" dirty="0" err="1"/>
              <a:t>installments</a:t>
            </a:r>
            <a:r>
              <a:rPr lang="en-IN" dirty="0"/>
              <a:t> help them in leveraging the many capabilities that are available while improving their bottom line</a:t>
            </a:r>
            <a:r>
              <a:rPr lang="en-IN" dirty="0" smtClean="0"/>
              <a:t>.</a:t>
            </a:r>
            <a:endParaRPr lang="en-IN" dirty="0"/>
          </a:p>
        </p:txBody>
      </p:sp>
    </p:spTree>
    <p:extLst>
      <p:ext uri="{BB962C8B-B14F-4D97-AF65-F5344CB8AC3E}">
        <p14:creationId xmlns:p14="http://schemas.microsoft.com/office/powerpoint/2010/main" val="2823821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Top Benefits of a Cloud-Based CRM</a:t>
            </a:r>
          </a:p>
        </p:txBody>
      </p:sp>
      <p:sp>
        <p:nvSpPr>
          <p:cNvPr id="3" name="Content Placeholder 2"/>
          <p:cNvSpPr>
            <a:spLocks noGrp="1"/>
          </p:cNvSpPr>
          <p:nvPr>
            <p:ph sz="quarter" idx="1"/>
          </p:nvPr>
        </p:nvSpPr>
        <p:spPr/>
        <p:txBody>
          <a:bodyPr/>
          <a:lstStyle/>
          <a:p>
            <a:r>
              <a:rPr lang="en-IN" dirty="0"/>
              <a:t>4. Secure</a:t>
            </a:r>
            <a:endParaRPr lang="en-IN" b="1" dirty="0"/>
          </a:p>
          <a:p>
            <a:r>
              <a:rPr lang="en-IN" dirty="0"/>
              <a:t>Contrary to the belief that cloud solutions are not very secure, companies that offer a cloud-based CRM take security very seriously. With advanced automatized backup policies and robust data recovery plans, cloud-based CRMs take </a:t>
            </a:r>
            <a:r>
              <a:rPr lang="en-IN" u="sng" dirty="0" err="1">
                <a:hlinkClick r:id="rId2"/>
              </a:rPr>
              <a:t>cybersecurity</a:t>
            </a:r>
            <a:r>
              <a:rPr lang="en-IN" dirty="0"/>
              <a:t> to an entirely new level. What’s more, you can further improve data safety and security by using two-step authentication and strong passwords, an important requirement for being GDPR-compliant.</a:t>
            </a:r>
          </a:p>
          <a:p>
            <a:endParaRPr lang="en-IN" dirty="0"/>
          </a:p>
          <a:p>
            <a:endParaRPr lang="en-IN" dirty="0"/>
          </a:p>
        </p:txBody>
      </p:sp>
    </p:spTree>
    <p:extLst>
      <p:ext uri="{BB962C8B-B14F-4D97-AF65-F5344CB8AC3E}">
        <p14:creationId xmlns:p14="http://schemas.microsoft.com/office/powerpoint/2010/main" val="3608830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The Top Benefits of a Cloud-Based CRM</a:t>
            </a:r>
          </a:p>
        </p:txBody>
      </p:sp>
      <p:sp>
        <p:nvSpPr>
          <p:cNvPr id="3" name="Content Placeholder 2"/>
          <p:cNvSpPr>
            <a:spLocks noGrp="1"/>
          </p:cNvSpPr>
          <p:nvPr>
            <p:ph sz="quarter" idx="1"/>
          </p:nvPr>
        </p:nvSpPr>
        <p:spPr/>
        <p:txBody>
          <a:bodyPr>
            <a:normAutofit fontScale="77500" lnSpcReduction="20000"/>
          </a:bodyPr>
          <a:lstStyle/>
          <a:p>
            <a:r>
              <a:rPr lang="en-IN" dirty="0"/>
              <a:t>5. Flexible</a:t>
            </a:r>
            <a:endParaRPr lang="en-IN" b="1" dirty="0"/>
          </a:p>
          <a:p>
            <a:r>
              <a:rPr lang="en-IN" dirty="0"/>
              <a:t>With different organizations having different CRM needs, a cloud-based CRM offers a solution that can be precisely tailored for your needs. While small businesses can start with minimal features that can help them with their current work, they can add more capacity, new features and advanced modules as they grow. Cloud-based CRMs can be instantly updated to satisfy new needs. In addition, by offering 24×7 access to the system, a cloud-based CRM offers employees the flexibility and freedom to do what they need to do when they need to do it.</a:t>
            </a:r>
          </a:p>
          <a:p>
            <a:r>
              <a:rPr lang="en-IN" dirty="0"/>
              <a:t>6. Simple Integration</a:t>
            </a:r>
            <a:endParaRPr lang="en-IN" b="1" dirty="0"/>
          </a:p>
          <a:p>
            <a:r>
              <a:rPr lang="en-IN" dirty="0"/>
              <a:t>Traditional, stand-alone products often can’t deliver flexibility and integration that is being demanded by most teams. This is especially true in a small business environment, where information exchange between available technologies is paramount. A cloud-based CRM can be easily integrated with other applications and software, such as e-mail clients and productivity tools, enabling you to seamlessly carry out tasks and achieve end-to-end visibility across the entire sales process.</a:t>
            </a:r>
          </a:p>
          <a:p>
            <a:endParaRPr lang="en-IN" dirty="0"/>
          </a:p>
        </p:txBody>
      </p:sp>
    </p:spTree>
    <p:extLst>
      <p:ext uri="{BB962C8B-B14F-4D97-AF65-F5344CB8AC3E}">
        <p14:creationId xmlns:p14="http://schemas.microsoft.com/office/powerpoint/2010/main" val="3703697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cap="all" dirty="0" smtClean="0"/>
              <a:t/>
            </a:r>
            <a:br>
              <a:rPr lang="en-IN" b="1" cap="all" dirty="0" smtClean="0"/>
            </a:br>
            <a:r>
              <a:rPr lang="en-IN" b="1" cap="all" dirty="0" smtClean="0"/>
              <a:t/>
            </a:r>
            <a:br>
              <a:rPr lang="en-IN" b="1" cap="all" dirty="0" smtClean="0"/>
            </a:br>
            <a:r>
              <a:rPr lang="en-IN" b="1" cap="all" dirty="0"/>
              <a:t/>
            </a:r>
            <a:br>
              <a:rPr lang="en-IN" b="1" cap="all" dirty="0"/>
            </a:br>
            <a:r>
              <a:rPr lang="en-IN" b="1" cap="all" dirty="0" smtClean="0"/>
              <a:t/>
            </a:r>
            <a:br>
              <a:rPr lang="en-IN" b="1" cap="all" dirty="0" smtClean="0"/>
            </a:br>
            <a:r>
              <a:rPr lang="en-IN" sz="3600" b="1" dirty="0"/>
              <a:t/>
            </a:r>
            <a:br>
              <a:rPr lang="en-IN" sz="3600" b="1" dirty="0"/>
            </a:br>
            <a:r>
              <a:rPr lang="en-IN" b="1" cap="all" dirty="0"/>
              <a:t>BENEFITS OF USING CLOUD CRM SOFTWARE</a:t>
            </a:r>
            <a:endParaRPr lang="en-IN" dirty="0"/>
          </a:p>
        </p:txBody>
      </p:sp>
      <p:sp>
        <p:nvSpPr>
          <p:cNvPr id="3" name="Content Placeholder 2"/>
          <p:cNvSpPr>
            <a:spLocks noGrp="1"/>
          </p:cNvSpPr>
          <p:nvPr>
            <p:ph sz="quarter" idx="1"/>
          </p:nvPr>
        </p:nvSpPr>
        <p:spPr/>
        <p:txBody>
          <a:bodyPr>
            <a:normAutofit fontScale="62500" lnSpcReduction="20000"/>
          </a:bodyPr>
          <a:lstStyle/>
          <a:p>
            <a:r>
              <a:rPr lang="en-IN" b="1" cap="all" dirty="0"/>
              <a:t>NO NEED TO DEPLOY SERVERS</a:t>
            </a:r>
            <a:endParaRPr lang="en-IN" b="1" dirty="0"/>
          </a:p>
          <a:p>
            <a:r>
              <a:rPr lang="en-IN" dirty="0"/>
              <a:t>Unlike on-site applications that are hosted on the in-house servers of the company, the actual database of cloud CRM solution is hosted remotely which means you don’t have to buy costly hardware or hire extra staff – all you need is a steady internet connection and a web-browser.</a:t>
            </a:r>
          </a:p>
          <a:p>
            <a:r>
              <a:rPr lang="en-IN" b="1" cap="all" dirty="0"/>
              <a:t>REDUCTION OF OPERATIONAL COSTS</a:t>
            </a:r>
            <a:endParaRPr lang="en-IN" b="1" dirty="0"/>
          </a:p>
          <a:p>
            <a:r>
              <a:rPr lang="en-IN" dirty="0"/>
              <a:t>Cloud CRM systems require significantly less involvement of IT staff enabling business owners to spend less money on IT infrastructure maintenance. The responsibility for the health of a CRM in cloud lies on the software vendor, whose obligation is to provide all the necessary updates in time, fix the bugs in case they appear, in a word, </a:t>
            </a:r>
          </a:p>
          <a:p>
            <a:r>
              <a:rPr lang="en-IN" b="1" cap="all" dirty="0"/>
              <a:t>MOBILE ACCESS</a:t>
            </a:r>
            <a:endParaRPr lang="en-IN" b="1" dirty="0"/>
          </a:p>
          <a:p>
            <a:r>
              <a:rPr lang="en-IN" dirty="0"/>
              <a:t>The flexibility of CRM in cloud makes the software available whenever you need it. Moreover, you can also have access to cloud CRM software from any device: advanced cloud-based CRM systems have mobile apps for Android, </a:t>
            </a:r>
            <a:r>
              <a:rPr lang="en-IN" dirty="0" err="1"/>
              <a:t>iOS</a:t>
            </a:r>
            <a:r>
              <a:rPr lang="en-IN" dirty="0"/>
              <a:t> and Windows Phone. They fully synchronize with desktop version of the system to drive productivity without being tied up to your laptop or PC.</a:t>
            </a:r>
          </a:p>
          <a:p>
            <a:r>
              <a:rPr lang="en-IN" b="1" cap="all" dirty="0"/>
              <a:t>ONLINE CONTROL</a:t>
            </a:r>
            <a:endParaRPr lang="en-IN" b="1" dirty="0"/>
          </a:p>
          <a:p>
            <a:r>
              <a:rPr lang="en-IN" dirty="0"/>
              <a:t>If a CRM is deployed on cloud, there is an ability to monitor the system operation online and immediately react in case any problems appear</a:t>
            </a:r>
          </a:p>
        </p:txBody>
      </p:sp>
    </p:spTree>
    <p:extLst>
      <p:ext uri="{BB962C8B-B14F-4D97-AF65-F5344CB8AC3E}">
        <p14:creationId xmlns:p14="http://schemas.microsoft.com/office/powerpoint/2010/main" val="947458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cap="all" dirty="0"/>
              <a:t>BENEFITS OF USING CLOUD CRM SOFTWARE</a:t>
            </a:r>
            <a:endParaRPr lang="en-IN" dirty="0"/>
          </a:p>
        </p:txBody>
      </p:sp>
      <p:sp>
        <p:nvSpPr>
          <p:cNvPr id="3" name="Content Placeholder 2"/>
          <p:cNvSpPr>
            <a:spLocks noGrp="1"/>
          </p:cNvSpPr>
          <p:nvPr>
            <p:ph sz="quarter" idx="1"/>
          </p:nvPr>
        </p:nvSpPr>
        <p:spPr/>
        <p:txBody>
          <a:bodyPr>
            <a:normAutofit fontScale="85000" lnSpcReduction="20000"/>
          </a:bodyPr>
          <a:lstStyle/>
          <a:p>
            <a:r>
              <a:rPr lang="en-IN" b="1" cap="all" dirty="0"/>
              <a:t>HIGH LEVEL OF SECURITY</a:t>
            </a:r>
            <a:endParaRPr lang="en-IN" b="1" dirty="0"/>
          </a:p>
          <a:p>
            <a:r>
              <a:rPr lang="en-IN" dirty="0"/>
              <a:t>The best cloud CRM applications provide you the ability to safely store valuable information on the remote </a:t>
            </a:r>
            <a:r>
              <a:rPr lang="en-IN" dirty="0" err="1"/>
              <a:t>datacenter</a:t>
            </a:r>
            <a:r>
              <a:rPr lang="en-IN" dirty="0"/>
              <a:t>. The chance of unauthorized access is eliminated thanks to the superior level of security. Host servers of CRM in cloud apply additional security measures and cutting-edge technology to monitor the safety of your data. Moreover, all the data stored in cloud is backed up regularly, thus decreasing the accidental loss of data due to some technical issues. The CRM vendor takes the majority of the risks for data security and safety.</a:t>
            </a:r>
          </a:p>
          <a:p>
            <a:r>
              <a:rPr lang="en-IN" b="1" cap="all" dirty="0"/>
              <a:t>SCALABILITY</a:t>
            </a:r>
            <a:endParaRPr lang="en-IN" b="1" dirty="0"/>
          </a:p>
          <a:p>
            <a:r>
              <a:rPr lang="en-IN" dirty="0"/>
              <a:t>Cloud CRM solutions provide the ability to virtually instantly scale up or down depending on the specific needs of the company, which allows buyer to pay only for the resources used at a particular time .</a:t>
            </a:r>
          </a:p>
          <a:p>
            <a:r>
              <a:rPr lang="en-IN" dirty="0"/>
              <a:t> </a:t>
            </a:r>
          </a:p>
          <a:p>
            <a:r>
              <a:rPr lang="en-IN" dirty="0"/>
              <a:t> </a:t>
            </a:r>
          </a:p>
          <a:p>
            <a:endParaRPr lang="en-IN" dirty="0"/>
          </a:p>
        </p:txBody>
      </p:sp>
    </p:spTree>
    <p:extLst>
      <p:ext uri="{BB962C8B-B14F-4D97-AF65-F5344CB8AC3E}">
        <p14:creationId xmlns:p14="http://schemas.microsoft.com/office/powerpoint/2010/main" val="3958000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61420"/>
          </a:xfrm>
        </p:spPr>
        <p:txBody>
          <a:bodyPr>
            <a:noAutofit/>
          </a:bodyPr>
          <a:lstStyle/>
          <a:p>
            <a:r>
              <a:rPr lang="en-US" sz="2400" b="1" dirty="0"/>
              <a:t>Differences in CRM and ERP</a:t>
            </a:r>
            <a:br>
              <a:rPr lang="en-US" sz="2400" b="1" dirty="0"/>
            </a:br>
            <a:endParaRPr lang="en-IN" sz="2400" dirty="0"/>
          </a:p>
        </p:txBody>
      </p:sp>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95536" y="687818"/>
            <a:ext cx="8640959" cy="5974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5703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764704"/>
            <a:ext cx="7772400" cy="562074"/>
          </a:xfrm>
        </p:spPr>
        <p:txBody>
          <a:bodyPr anchor="ctr" anchorCtr="0">
            <a:normAutofit fontScale="90000"/>
          </a:bodyPr>
          <a:lstStyle/>
          <a:p>
            <a:r>
              <a:rPr lang="en-US" dirty="0"/>
              <a:t>Similarities</a:t>
            </a:r>
            <a:br>
              <a:rPr lang="en-US" dirty="0"/>
            </a:br>
            <a:endParaRPr lang="en-IN" dirty="0"/>
          </a:p>
        </p:txBody>
      </p:sp>
      <p:sp>
        <p:nvSpPr>
          <p:cNvPr id="3" name="Content Placeholder 2"/>
          <p:cNvSpPr>
            <a:spLocks noGrp="1"/>
          </p:cNvSpPr>
          <p:nvPr>
            <p:ph sz="quarter" idx="1"/>
          </p:nvPr>
        </p:nvSpPr>
        <p:spPr/>
        <p:txBody>
          <a:bodyPr>
            <a:normAutofit lnSpcReduction="10000"/>
          </a:bodyPr>
          <a:lstStyle/>
          <a:p>
            <a:r>
              <a:rPr lang="en-US" dirty="0" smtClean="0"/>
              <a:t>Along </a:t>
            </a:r>
            <a:r>
              <a:rPr lang="en-US" dirty="0"/>
              <a:t>with the differences, there are plenty of similarities as well.</a:t>
            </a:r>
          </a:p>
          <a:p>
            <a:r>
              <a:rPr lang="en-US" dirty="0"/>
              <a:t>The ultimate aim of both CRM and ERP is to facilitate better coordination between various business functions.</a:t>
            </a:r>
          </a:p>
          <a:p>
            <a:r>
              <a:rPr lang="en-US" dirty="0"/>
              <a:t>Both act as repositories of data and perform data processing functions to generate reports.</a:t>
            </a:r>
          </a:p>
          <a:p>
            <a:r>
              <a:rPr lang="en-US" dirty="0"/>
              <a:t>Both systems help enhance employees' productivity and boost businesses' overall revenues.</a:t>
            </a:r>
          </a:p>
          <a:p>
            <a:r>
              <a:rPr lang="en-US" dirty="0"/>
              <a:t>Since both CRM and ERP focus on the automation of processes, they help in reducing errors and boosting the accuracy of business processes.</a:t>
            </a:r>
          </a:p>
          <a:p>
            <a:endParaRPr lang="en-IN" dirty="0"/>
          </a:p>
        </p:txBody>
      </p:sp>
    </p:spTree>
    <p:extLst>
      <p:ext uri="{BB962C8B-B14F-4D97-AF65-F5344CB8AC3E}">
        <p14:creationId xmlns:p14="http://schemas.microsoft.com/office/powerpoint/2010/main" val="3289456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135</TotalTime>
  <Words>1458</Words>
  <Application>Microsoft Office PowerPoint</Application>
  <PresentationFormat>On-screen Show (4:3)</PresentationFormat>
  <Paragraphs>121</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Equity</vt:lpstr>
      <vt:lpstr>Unit1:ERP &amp;CRM</vt:lpstr>
      <vt:lpstr>ERP definition </vt:lpstr>
      <vt:lpstr>4 key features of ERP systems </vt:lpstr>
      <vt:lpstr>Types of ERP solutions </vt:lpstr>
      <vt:lpstr>Types of ERP solutions</vt:lpstr>
      <vt:lpstr>   ERP implementation: The 5 major steps</vt:lpstr>
      <vt:lpstr>ERP implementation: The 5 major steps</vt:lpstr>
      <vt:lpstr>ERP implementation: The 5 major steps</vt:lpstr>
      <vt:lpstr>ERP implementation: The 5 major steps</vt:lpstr>
      <vt:lpstr>ERP implementation: The 5 major steps</vt:lpstr>
      <vt:lpstr>Hidden costs of ERP </vt:lpstr>
      <vt:lpstr>Why ERP projects fail </vt:lpstr>
      <vt:lpstr>What is a Cloud-Based CRM? </vt:lpstr>
      <vt:lpstr>How is it Different From Other CRMs? </vt:lpstr>
      <vt:lpstr>  The Top Benefits of a Cloud-Based CRM</vt:lpstr>
      <vt:lpstr>The Top Benefits of a Cloud-Based CRM</vt:lpstr>
      <vt:lpstr>The Top Benefits of a Cloud-Based CRM</vt:lpstr>
      <vt:lpstr>The Top Benefits of a Cloud-Based CRM</vt:lpstr>
      <vt:lpstr>     BENEFITS OF USING CLOUD CRM SOFTWARE</vt:lpstr>
      <vt:lpstr>BENEFITS OF USING CLOUD CRM SOFTWARE</vt:lpstr>
      <vt:lpstr>Differences in CRM and ERP </vt:lpstr>
      <vt:lpstr>Similarities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ERP &amp;CRM</dc:title>
  <dc:creator>Varad_K</dc:creator>
  <cp:lastModifiedBy>Varad_K</cp:lastModifiedBy>
  <cp:revision>4</cp:revision>
  <dcterms:created xsi:type="dcterms:W3CDTF">2021-08-23T04:59:59Z</dcterms:created>
  <dcterms:modified xsi:type="dcterms:W3CDTF">2023-02-15T07:53:23Z</dcterms:modified>
</cp:coreProperties>
</file>