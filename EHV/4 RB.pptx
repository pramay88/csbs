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3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DC894-3407-4FD6-AFF6-9CC02E6ED2D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CFAFA-F491-4972-AFB1-5B6DE13AF5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26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49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92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00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71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6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0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81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33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2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21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928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217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38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F6A44-0459-47F0-97E9-CB1B7DDA688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73E81-4537-4B79-B30A-7C44FBE5B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66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Regenerative Braking 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Sachin Argade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660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Why Braking is an Energy Problem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A moving vehicle carries kinetic energy that was supplied by the battery or fuel during previous acceleration.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In a conventional brake system, almost all of that useful energy is discarded as heat at the disc and pad interface.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In urban driving, where start-stop events are frequent, recovering even a fraction of that energy produces a noticeable improvement in efficiency and range.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58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Kinetic Energy of a Vehicle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total translational kinetic energy stored in a vehicle is proportional to mass and to the square of speed.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This immediately tells us two engineering facts: heavy vehicles waste more energy during each stop, and high-speed stops contain disproportionately large amounts of recoverable energy.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That is why buses, trains and EVs in hilly regions benefit strongly from regenerative braking.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83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28" y="0"/>
            <a:ext cx="6549841" cy="160020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Kinetic Energy Equation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4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829" y="1691640"/>
            <a:ext cx="6645533" cy="458794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solidFill>
                  <a:srgbClr val="1F2937"/>
                </a:solidFill>
              </a:rPr>
              <a:t>The translational kinetic energy of a vehicle is given by the expression shown at right. </a:t>
            </a:r>
          </a:p>
          <a:p>
            <a:pPr algn="just"/>
            <a:endParaRPr lang="en-US" sz="2800" dirty="0" smtClean="0">
              <a:solidFill>
                <a:srgbClr val="1F2937"/>
              </a:solidFill>
            </a:endParaRPr>
          </a:p>
          <a:p>
            <a:pPr algn="just"/>
            <a:r>
              <a:rPr lang="en-US" sz="2800" dirty="0" smtClean="0">
                <a:solidFill>
                  <a:srgbClr val="1F2937"/>
                </a:solidFill>
              </a:rPr>
              <a:t>In regenerative braking, this equation provides the theoretical upper bound on recoverable energy from a stop. </a:t>
            </a:r>
          </a:p>
          <a:p>
            <a:pPr algn="just"/>
            <a:endParaRPr lang="en-US" sz="2800" dirty="0" smtClean="0">
              <a:solidFill>
                <a:srgbClr val="1F2937"/>
              </a:solidFill>
            </a:endParaRPr>
          </a:p>
          <a:p>
            <a:pPr algn="just"/>
            <a:r>
              <a:rPr lang="en-US" sz="2800" dirty="0" smtClean="0">
                <a:solidFill>
                  <a:srgbClr val="1F2937"/>
                </a:solidFill>
              </a:rPr>
              <a:t>The actual electrical energy returned to the battery is lower because the machine, inverter, cables and battery all introduce losses.</a:t>
            </a:r>
            <a:endParaRPr lang="en-US" sz="2800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5" name="Text 4"/>
          <p:cNvSpPr/>
          <p:nvPr/>
        </p:nvSpPr>
        <p:spPr>
          <a:xfrm>
            <a:off x="8801100" y="492287"/>
            <a:ext cx="2423160" cy="750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/>
              <a:t>Engineering interpretation</a:t>
            </a:r>
            <a:endParaRPr lang="en-US" sz="2800" dirty="0"/>
          </a:p>
        </p:txBody>
      </p:sp>
      <p:grpSp>
        <p:nvGrpSpPr>
          <p:cNvPr id="6" name="Group 5"/>
          <p:cNvGrpSpPr/>
          <p:nvPr/>
        </p:nvGrpSpPr>
        <p:grpSpPr>
          <a:xfrm>
            <a:off x="8092440" y="1478987"/>
            <a:ext cx="3840480" cy="4892040"/>
            <a:chOff x="7425779" y="1280161"/>
            <a:chExt cx="3840480" cy="4892040"/>
          </a:xfrm>
        </p:grpSpPr>
        <p:sp>
          <p:nvSpPr>
            <p:cNvPr id="7" name="Shape 3"/>
            <p:cNvSpPr/>
            <p:nvPr/>
          </p:nvSpPr>
          <p:spPr>
            <a:xfrm>
              <a:off x="7425779" y="1280161"/>
              <a:ext cx="3840480" cy="4892040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Text 5"/>
            <p:cNvSpPr/>
            <p:nvPr/>
          </p:nvSpPr>
          <p:spPr>
            <a:xfrm>
              <a:off x="7608659" y="1492814"/>
              <a:ext cx="3474720" cy="41148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 algn="just">
                <a:buNone/>
              </a:pPr>
              <a:r>
                <a:rPr lang="en-US" sz="2400" dirty="0">
                  <a:solidFill>
                    <a:srgbClr val="1F2937"/>
                  </a:solidFill>
                </a:rPr>
                <a:t>Mass increases the energy linearly, but speed increases it quadratically. </a:t>
              </a:r>
              <a:endParaRPr lang="en-US" sz="2400" dirty="0" smtClean="0">
                <a:solidFill>
                  <a:srgbClr val="1F2937"/>
                </a:solidFill>
              </a:endParaRPr>
            </a:p>
            <a:p>
              <a:pPr marL="0" indent="0" algn="just">
                <a:buNone/>
              </a:pPr>
              <a:endParaRPr lang="en-US" sz="2400" dirty="0" smtClean="0">
                <a:solidFill>
                  <a:srgbClr val="1F2937"/>
                </a:solidFill>
              </a:endParaRPr>
            </a:p>
            <a:p>
              <a:pPr marL="0" indent="0" algn="just">
                <a:buNone/>
              </a:pPr>
              <a:r>
                <a:rPr lang="en-US" sz="2400" dirty="0" smtClean="0">
                  <a:solidFill>
                    <a:srgbClr val="1F2937"/>
                  </a:solidFill>
                </a:rPr>
                <a:t>Therefore </a:t>
              </a:r>
              <a:r>
                <a:rPr lang="en-US" sz="2400" dirty="0">
                  <a:solidFill>
                    <a:srgbClr val="1F2937"/>
                  </a:solidFill>
                </a:rPr>
                <a:t>highway braking events or heavy-vehicle stops contain especially large energy-recovery potential.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6156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Meaning </a:t>
            </a:r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of the Equation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If the speed doubles, the kinetic energy becomes four times larger because velocity appears as a square term.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This is important because braking system sizing, brake thermal loading, and energy recovery potential are all highly speed-sensitive.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A regenerative system designed for city traffic therefore sees very different duty cycles from one designed for highway operation.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98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Conventional Friction Braking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1088"/>
            <a:ext cx="10515600" cy="46458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In a friction brake, calipers squeeze pads against a rotating disc.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friction force creates a torque opposite to wheel rotation, so vehicle speed falls.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braking energy appears primarily as heat in the disc, pad, tire and surrounding air.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This method is reliable and necessary for final stop and emergency braking, but it is fundamentally dissipative rather than energy conserving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42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Thermal Consequences of Friction Braking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6915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During repeated braking events the rotor temperature rises, which can lead to brake fade, thermal stress, increased pad wear and reduced service life.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Regenerative braking reduces the burden on friction brakes, which means lower maintenance cost and more stable brake temperatures in normal driving.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28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Basic Idea of Regenerative Braking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609" y="1414130"/>
            <a:ext cx="11451265" cy="5188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Regenerative braking replaces part of the dissipative braking torque with electromagnetic braking torque.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Instead of forcing pads to absorb all the vehicle energy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lvl="1"/>
            <a:r>
              <a:rPr lang="en-US" sz="2800" dirty="0" smtClean="0">
                <a:solidFill>
                  <a:srgbClr val="1F2937"/>
                </a:solidFill>
              </a:rPr>
              <a:t> the control system commands the traction motor so that it resists wheel motion and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lvl="1"/>
            <a:r>
              <a:rPr lang="en-US" sz="2800" dirty="0" smtClean="0">
                <a:solidFill>
                  <a:srgbClr val="1F2937"/>
                </a:solidFill>
              </a:rPr>
              <a:t>simultaneously sends electrical power back through the inverter toward the battery.</a:t>
            </a:r>
            <a:endParaRPr lang="en-US" sz="28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30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Motor Action in Propulsion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7805"/>
            <a:ext cx="10515600" cy="52950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In propulsion mode, the inverter sends controlled current to the stator windings.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Those currents produce a rotating magnetic field.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rotor attempts to align with that field, so torque is produced and the shaft turns.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Electrical input power is therefore converted into mechanical output power.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75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Generator Action in Braking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In braking mode, the wheel side drives the shaft.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Once the rotor is being forced mechanically, the moving magnetic field induces voltage in the machine windings.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If the electrical conditions are correct, current reverses direction and the electromagnetic torque opposes rotation.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Mechanical input power is then converted to electrical output power.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06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35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How a Motor Becomes a Generator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5033"/>
            <a:ext cx="10515600" cy="565652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A motor does not need a physical hardware change to become a generator.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same electromagnetic machine can do both jobs.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operating mode depends on the relative directions of speed, torque and current.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When shaft motion is imposed by the vehicle and the machine develops torque opposite to that motion, </a:t>
            </a:r>
          </a:p>
          <a:p>
            <a:pPr lvl="1" algn="just"/>
            <a:r>
              <a:rPr lang="en-US" sz="2800" dirty="0" smtClean="0">
                <a:solidFill>
                  <a:srgbClr val="1F2937"/>
                </a:solidFill>
              </a:rPr>
              <a:t>it is absorbing mechanical power. </a:t>
            </a:r>
          </a:p>
          <a:p>
            <a:pPr lvl="1" algn="just"/>
            <a:r>
              <a:rPr lang="en-US" sz="2800" dirty="0" smtClean="0">
                <a:solidFill>
                  <a:srgbClr val="1F2937"/>
                </a:solidFill>
              </a:rPr>
              <a:t>That absorbed mechanical power emerges electrically and is directed back to the energy storage system.</a:t>
            </a:r>
            <a:endParaRPr lang="en-US" sz="28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7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Back EMF Equation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42777" y="1198303"/>
            <a:ext cx="7316972" cy="5383249"/>
          </a:xfrm>
        </p:spPr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lang="en-US" sz="3000" dirty="0"/>
              <a:t>Back EMF is proportional to speed and magnetic flux and is expressed as </a:t>
            </a:r>
            <a:r>
              <a:rPr lang="en-US" sz="3000" dirty="0" err="1"/>
              <a:t>Eb</a:t>
            </a:r>
            <a:r>
              <a:rPr lang="en-US" sz="3000" dirty="0"/>
              <a:t> = </a:t>
            </a:r>
            <a:r>
              <a:rPr lang="en-US" sz="3000" dirty="0" err="1"/>
              <a:t>kΦω</a:t>
            </a:r>
            <a:r>
              <a:rPr lang="en-US" sz="3000" dirty="0"/>
              <a:t>. During regeneration this voltage becomes larger than the supply voltage.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sz="3000" dirty="0">
                <a:solidFill>
                  <a:srgbClr val="1F2937"/>
                </a:solidFill>
              </a:rPr>
              <a:t>The exact constant depends on machine design, but the qualitative message is universal: faster rotor speed means larger internally generated voltage.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sz="3000" dirty="0">
                <a:solidFill>
                  <a:srgbClr val="1F2937"/>
                </a:solidFill>
              </a:rPr>
              <a:t>During regenerative braking, this machine-generated voltage becomes the source that drives current back to the DC link and then to the battery.</a:t>
            </a:r>
            <a:endParaRPr lang="en-US" sz="3000" dirty="0"/>
          </a:p>
          <a:p>
            <a:endParaRPr lang="en-IN" dirty="0"/>
          </a:p>
        </p:txBody>
      </p:sp>
      <p:sp>
        <p:nvSpPr>
          <p:cNvPr id="7" name="Shape 3"/>
          <p:cNvSpPr>
            <a:spLocks noGrp="1"/>
          </p:cNvSpPr>
          <p:nvPr>
            <p:ph sz="half" idx="2"/>
          </p:nvPr>
        </p:nvSpPr>
        <p:spPr>
          <a:xfrm>
            <a:off x="8006686" y="1825625"/>
            <a:ext cx="3889375" cy="435133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Why it matters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Low speed means low back EMF and weak regeneration. As speed rises, the machine can generate a larger voltage, making reverse power flow possible and controllable.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79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When Back EMF Exceeds Supply Voltage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Regeneration requires the machine-side generated voltage to exceed the effective battery-side or DC-link voltage after accounting for inverter control.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When the rotor speed is sufficiently high, the back EMF becomes large enough that current naturally wants to flow from the machine toward the DC bus.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inverter then controls that current so that charging remains within safe limits.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73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Why This Happens During Braking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260" y="1233376"/>
            <a:ext cx="11196084" cy="543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During deceleration the wheels are still rotating because of the vehicle’s inertia.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Through the driveline, they force the motor shaft to keep turning.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If the controller commands a negative torque request, the machine current phase is adjusted so electromagnetic torque opposes the motion.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shaft is therefore doing work on the motor, and the motor responds by generating electrical power.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02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Current Reversal and Power Reversal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44008"/>
            <a:ext cx="10730023" cy="5465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Electrical power can be viewed as voltage multiplied by current, while mechanical power is torque multiplied by angular speed.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 In forward motoring, both speed and torque are positive and power goes from battery to wheels.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In forward regeneration, speed stays positive but torque becomes negative, which means mechanical power at the machine is negative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from the machine’s perspective: power is flowing from the wheels into the electrical system.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63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Four-Quadrant Operation: Why It Matters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6540"/>
            <a:ext cx="10515600" cy="532691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</a:t>
            </a:r>
            <a:r>
              <a:rPr lang="en-US" dirty="0" err="1" smtClean="0">
                <a:solidFill>
                  <a:srgbClr val="1F2937"/>
                </a:solidFill>
              </a:rPr>
              <a:t>easiset</a:t>
            </a:r>
            <a:r>
              <a:rPr lang="en-US" dirty="0" smtClean="0">
                <a:solidFill>
                  <a:srgbClr val="1F2937"/>
                </a:solidFill>
              </a:rPr>
              <a:t> </a:t>
            </a:r>
            <a:r>
              <a:rPr lang="en-US" dirty="0">
                <a:solidFill>
                  <a:srgbClr val="1F2937"/>
                </a:solidFill>
              </a:rPr>
              <a:t>way to understand regenerative braking is through the four-quadrant torque-speed plane.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horizontal axis is speed and the vertical axis is torque.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Each quadrant tells us whether the machine is motoring or generating and whether the vehicle is moving forward or backward.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Torque-Speed Plot with Regenerative Region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8077" y="1825625"/>
            <a:ext cx="6043746" cy="48875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Quadrant II is highlighted because it is the normal forward regenerative braking region.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Positive speed means the car is still moving forward.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Negative torque means the machine is applying torque opposite to rotation.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Together these signs indicate generating operation and explain why the vehicle slows while the battery receives charge.</a:t>
            </a:r>
            <a:endParaRPr lang="en-US" dirty="0"/>
          </a:p>
          <a:p>
            <a:endParaRPr lang="en-IN" dirty="0"/>
          </a:p>
        </p:txBody>
      </p:sp>
      <p:grpSp>
        <p:nvGrpSpPr>
          <p:cNvPr id="7" name="Group 6"/>
          <p:cNvGrpSpPr/>
          <p:nvPr/>
        </p:nvGrpSpPr>
        <p:grpSpPr>
          <a:xfrm>
            <a:off x="5709684" y="1609344"/>
            <a:ext cx="6476288" cy="5103841"/>
            <a:chOff x="6257159" y="1856232"/>
            <a:chExt cx="5139053" cy="3863340"/>
          </a:xfrm>
        </p:grpSpPr>
        <p:sp>
          <p:nvSpPr>
            <p:cNvPr id="8" name="Shape 3"/>
            <p:cNvSpPr/>
            <p:nvPr/>
          </p:nvSpPr>
          <p:spPr>
            <a:xfrm>
              <a:off x="8915400" y="2148840"/>
              <a:ext cx="0" cy="3063240"/>
            </a:xfrm>
            <a:prstGeom prst="line">
              <a:avLst/>
            </a:prstGeom>
            <a:noFill/>
            <a:ln w="12700">
              <a:solidFill>
                <a:srgbClr val="17324D"/>
              </a:solidFill>
              <a:prstDash val="solid"/>
              <a:tailEnd type="triangle"/>
            </a:ln>
          </p:spPr>
        </p:sp>
        <p:sp>
          <p:nvSpPr>
            <p:cNvPr id="9" name="Shape 4"/>
            <p:cNvSpPr/>
            <p:nvPr/>
          </p:nvSpPr>
          <p:spPr>
            <a:xfrm>
              <a:off x="7269480" y="3657600"/>
              <a:ext cx="3337560" cy="0"/>
            </a:xfrm>
            <a:prstGeom prst="line">
              <a:avLst/>
            </a:prstGeom>
            <a:noFill/>
            <a:ln w="12700">
              <a:solidFill>
                <a:srgbClr val="17324D"/>
              </a:solidFill>
              <a:prstDash val="solid"/>
              <a:headEnd type="triangle"/>
              <a:tailEnd type="triangle"/>
            </a:ln>
          </p:spPr>
        </p:sp>
        <p:sp>
          <p:nvSpPr>
            <p:cNvPr id="10" name="Text 5"/>
            <p:cNvSpPr/>
            <p:nvPr/>
          </p:nvSpPr>
          <p:spPr>
            <a:xfrm>
              <a:off x="8549640" y="1856232"/>
              <a:ext cx="1079733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rgbClr val="64748B"/>
                  </a:solidFill>
                </a:rPr>
                <a:t>Torque</a:t>
              </a:r>
              <a:endParaRPr lang="en-US" sz="28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10334921" y="3406643"/>
              <a:ext cx="1061291" cy="250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rgbClr val="64748B"/>
                  </a:solidFill>
                </a:rPr>
                <a:t>Speed</a:t>
              </a:r>
              <a:endParaRPr lang="en-US" sz="2800" dirty="0"/>
            </a:p>
          </p:txBody>
        </p:sp>
        <p:sp>
          <p:nvSpPr>
            <p:cNvPr id="12" name="Shape 7"/>
            <p:cNvSpPr/>
            <p:nvPr/>
          </p:nvSpPr>
          <p:spPr>
            <a:xfrm>
              <a:off x="7406640" y="2331720"/>
              <a:ext cx="1325880" cy="100584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60A5FA"/>
              </a:solidFill>
              <a:prstDash val="solid"/>
            </a:ln>
          </p:spPr>
        </p:sp>
        <p:sp>
          <p:nvSpPr>
            <p:cNvPr id="13" name="Text 8"/>
            <p:cNvSpPr/>
            <p:nvPr/>
          </p:nvSpPr>
          <p:spPr>
            <a:xfrm>
              <a:off x="7461504" y="2441448"/>
              <a:ext cx="1216152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F2937"/>
                  </a:solidFill>
                </a:rPr>
                <a:t>Q2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b="1" dirty="0">
                  <a:solidFill>
                    <a:srgbClr val="1F2937"/>
                  </a:solidFill>
                </a:rPr>
                <a:t>Forward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b="1" dirty="0">
                  <a:solidFill>
                    <a:srgbClr val="1F2937"/>
                  </a:solidFill>
                </a:rPr>
                <a:t>regen</a:t>
              </a:r>
              <a:endParaRPr lang="en-US" sz="2800" dirty="0"/>
            </a:p>
          </p:txBody>
        </p:sp>
        <p:sp>
          <p:nvSpPr>
            <p:cNvPr id="14" name="Shape 9"/>
            <p:cNvSpPr/>
            <p:nvPr/>
          </p:nvSpPr>
          <p:spPr>
            <a:xfrm>
              <a:off x="9098280" y="2331720"/>
              <a:ext cx="1325880" cy="100584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5" name="Text 10"/>
            <p:cNvSpPr/>
            <p:nvPr/>
          </p:nvSpPr>
          <p:spPr>
            <a:xfrm>
              <a:off x="9153144" y="2441448"/>
              <a:ext cx="1216152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Q1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Forward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motoring</a:t>
              </a:r>
              <a:endParaRPr lang="en-US" sz="2800" dirty="0"/>
            </a:p>
          </p:txBody>
        </p:sp>
        <p:sp>
          <p:nvSpPr>
            <p:cNvPr id="16" name="Shape 11"/>
            <p:cNvSpPr/>
            <p:nvPr/>
          </p:nvSpPr>
          <p:spPr>
            <a:xfrm>
              <a:off x="7406640" y="3886200"/>
              <a:ext cx="1325880" cy="100584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7" name="Text 12"/>
            <p:cNvSpPr/>
            <p:nvPr/>
          </p:nvSpPr>
          <p:spPr>
            <a:xfrm>
              <a:off x="7461504" y="3995928"/>
              <a:ext cx="1216152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Q3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Reverse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motoring</a:t>
              </a:r>
              <a:endParaRPr lang="en-US" sz="2800" dirty="0"/>
            </a:p>
          </p:txBody>
        </p:sp>
        <p:sp>
          <p:nvSpPr>
            <p:cNvPr id="18" name="Shape 13"/>
            <p:cNvSpPr/>
            <p:nvPr/>
          </p:nvSpPr>
          <p:spPr>
            <a:xfrm>
              <a:off x="9098280" y="3886200"/>
              <a:ext cx="1325880" cy="100584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9" name="Text 14"/>
            <p:cNvSpPr/>
            <p:nvPr/>
          </p:nvSpPr>
          <p:spPr>
            <a:xfrm>
              <a:off x="9153144" y="3995928"/>
              <a:ext cx="1216152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Q4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Reverse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dirty="0">
                  <a:solidFill>
                    <a:srgbClr val="1F2937"/>
                  </a:solidFill>
                </a:rPr>
                <a:t>regen</a:t>
              </a:r>
              <a:endParaRPr lang="en-US" sz="280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6257159" y="5161788"/>
              <a:ext cx="4950721" cy="5577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64748B"/>
                  </a:solidFill>
                </a:rPr>
                <a:t>Generating when speed and torque have opposite signs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6838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Reading the Torque-Speed Plot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05" y="1095153"/>
            <a:ext cx="11504428" cy="55182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sign of torque tells you whether the machine is trying to assist the motion or oppose it.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sign of speed tells you the rotation direction.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sign of mechanical power is their product.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If torque and speed have the same sign, the machine is motoring.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If torque and speed have opposite signs, the machine is generating.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98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Quadrant I: Forward Motoring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4670" y="1222743"/>
            <a:ext cx="10939130" cy="531627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In Quadrant I, speed is positive and torque is also positive.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vehicle is moving forward and the motor is driving it forward.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Mechanical output power is delivered to the wheels.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This is the region used during normal forward acceleration and cruising assistance.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83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Quadrant II: Forward Regenerative Braking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In Quadrant II, speed remains positive but torque becomes negative.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vehicle is still moving forward, yet the machine now resists the rotation.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This is the classic forward regenerative braking region.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wheels provide mechanical input and the electrical system receives the recovered power.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06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Quadrant III: Reverse Motoring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In Quadrant III, both speed and torque are negative.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 vehicle is moving backward and the motor is also driving in the backward direction.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From the power point of view this is still a motoring region because the battery is supplying the machine.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46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Quadrant IV: Reverse Regenerative Braking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In Quadrant IV, speed is negative but torque becomes positive.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This means the vehicle is moving backward while the machine torque acts opposite to that motion. 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Regeneration therefore also exists in reverse.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 Although it is less discussed, the physics is exactly analogous to forward regeneration.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22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4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Regenerative  Braking Torque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2624"/>
            <a:ext cx="10515600" cy="512433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braking torque magnitude depends on flux, machine constant and current.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Higher regenerative current creates stronger negative torque, but the allowable value is limited by </a:t>
            </a:r>
          </a:p>
          <a:p>
            <a:pPr lvl="1" algn="just"/>
            <a:r>
              <a:rPr lang="en-US" sz="2800" dirty="0" smtClean="0">
                <a:solidFill>
                  <a:srgbClr val="1F2937"/>
                </a:solidFill>
              </a:rPr>
              <a:t>battery charging current, </a:t>
            </a:r>
          </a:p>
          <a:p>
            <a:pPr lvl="1" algn="just"/>
            <a:r>
              <a:rPr lang="en-US" sz="2800" dirty="0" smtClean="0">
                <a:solidFill>
                  <a:srgbClr val="1F2937"/>
                </a:solidFill>
              </a:rPr>
              <a:t>inverter thermal limits, </a:t>
            </a:r>
          </a:p>
          <a:p>
            <a:pPr lvl="1" algn="just"/>
            <a:r>
              <a:rPr lang="en-US" sz="2800" dirty="0" smtClean="0">
                <a:solidFill>
                  <a:srgbClr val="1F2937"/>
                </a:solidFill>
              </a:rPr>
              <a:t>tire adhesion </a:t>
            </a:r>
          </a:p>
          <a:p>
            <a:pPr lvl="1" algn="just"/>
            <a:r>
              <a:rPr lang="en-US" sz="2800" dirty="0" smtClean="0">
                <a:solidFill>
                  <a:srgbClr val="1F2937"/>
                </a:solidFill>
              </a:rPr>
              <a:t>and passenger comfort.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 smtClean="0">
                <a:solidFill>
                  <a:srgbClr val="1F2937"/>
                </a:solidFill>
              </a:rPr>
              <a:t>Therefore </a:t>
            </a:r>
            <a:r>
              <a:rPr lang="en-US" dirty="0">
                <a:solidFill>
                  <a:srgbClr val="1F2937"/>
                </a:solidFill>
              </a:rPr>
              <a:t>the strongest possible regeneration is not always the most desirable operating point.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71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Battery SOC vs Regenerative Braking Limits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552353"/>
            <a:ext cx="5991778" cy="52099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A battery with low state of charge can accept more charging current, so the available regenerative-power limit is high.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As the battery fills, charge acceptance falls.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When SOC is very high, the controller must reduce regenerative torque and hand more of the stopping task to the friction brakes.</a:t>
            </a:r>
            <a:endParaRPr lang="en-US" dirty="0"/>
          </a:p>
          <a:p>
            <a:endParaRPr lang="en-IN" dirty="0"/>
          </a:p>
        </p:txBody>
      </p:sp>
      <p:grpSp>
        <p:nvGrpSpPr>
          <p:cNvPr id="6" name="Group 5"/>
          <p:cNvGrpSpPr/>
          <p:nvPr/>
        </p:nvGrpSpPr>
        <p:grpSpPr>
          <a:xfrm>
            <a:off x="6358270" y="847150"/>
            <a:ext cx="5620370" cy="3766611"/>
            <a:chOff x="6583680" y="1728216"/>
            <a:chExt cx="4863918" cy="3246120"/>
          </a:xfrm>
        </p:grpSpPr>
        <p:sp>
          <p:nvSpPr>
            <p:cNvPr id="7" name="Shape 9"/>
            <p:cNvSpPr/>
            <p:nvPr/>
          </p:nvSpPr>
          <p:spPr>
            <a:xfrm>
              <a:off x="8503920" y="2788920"/>
              <a:ext cx="594360" cy="457200"/>
            </a:xfrm>
            <a:prstGeom prst="line">
              <a:avLst/>
            </a:prstGeom>
            <a:noFill/>
            <a:ln w="12700">
              <a:solidFill>
                <a:srgbClr val="0E7490"/>
              </a:solidFill>
              <a:prstDash val="solid"/>
            </a:ln>
          </p:spPr>
        </p:sp>
        <p:grpSp>
          <p:nvGrpSpPr>
            <p:cNvPr id="8" name="Group 7"/>
            <p:cNvGrpSpPr/>
            <p:nvPr/>
          </p:nvGrpSpPr>
          <p:grpSpPr>
            <a:xfrm>
              <a:off x="6583680" y="1728216"/>
              <a:ext cx="4863918" cy="3246120"/>
              <a:chOff x="6583680" y="1728216"/>
              <a:chExt cx="4863918" cy="3246120"/>
            </a:xfrm>
          </p:grpSpPr>
          <p:sp>
            <p:nvSpPr>
              <p:cNvPr id="9" name="Shape 3"/>
              <p:cNvSpPr/>
              <p:nvPr/>
            </p:nvSpPr>
            <p:spPr>
              <a:xfrm>
                <a:off x="7315200" y="2148840"/>
                <a:ext cx="0" cy="2743200"/>
              </a:xfrm>
              <a:prstGeom prst="line">
                <a:avLst/>
              </a:prstGeom>
              <a:noFill/>
              <a:ln w="12700">
                <a:solidFill>
                  <a:srgbClr val="17324D"/>
                </a:solidFill>
                <a:prstDash val="solid"/>
                <a:tailEnd type="triangle"/>
              </a:ln>
            </p:spPr>
          </p:sp>
          <p:sp>
            <p:nvSpPr>
              <p:cNvPr id="10" name="Shape 4"/>
              <p:cNvSpPr/>
              <p:nvPr/>
            </p:nvSpPr>
            <p:spPr>
              <a:xfrm>
                <a:off x="7315200" y="4892040"/>
                <a:ext cx="3246120" cy="0"/>
              </a:xfrm>
              <a:prstGeom prst="line">
                <a:avLst/>
              </a:prstGeom>
              <a:noFill/>
              <a:ln w="12700">
                <a:solidFill>
                  <a:srgbClr val="17324D"/>
                </a:solidFill>
                <a:prstDash val="solid"/>
                <a:tailEnd type="triangle"/>
              </a:ln>
            </p:spPr>
          </p:sp>
          <p:sp>
            <p:nvSpPr>
              <p:cNvPr id="11" name="Text 5"/>
              <p:cNvSpPr/>
              <p:nvPr/>
            </p:nvSpPr>
            <p:spPr>
              <a:xfrm>
                <a:off x="6583680" y="1728216"/>
                <a:ext cx="1443292" cy="283465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64748B"/>
                    </a:solidFill>
                  </a:rPr>
                  <a:t>Regen limit</a:t>
                </a:r>
                <a:endParaRPr lang="en-US" sz="2400" dirty="0"/>
              </a:p>
            </p:txBody>
          </p:sp>
          <p:sp>
            <p:nvSpPr>
              <p:cNvPr id="12" name="Text 6"/>
              <p:cNvSpPr/>
              <p:nvPr/>
            </p:nvSpPr>
            <p:spPr>
              <a:xfrm>
                <a:off x="10652759" y="4828032"/>
                <a:ext cx="794839" cy="14630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64748B"/>
                    </a:solidFill>
                  </a:rPr>
                  <a:t>SOC</a:t>
                </a:r>
                <a:endParaRPr lang="en-US" sz="2400" dirty="0"/>
              </a:p>
            </p:txBody>
          </p:sp>
          <p:sp>
            <p:nvSpPr>
              <p:cNvPr id="13" name="Shape 7"/>
              <p:cNvSpPr/>
              <p:nvPr/>
            </p:nvSpPr>
            <p:spPr>
              <a:xfrm>
                <a:off x="7388352" y="2331720"/>
                <a:ext cx="566928" cy="155448"/>
              </a:xfrm>
              <a:prstGeom prst="line">
                <a:avLst/>
              </a:prstGeom>
              <a:noFill/>
              <a:ln w="12700">
                <a:solidFill>
                  <a:srgbClr val="0E7490"/>
                </a:solidFill>
                <a:prstDash val="solid"/>
              </a:ln>
            </p:spPr>
          </p:sp>
          <p:sp>
            <p:nvSpPr>
              <p:cNvPr id="14" name="Shape 8"/>
              <p:cNvSpPr/>
              <p:nvPr/>
            </p:nvSpPr>
            <p:spPr>
              <a:xfrm>
                <a:off x="7955280" y="2487168"/>
                <a:ext cx="548640" cy="301752"/>
              </a:xfrm>
              <a:prstGeom prst="line">
                <a:avLst/>
              </a:prstGeom>
              <a:noFill/>
              <a:ln w="12700">
                <a:solidFill>
                  <a:srgbClr val="0E7490"/>
                </a:solidFill>
                <a:prstDash val="solid"/>
              </a:ln>
            </p:spPr>
          </p:sp>
          <p:sp>
            <p:nvSpPr>
              <p:cNvPr id="15" name="Shape 10"/>
              <p:cNvSpPr/>
              <p:nvPr/>
            </p:nvSpPr>
            <p:spPr>
              <a:xfrm>
                <a:off x="9098280" y="3246120"/>
                <a:ext cx="594360" cy="640080"/>
              </a:xfrm>
              <a:prstGeom prst="line">
                <a:avLst/>
              </a:prstGeom>
              <a:noFill/>
              <a:ln w="12700">
                <a:solidFill>
                  <a:srgbClr val="0E7490"/>
                </a:solidFill>
                <a:prstDash val="solid"/>
              </a:ln>
            </p:spPr>
          </p:sp>
          <p:sp>
            <p:nvSpPr>
              <p:cNvPr id="16" name="Shape 11"/>
              <p:cNvSpPr/>
              <p:nvPr/>
            </p:nvSpPr>
            <p:spPr>
              <a:xfrm>
                <a:off x="9692640" y="3886200"/>
                <a:ext cx="502920" cy="612648"/>
              </a:xfrm>
              <a:prstGeom prst="line">
                <a:avLst/>
              </a:prstGeom>
              <a:noFill/>
              <a:ln w="12700">
                <a:solidFill>
                  <a:srgbClr val="0E7490"/>
                </a:solidFill>
                <a:prstDash val="solid"/>
              </a:ln>
            </p:spPr>
          </p:sp>
          <p:sp>
            <p:nvSpPr>
              <p:cNvPr id="17" name="Text 12"/>
              <p:cNvSpPr/>
              <p:nvPr/>
            </p:nvSpPr>
            <p:spPr>
              <a:xfrm>
                <a:off x="7424926" y="2029968"/>
                <a:ext cx="1077087" cy="2286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64748B"/>
                    </a:solidFill>
                  </a:rPr>
                  <a:t>high</a:t>
                </a:r>
                <a:endParaRPr lang="en-US" sz="2400" dirty="0"/>
              </a:p>
            </p:txBody>
          </p:sp>
          <p:sp>
            <p:nvSpPr>
              <p:cNvPr id="18" name="Text 13"/>
              <p:cNvSpPr/>
              <p:nvPr/>
            </p:nvSpPr>
            <p:spPr>
              <a:xfrm>
                <a:off x="10058399" y="4498849"/>
                <a:ext cx="817785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64748B"/>
                    </a:solidFill>
                  </a:rPr>
                  <a:t>low</a:t>
                </a:r>
                <a:endParaRPr lang="en-US" sz="2400" dirty="0"/>
              </a:p>
            </p:txBody>
          </p:sp>
        </p:grpSp>
      </p:grpSp>
      <p:sp>
        <p:nvSpPr>
          <p:cNvPr id="19" name="Rectangle 18"/>
          <p:cNvSpPr/>
          <p:nvPr/>
        </p:nvSpPr>
        <p:spPr>
          <a:xfrm>
            <a:off x="6655040" y="4677421"/>
            <a:ext cx="5323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solidFill>
                  <a:srgbClr val="1F2937"/>
                </a:solidFill>
              </a:rPr>
              <a:t>However, batteries cannot accept arbitrary current under all conditions. </a:t>
            </a:r>
          </a:p>
          <a:p>
            <a:pPr algn="just"/>
            <a:r>
              <a:rPr lang="en-US" sz="2400" dirty="0" smtClean="0">
                <a:solidFill>
                  <a:srgbClr val="1F2937"/>
                </a:solidFill>
              </a:rPr>
              <a:t>Their allowable charging power depends on chemistry, temperature, internal resistance and state of charge. </a:t>
            </a:r>
            <a:endParaRPr lang="en-US" sz="240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Why Low Speed is a Problem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F2937"/>
                </a:solidFill>
              </a:rPr>
              <a:t>At very low speed, back EMF is small because it is proportional to angular velocity. </a:t>
            </a:r>
            <a:endParaRPr lang="en-US" dirty="0" smtClean="0">
              <a:solidFill>
                <a:srgbClr val="1F2937"/>
              </a:solidFill>
            </a:endParaRPr>
          </a:p>
          <a:p>
            <a:r>
              <a:rPr lang="en-US" dirty="0" smtClean="0">
                <a:solidFill>
                  <a:srgbClr val="1F2937"/>
                </a:solidFill>
              </a:rPr>
              <a:t>If </a:t>
            </a:r>
            <a:r>
              <a:rPr lang="en-US" dirty="0">
                <a:solidFill>
                  <a:srgbClr val="1F2937"/>
                </a:solidFill>
              </a:rPr>
              <a:t>the generated voltage is too low, the machine cannot push significant current into the DC bus. </a:t>
            </a:r>
            <a:endParaRPr lang="en-US" dirty="0" smtClean="0">
              <a:solidFill>
                <a:srgbClr val="1F2937"/>
              </a:solidFill>
            </a:endParaRPr>
          </a:p>
          <a:p>
            <a:r>
              <a:rPr lang="en-US" dirty="0" smtClean="0">
                <a:solidFill>
                  <a:srgbClr val="1F2937"/>
                </a:solidFill>
              </a:rPr>
              <a:t>Therefore </a:t>
            </a:r>
            <a:r>
              <a:rPr lang="en-US" dirty="0">
                <a:solidFill>
                  <a:srgbClr val="1F2937"/>
                </a:solidFill>
              </a:rPr>
              <a:t>regeneration fades out as the vehicle approaches standstill, and friction brakes must supply the final stopping torque.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20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Blended Braking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F2937"/>
                </a:solidFill>
              </a:rPr>
              <a:t>Because regenerative braking is limited by speed, battery condition and control constraints, production EVs use blended braking. </a:t>
            </a:r>
            <a:endParaRPr lang="en-US" dirty="0" smtClean="0">
              <a:solidFill>
                <a:srgbClr val="1F2937"/>
              </a:solidFill>
            </a:endParaRPr>
          </a:p>
          <a:p>
            <a:r>
              <a:rPr lang="en-US" dirty="0" smtClean="0">
                <a:solidFill>
                  <a:srgbClr val="1F2937"/>
                </a:solidFill>
              </a:rPr>
              <a:t>The </a:t>
            </a:r>
            <a:r>
              <a:rPr lang="en-US" dirty="0">
                <a:solidFill>
                  <a:srgbClr val="1F2937"/>
                </a:solidFill>
              </a:rPr>
              <a:t>supervisory controller combines regenerative torque and friction torque so the driver feels a smooth, predictable deceleration even when the regenerative portion changes.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61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How Regeneration Happens in a Series Hybrid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0955"/>
            <a:ext cx="10515600" cy="53513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During deceleration, the traction motor connected to the wheels switches into generator mode.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Its generated electrical power can recharge the battery or support the DC bus.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engine path is separate from the wheel path, so the machine on the axle remains the main regenerative device.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control problem is therefore similar to that of a pure EV, except that the energy management system must also coordinate the engine-generator set.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76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How Regeneration Happens in a Parallel Hybrid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8424"/>
            <a:ext cx="10515600" cy="527692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During </a:t>
            </a:r>
            <a:r>
              <a:rPr lang="en-US" dirty="0" err="1" smtClean="0">
                <a:solidFill>
                  <a:srgbClr val="1F2937"/>
                </a:solidFill>
              </a:rPr>
              <a:t>br</a:t>
            </a:r>
            <a:r>
              <a:rPr lang="en-US" dirty="0" err="1" smtClean="0">
                <a:solidFill>
                  <a:srgbClr val="1F2937"/>
                </a:solidFill>
              </a:rPr>
              <a:t>machine.</a:t>
            </a:r>
            <a:r>
              <a:rPr lang="en-US" dirty="0" err="1" smtClean="0">
                <a:solidFill>
                  <a:srgbClr val="1F2937"/>
                </a:solidFill>
              </a:rPr>
              <a:t>aking</a:t>
            </a:r>
            <a:r>
              <a:rPr lang="en-US" dirty="0" smtClean="0">
                <a:solidFill>
                  <a:srgbClr val="1F2937"/>
                </a:solidFill>
              </a:rPr>
              <a:t> </a:t>
            </a:r>
            <a:r>
              <a:rPr lang="en-US" dirty="0">
                <a:solidFill>
                  <a:srgbClr val="1F2937"/>
                </a:solidFill>
              </a:rPr>
              <a:t>in a parallel hybrid, the driveline continues to spin the </a:t>
            </a:r>
            <a:r>
              <a:rPr lang="en-US" dirty="0" smtClean="0">
                <a:solidFill>
                  <a:srgbClr val="1F2937"/>
                </a:solidFill>
              </a:rPr>
              <a:t>electric</a:t>
            </a: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If the engine is decoupled or its torque is reduced appropriately, the motor acts as a generator and recovers wheel energy.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In some designs the amount of recoverable energy is lower than in a series hybrid because the packaging and mechanical coupling constraints are tighter.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Nevertheless the physical principle is the same: negative machine torque converts wheel work into electrical power.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55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Regenerative Power Curve vs Vehicle Speed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8723" y="1435944"/>
            <a:ext cx="6087528" cy="542205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Regenerative braking capability is usually weak at very low speed,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strongest in a mid-speed window,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and then capped at higher speed by current, thermal or battery-charge limits.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The exact shape differs across vehicles, but the trend shown here is common across production EVs and hybrids.</a:t>
            </a:r>
            <a:endParaRPr lang="en-US" dirty="0"/>
          </a:p>
          <a:p>
            <a:endParaRPr lang="en-IN" dirty="0"/>
          </a:p>
        </p:txBody>
      </p:sp>
      <p:grpSp>
        <p:nvGrpSpPr>
          <p:cNvPr id="7" name="Group 6"/>
          <p:cNvGrpSpPr/>
          <p:nvPr/>
        </p:nvGrpSpPr>
        <p:grpSpPr>
          <a:xfrm>
            <a:off x="6156251" y="1683521"/>
            <a:ext cx="5858539" cy="4422096"/>
            <a:chOff x="6629400" y="1730117"/>
            <a:chExt cx="4373556" cy="3162388"/>
          </a:xfrm>
        </p:grpSpPr>
        <p:sp>
          <p:nvSpPr>
            <p:cNvPr id="8" name="Shape 3"/>
            <p:cNvSpPr/>
            <p:nvPr/>
          </p:nvSpPr>
          <p:spPr>
            <a:xfrm>
              <a:off x="7315200" y="2148840"/>
              <a:ext cx="0" cy="2743200"/>
            </a:xfrm>
            <a:prstGeom prst="line">
              <a:avLst/>
            </a:prstGeom>
            <a:noFill/>
            <a:ln w="12700">
              <a:solidFill>
                <a:srgbClr val="17324D"/>
              </a:solidFill>
              <a:prstDash val="solid"/>
              <a:tailEnd type="triangle"/>
            </a:ln>
          </p:spPr>
        </p:sp>
        <p:sp>
          <p:nvSpPr>
            <p:cNvPr id="9" name="Shape 4"/>
            <p:cNvSpPr/>
            <p:nvPr/>
          </p:nvSpPr>
          <p:spPr>
            <a:xfrm>
              <a:off x="7315200" y="4892040"/>
              <a:ext cx="3246120" cy="0"/>
            </a:xfrm>
            <a:prstGeom prst="line">
              <a:avLst/>
            </a:prstGeom>
            <a:noFill/>
            <a:ln w="12700">
              <a:solidFill>
                <a:srgbClr val="17324D"/>
              </a:solidFill>
              <a:prstDash val="solid"/>
              <a:tailEnd type="triangle"/>
            </a:ln>
          </p:spPr>
        </p:sp>
        <p:sp>
          <p:nvSpPr>
            <p:cNvPr id="10" name="Text 5"/>
            <p:cNvSpPr/>
            <p:nvPr/>
          </p:nvSpPr>
          <p:spPr>
            <a:xfrm>
              <a:off x="6629400" y="1730117"/>
              <a:ext cx="1120093" cy="2632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64748B"/>
                  </a:solidFill>
                </a:rPr>
                <a:t>Power</a:t>
              </a:r>
              <a:endParaRPr lang="en-US" sz="24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10290843" y="4596722"/>
              <a:ext cx="712113" cy="2957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64748B"/>
                  </a:solidFill>
                </a:rPr>
                <a:t>Speed</a:t>
              </a:r>
              <a:endParaRPr lang="en-US" sz="2400" dirty="0"/>
            </a:p>
          </p:txBody>
        </p:sp>
        <p:sp>
          <p:nvSpPr>
            <p:cNvPr id="12" name="Shape 8"/>
            <p:cNvSpPr/>
            <p:nvPr/>
          </p:nvSpPr>
          <p:spPr>
            <a:xfrm>
              <a:off x="7818120" y="4069080"/>
              <a:ext cx="502920" cy="0"/>
            </a:xfrm>
            <a:prstGeom prst="line">
              <a:avLst/>
            </a:prstGeom>
            <a:noFill/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3" name="Shape 9"/>
            <p:cNvSpPr/>
            <p:nvPr/>
          </p:nvSpPr>
          <p:spPr>
            <a:xfrm>
              <a:off x="8321040" y="3383280"/>
              <a:ext cx="594360" cy="0"/>
            </a:xfrm>
            <a:prstGeom prst="line">
              <a:avLst/>
            </a:prstGeom>
            <a:noFill/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4" name="Shape 10"/>
            <p:cNvSpPr/>
            <p:nvPr/>
          </p:nvSpPr>
          <p:spPr>
            <a:xfrm>
              <a:off x="8915400" y="2788920"/>
              <a:ext cx="594360" cy="0"/>
            </a:xfrm>
            <a:prstGeom prst="line">
              <a:avLst/>
            </a:prstGeom>
            <a:noFill/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5" name="Shape 11"/>
            <p:cNvSpPr/>
            <p:nvPr/>
          </p:nvSpPr>
          <p:spPr>
            <a:xfrm>
              <a:off x="9509760" y="2633472"/>
              <a:ext cx="502920" cy="182880"/>
            </a:xfrm>
            <a:prstGeom prst="line">
              <a:avLst/>
            </a:prstGeom>
            <a:noFill/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6" name="Shape 12"/>
            <p:cNvSpPr/>
            <p:nvPr/>
          </p:nvSpPr>
          <p:spPr>
            <a:xfrm>
              <a:off x="10012680" y="2816352"/>
              <a:ext cx="411480" cy="585216"/>
            </a:xfrm>
            <a:prstGeom prst="line">
              <a:avLst/>
            </a:prstGeom>
            <a:noFill/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7" name="Text 13"/>
            <p:cNvSpPr/>
            <p:nvPr/>
          </p:nvSpPr>
          <p:spPr>
            <a:xfrm>
              <a:off x="7355298" y="4575449"/>
              <a:ext cx="987552" cy="3170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64748B"/>
                  </a:solidFill>
                </a:rPr>
                <a:t>low-speed</a:t>
              </a:r>
              <a:endParaRPr lang="en-US" sz="2400" dirty="0"/>
            </a:p>
            <a:p>
              <a:pPr marL="0" indent="0" algn="ctr">
                <a:buNone/>
              </a:pPr>
              <a:r>
                <a:rPr lang="en-US" sz="2400" dirty="0">
                  <a:solidFill>
                    <a:srgbClr val="64748B"/>
                  </a:solidFill>
                </a:rPr>
                <a:t>fade-out</a:t>
              </a:r>
              <a:endParaRPr lang="en-US" sz="240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8810244" y="2191111"/>
              <a:ext cx="672084" cy="33263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64748B"/>
                  </a:solidFill>
                </a:rPr>
                <a:t>peak</a:t>
              </a:r>
              <a:endParaRPr lang="en-US" sz="240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10104119" y="3438143"/>
              <a:ext cx="762349" cy="3249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64748B"/>
                  </a:solidFill>
                </a:rPr>
                <a:t>limited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7681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Numerical Example </a:t>
            </a:r>
            <a:r>
              <a:rPr lang="en-US" b="1" dirty="0" smtClean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5813" y="1116418"/>
            <a:ext cx="11791507" cy="55820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A 1600 kg battery electric car is traveling at 72 km/h on level road. </a:t>
            </a: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Estimate the translational kinetic energy available just before braking, </a:t>
            </a: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and </a:t>
            </a: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then compute the recovered energy if the regenerative system captures 65% of that value.</a:t>
            </a:r>
          </a:p>
          <a:p>
            <a:pPr marL="0" indent="0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Solution : </a:t>
            </a:r>
          </a:p>
          <a:p>
            <a:r>
              <a:rPr lang="en-US" dirty="0">
                <a:solidFill>
                  <a:srgbClr val="1F2937"/>
                </a:solidFill>
              </a:rPr>
              <a:t>First convert 72 km/h to 20 m/s. </a:t>
            </a:r>
          </a:p>
          <a:p>
            <a:endParaRPr lang="en-US" dirty="0">
              <a:solidFill>
                <a:srgbClr val="1F2937"/>
              </a:solidFill>
            </a:endParaRPr>
          </a:p>
          <a:p>
            <a:r>
              <a:rPr lang="en-US" dirty="0">
                <a:solidFill>
                  <a:srgbClr val="1F2937"/>
                </a:solidFill>
              </a:rPr>
              <a:t>Then kinetic energy is one-half times mass times velocity squared: 0.5 × 1600 × 20² = 320000 J. </a:t>
            </a:r>
          </a:p>
          <a:p>
            <a:endParaRPr lang="en-US" dirty="0">
              <a:solidFill>
                <a:srgbClr val="1F2937"/>
              </a:solidFill>
            </a:endParaRPr>
          </a:p>
          <a:p>
            <a:r>
              <a:rPr lang="en-US" dirty="0">
                <a:solidFill>
                  <a:srgbClr val="1F2937"/>
                </a:solidFill>
              </a:rPr>
              <a:t>If recovery efficiency is 65%, the stored electrical energy is 0.65 × 320000 = 208000 J.</a:t>
            </a:r>
          </a:p>
          <a:p>
            <a:endParaRPr lang="en-US" dirty="0">
              <a:solidFill>
                <a:srgbClr val="1F2937"/>
              </a:solidFill>
            </a:endParaRPr>
          </a:p>
          <a:p>
            <a:r>
              <a:rPr lang="en-US" dirty="0">
                <a:solidFill>
                  <a:srgbClr val="1F2937"/>
                </a:solidFill>
              </a:rPr>
              <a:t>This example shows that even a single moderate stop contains a meaningful amount of recoverable energy.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9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060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Numerical Example 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46" y="773001"/>
            <a:ext cx="11846441" cy="58829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A bus of mass 9000 kg slows from 50 km/h to 10 km/h. </a:t>
            </a: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Compute the change in kinetic energy over that speed interval, </a:t>
            </a: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then </a:t>
            </a: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estimate recovered energy if only 55% of the lost kinetic energy can be captured because of converter and battery limits.</a:t>
            </a:r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Solution : </a:t>
            </a:r>
          </a:p>
          <a:p>
            <a:r>
              <a:rPr lang="en-US" dirty="0">
                <a:solidFill>
                  <a:srgbClr val="1F2937"/>
                </a:solidFill>
              </a:rPr>
              <a:t>Convert the speeds: 50 km/h = 13.89 m/s and 10 km/h = 2.78 m/s. </a:t>
            </a:r>
          </a:p>
          <a:p>
            <a:endParaRPr lang="en-US" dirty="0">
              <a:solidFill>
                <a:srgbClr val="1F2937"/>
              </a:solidFill>
            </a:endParaRPr>
          </a:p>
          <a:p>
            <a:r>
              <a:rPr lang="en-US" dirty="0">
                <a:solidFill>
                  <a:srgbClr val="1F2937"/>
                </a:solidFill>
              </a:rPr>
              <a:t>Initial kinetic energy is about 0.5 × 9000 × 13.89² ≈ 868000 J. </a:t>
            </a:r>
          </a:p>
          <a:p>
            <a:endParaRPr lang="en-US" dirty="0">
              <a:solidFill>
                <a:srgbClr val="1F2937"/>
              </a:solidFill>
            </a:endParaRPr>
          </a:p>
          <a:p>
            <a:r>
              <a:rPr lang="en-US" dirty="0">
                <a:solidFill>
                  <a:srgbClr val="1F2937"/>
                </a:solidFill>
              </a:rPr>
              <a:t>Final kinetic energy is about 0.5 × 9000 × 2.78² ≈ 34800 J. </a:t>
            </a:r>
          </a:p>
          <a:p>
            <a:endParaRPr lang="en-US" dirty="0">
              <a:solidFill>
                <a:srgbClr val="1F2937"/>
              </a:solidFill>
            </a:endParaRPr>
          </a:p>
          <a:p>
            <a:r>
              <a:rPr lang="en-US" dirty="0">
                <a:solidFill>
                  <a:srgbClr val="1F2937"/>
                </a:solidFill>
              </a:rPr>
              <a:t>The decrease is about 833200 J. </a:t>
            </a:r>
          </a:p>
          <a:p>
            <a:endParaRPr lang="en-US" dirty="0">
              <a:solidFill>
                <a:srgbClr val="1F2937"/>
              </a:solidFill>
            </a:endParaRPr>
          </a:p>
          <a:p>
            <a:r>
              <a:rPr lang="en-US" dirty="0">
                <a:solidFill>
                  <a:srgbClr val="1F2937"/>
                </a:solidFill>
              </a:rPr>
              <a:t>At 55% capture, recovered energy is approximately 458000 J.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56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Application: Electric </a:t>
            </a:r>
            <a:r>
              <a:rPr lang="en-US" b="1" dirty="0" smtClean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Trains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 smtClean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Electric </a:t>
            </a:r>
            <a:r>
              <a:rPr lang="en-US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Buses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306" y="1293998"/>
            <a:ext cx="11708219" cy="529818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Electric trains are ideal candidates for regeneration because they are heavy, operate on fixed routes and experience repeated acceleration and braking.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 In electrified rail networks the recovered energy can sometimes be returned directly to the grid or used by nearby trains, making system-level savings substantial.</a:t>
            </a:r>
            <a:endParaRPr lang="en-US" dirty="0"/>
          </a:p>
          <a:p>
            <a:endParaRPr lang="en-IN" dirty="0" smtClean="0"/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City buses brake many times per route, so regenerative braking provides large cumulative savings.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Because buses are massive, each stop contains significant kinetic energy.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Regeneration also reduces brake maintenance, which is economically valuable in fleet operation.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68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Design trade-offs and practical approach 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>
                <a:solidFill>
                  <a:srgbClr val="1F2937"/>
                </a:solidFill>
              </a:rPr>
              <a:t>While designing we must </a:t>
            </a:r>
            <a:r>
              <a:rPr lang="en-US" dirty="0">
                <a:solidFill>
                  <a:srgbClr val="1F2937"/>
                </a:solidFill>
              </a:rPr>
              <a:t>balance energy recovery against safety, comfort and battery health.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Excessive regenerative torque can disturb vehicle stability on slippery roads. Excessive charging current can damage the battery.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Very aggressive deceleration can also feel unnatural to passengers. </a:t>
            </a:r>
          </a:p>
          <a:p>
            <a:pPr marL="0" indent="0" algn="just">
              <a:buNone/>
            </a:pPr>
            <a:endParaRPr lang="en-US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F2937"/>
                </a:solidFill>
              </a:rPr>
              <a:t>Good calibration therefore matters as much as the physics.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91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Summary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108813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just">
              <a:buNone/>
            </a:pPr>
            <a:r>
              <a:rPr lang="en-US" sz="3200" dirty="0">
                <a:solidFill>
                  <a:srgbClr val="1F2937"/>
                </a:solidFill>
              </a:rPr>
              <a:t>Regenerative braking is not merely a clever add-on. </a:t>
            </a:r>
            <a:endParaRPr lang="en-US" sz="3200" dirty="0" smtClean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sz="3200" dirty="0" smtClean="0">
                <a:solidFill>
                  <a:srgbClr val="1F2937"/>
                </a:solidFill>
              </a:rPr>
              <a:t>It </a:t>
            </a:r>
            <a:r>
              <a:rPr lang="en-US" sz="3200" dirty="0">
                <a:solidFill>
                  <a:srgbClr val="1F2937"/>
                </a:solidFill>
              </a:rPr>
              <a:t>is a central efficiency technology for EVs and hybrids. </a:t>
            </a:r>
            <a:endParaRPr lang="en-US" sz="3200" dirty="0" smtClean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endParaRPr lang="en-US" sz="3200" dirty="0" smtClean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sz="3200" dirty="0" smtClean="0">
                <a:solidFill>
                  <a:srgbClr val="1F2937"/>
                </a:solidFill>
              </a:rPr>
              <a:t>The </a:t>
            </a:r>
            <a:r>
              <a:rPr lang="en-US" sz="3200" dirty="0">
                <a:solidFill>
                  <a:srgbClr val="1F2937"/>
                </a:solidFill>
              </a:rPr>
              <a:t>key ideas are straightforward once organized: </a:t>
            </a:r>
            <a:endParaRPr lang="en-US" sz="3200" dirty="0" smtClean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endParaRPr lang="en-US" sz="3200" dirty="0" smtClean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sz="3200" dirty="0" smtClean="0">
                <a:solidFill>
                  <a:srgbClr val="1F2937"/>
                </a:solidFill>
              </a:rPr>
              <a:t>wheel </a:t>
            </a:r>
            <a:r>
              <a:rPr lang="en-US" sz="3200" dirty="0">
                <a:solidFill>
                  <a:srgbClr val="1F2937"/>
                </a:solidFill>
              </a:rPr>
              <a:t>motion forces the motor to generate, back EMF and current direction determine when power can flow to the </a:t>
            </a:r>
            <a:r>
              <a:rPr lang="en-US" sz="3200" dirty="0" smtClean="0">
                <a:solidFill>
                  <a:srgbClr val="1F2937"/>
                </a:solidFill>
              </a:rPr>
              <a:t>battery. </a:t>
            </a:r>
          </a:p>
          <a:p>
            <a:pPr marL="0" indent="0" algn="just">
              <a:buNone/>
            </a:pPr>
            <a:endParaRPr lang="en-US" sz="3200" dirty="0">
              <a:solidFill>
                <a:srgbClr val="1F2937"/>
              </a:solidFill>
            </a:endParaRPr>
          </a:p>
          <a:p>
            <a:pPr marL="0" indent="0" algn="just">
              <a:buNone/>
            </a:pPr>
            <a:r>
              <a:rPr lang="en-US" sz="3200" dirty="0">
                <a:solidFill>
                  <a:srgbClr val="1F2937"/>
                </a:solidFill>
              </a:rPr>
              <a:t>T</a:t>
            </a:r>
            <a:r>
              <a:rPr lang="en-US" sz="3200" dirty="0" smtClean="0">
                <a:solidFill>
                  <a:srgbClr val="1F2937"/>
                </a:solidFill>
              </a:rPr>
              <a:t>he </a:t>
            </a:r>
            <a:r>
              <a:rPr lang="en-US" sz="3200" dirty="0">
                <a:solidFill>
                  <a:srgbClr val="1F2937"/>
                </a:solidFill>
              </a:rPr>
              <a:t>torque-speed plane explains the sign changes, and real vehicles use control logic plus friction blending to make the system safe and effective.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86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2397</Words>
  <Application>Microsoft Office PowerPoint</Application>
  <PresentationFormat>Widescreen</PresentationFormat>
  <Paragraphs>291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 Display</vt:lpstr>
      <vt:lpstr>Arial</vt:lpstr>
      <vt:lpstr>Calibri</vt:lpstr>
      <vt:lpstr>Calibri Light</vt:lpstr>
      <vt:lpstr>Office Theme</vt:lpstr>
      <vt:lpstr>Regenerative Braking </vt:lpstr>
      <vt:lpstr>Why Braking is an Energy Problem </vt:lpstr>
      <vt:lpstr>Kinetic Energy of a Vehicle </vt:lpstr>
      <vt:lpstr>Kinetic Energy Equation </vt:lpstr>
      <vt:lpstr>Meaning of the Equation </vt:lpstr>
      <vt:lpstr>Conventional Friction Braking </vt:lpstr>
      <vt:lpstr>Thermal Consequences of Friction Braking </vt:lpstr>
      <vt:lpstr>Basic Idea of Regenerative Braking </vt:lpstr>
      <vt:lpstr>Motor Action in Propulsion </vt:lpstr>
      <vt:lpstr>Generator Action in Braking </vt:lpstr>
      <vt:lpstr>How a Motor Becomes a Generator </vt:lpstr>
      <vt:lpstr>Back EMF Equation </vt:lpstr>
      <vt:lpstr>When Back EMF Exceeds Supply Voltage </vt:lpstr>
      <vt:lpstr>Why This Happens During Braking </vt:lpstr>
      <vt:lpstr>Current Reversal and Power Reversal </vt:lpstr>
      <vt:lpstr>Four-Quadrant Operation: Why It Matters </vt:lpstr>
      <vt:lpstr>Torque-Speed Plot with Regenerative Region</vt:lpstr>
      <vt:lpstr>Reading the Torque-Speed Plot </vt:lpstr>
      <vt:lpstr>Quadrant I: Forward Motoring </vt:lpstr>
      <vt:lpstr>Quadrant II: Forward Regenerative Braking </vt:lpstr>
      <vt:lpstr>Quadrant III: Reverse Motoring </vt:lpstr>
      <vt:lpstr>Quadrant IV: Reverse Regenerative Braking </vt:lpstr>
      <vt:lpstr>Regenerative  Braking Torque </vt:lpstr>
      <vt:lpstr>Battery SOC vs Regenerative Braking Limits </vt:lpstr>
      <vt:lpstr>Why Low Speed is a Problem </vt:lpstr>
      <vt:lpstr>Blended Braking  </vt:lpstr>
      <vt:lpstr>How Regeneration Happens in a Series Hybrid </vt:lpstr>
      <vt:lpstr>How Regeneration Happens in a Parallel Hybrid </vt:lpstr>
      <vt:lpstr>Regenerative Power Curve vs Vehicle Speed </vt:lpstr>
      <vt:lpstr>Numerical Example 1 </vt:lpstr>
      <vt:lpstr>Numerical Example 2</vt:lpstr>
      <vt:lpstr>Application: Electric Trains and Electric Buses </vt:lpstr>
      <vt:lpstr>Design trade-offs and practical approach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Regenerative Braking </dc:title>
  <dc:creator>Sachin Argade</dc:creator>
  <cp:lastModifiedBy>Sachin Argade</cp:lastModifiedBy>
  <cp:revision>51</cp:revision>
  <dcterms:created xsi:type="dcterms:W3CDTF">2026-03-09T14:57:24Z</dcterms:created>
  <dcterms:modified xsi:type="dcterms:W3CDTF">2026-03-10T01:38:40Z</dcterms:modified>
</cp:coreProperties>
</file>