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257"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D2081F-7DEC-4834-B56E-0872B7F1C969}" type="datetimeFigureOut">
              <a:rPr lang="en-IN" smtClean="0"/>
              <a:t>17-03-2026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18830-D4F8-42CA-A0AC-2D41EFEDE913}" type="slidenum">
              <a:rPr lang="en-IN" smtClean="0"/>
              <a:t>‹#›</a:t>
            </a:fld>
            <a:endParaRPr lang="en-IN"/>
          </a:p>
        </p:txBody>
      </p:sp>
    </p:spTree>
    <p:extLst>
      <p:ext uri="{BB962C8B-B14F-4D97-AF65-F5344CB8AC3E}">
        <p14:creationId xmlns:p14="http://schemas.microsoft.com/office/powerpoint/2010/main" val="3717076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201882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58170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236287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13884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88376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40570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73665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96104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69865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831098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187856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29523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34496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19136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050755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632289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63881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045511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124360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828446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963553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840099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197917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5490175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789408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1731326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0988336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417329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7426475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3580011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039068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6848239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9082512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989629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6064864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687790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2519490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1901425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6924413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6441208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558346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16189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D394871-1E6F-4C52-AA8D-7B706B8BEC86}"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302645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394871-1E6F-4C52-AA8D-7B706B8BEC86}"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1537977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394871-1E6F-4C52-AA8D-7B706B8BEC86}"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333414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D394871-1E6F-4C52-AA8D-7B706B8BEC86}"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3342484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D394871-1E6F-4C52-AA8D-7B706B8BEC86}" type="datetimeFigureOut">
              <a:rPr lang="en-IN" smtClean="0"/>
              <a:t>17-03-2026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650370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D394871-1E6F-4C52-AA8D-7B706B8BEC86}" type="datetimeFigureOut">
              <a:rPr lang="en-IN" smtClean="0"/>
              <a:t>17-03-2026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3171946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394871-1E6F-4C52-AA8D-7B706B8BEC86}" type="datetimeFigureOut">
              <a:rPr lang="en-IN" smtClean="0"/>
              <a:t>17-03-2026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2517322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D394871-1E6F-4C52-AA8D-7B706B8BEC86}"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1518950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D394871-1E6F-4C52-AA8D-7B706B8BEC86}"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931770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394871-1E6F-4C52-AA8D-7B706B8BEC86}"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583092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D394871-1E6F-4C52-AA8D-7B706B8BEC86}"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222500-9542-4A44-9740-1BBA4386DE6D}" type="slidenum">
              <a:rPr lang="en-IN" smtClean="0"/>
              <a:t>‹#›</a:t>
            </a:fld>
            <a:endParaRPr lang="en-IN"/>
          </a:p>
        </p:txBody>
      </p:sp>
    </p:spTree>
    <p:extLst>
      <p:ext uri="{BB962C8B-B14F-4D97-AF65-F5344CB8AC3E}">
        <p14:creationId xmlns:p14="http://schemas.microsoft.com/office/powerpoint/2010/main" val="13113147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2090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394871-1E6F-4C52-AA8D-7B706B8BEC86}" type="datetimeFigureOut">
              <a:rPr lang="en-IN" smtClean="0"/>
              <a:t>17-03-2026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222500-9542-4A44-9740-1BBA4386DE6D}" type="slidenum">
              <a:rPr lang="en-IN" smtClean="0"/>
              <a:t>‹#›</a:t>
            </a:fld>
            <a:endParaRPr lang="en-IN"/>
          </a:p>
        </p:txBody>
      </p:sp>
    </p:spTree>
    <p:extLst>
      <p:ext uri="{BB962C8B-B14F-4D97-AF65-F5344CB8AC3E}">
        <p14:creationId xmlns:p14="http://schemas.microsoft.com/office/powerpoint/2010/main" val="11962994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2021945"/>
            <a:ext cx="10566400" cy="1219200"/>
          </a:xfrm>
          <a:prstGeom prst="rect">
            <a:avLst/>
          </a:prstGeom>
          <a:noFill/>
          <a:ln/>
        </p:spPr>
        <p:txBody>
          <a:bodyPr wrap="square" lIns="0" tIns="0" rIns="0" bIns="0" rtlCol="0" anchor="t"/>
          <a:lstStyle/>
          <a:p>
            <a:pPr algn="ctr">
              <a:lnSpc>
                <a:spcPts val="4800"/>
              </a:lnSpc>
            </a:pPr>
            <a:r>
              <a:rPr lang="en-US" sz="4000" b="1" dirty="0">
                <a:solidFill>
                  <a:srgbClr val="000000"/>
                </a:solidFill>
                <a:latin typeface="Arial" pitchFamily="34" charset="0"/>
                <a:ea typeface="Arial" pitchFamily="34" charset="-122"/>
                <a:cs typeface="Arial" pitchFamily="34" charset="-120"/>
              </a:rPr>
              <a:t>Power Diodes &amp; Power Electronics Switches</a:t>
            </a:r>
            <a:endParaRPr lang="en-US" sz="4000" dirty="0"/>
          </a:p>
        </p:txBody>
      </p:sp>
      <p:sp>
        <p:nvSpPr>
          <p:cNvPr id="3" name="TextBox 2"/>
          <p:cNvSpPr txBox="1"/>
          <p:nvPr/>
        </p:nvSpPr>
        <p:spPr>
          <a:xfrm>
            <a:off x="4253023" y="4120708"/>
            <a:ext cx="4517656" cy="461665"/>
          </a:xfrm>
          <a:prstGeom prst="rect">
            <a:avLst/>
          </a:prstGeom>
          <a:noFill/>
        </p:spPr>
        <p:txBody>
          <a:bodyPr wrap="square" rtlCol="0">
            <a:spAutoFit/>
          </a:bodyPr>
          <a:lstStyle/>
          <a:p>
            <a:r>
              <a:rPr lang="en-IN" sz="2400" dirty="0" err="1"/>
              <a:t>Dr.</a:t>
            </a:r>
            <a:r>
              <a:rPr lang="en-IN" sz="2400" dirty="0"/>
              <a:t> Sachin Argade </a:t>
            </a:r>
          </a:p>
        </p:txBody>
      </p:sp>
    </p:spTree>
    <p:extLst>
      <p:ext uri="{BB962C8B-B14F-4D97-AF65-F5344CB8AC3E}">
        <p14:creationId xmlns:p14="http://schemas.microsoft.com/office/powerpoint/2010/main" val="335806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What is a Power Diode?</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Think of it as an electrical "one-way valve" for electricity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Allows current to flow in only one direction, like water in a pipe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Used in mobile chargers, laptop adapters, and EV charging systems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Power diodes handle high voltage and current (unlike small signal diodes)</a:t>
            </a:r>
            <a:endParaRPr lang="en-US" sz="2200" dirty="0"/>
          </a:p>
        </p:txBody>
      </p:sp>
    </p:spTree>
    <p:extLst>
      <p:ext uri="{BB962C8B-B14F-4D97-AF65-F5344CB8AC3E}">
        <p14:creationId xmlns:p14="http://schemas.microsoft.com/office/powerpoint/2010/main" val="89080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Why "Power" Diode?</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Regular diode: Works with small signals (milliamps)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Power diode: Handles large amounts of power (hundreds of amps)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Example: Your phone charger uses small diodes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Example: EV battery charger uses power diodes</a:t>
            </a:r>
            <a:endParaRPr lang="en-US" sz="2200" dirty="0"/>
          </a:p>
        </p:txBody>
      </p:sp>
    </p:spTree>
    <p:extLst>
      <p:ext uri="{BB962C8B-B14F-4D97-AF65-F5344CB8AC3E}">
        <p14:creationId xmlns:p14="http://schemas.microsoft.com/office/powerpoint/2010/main" val="809311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Power Diode Structure</a:t>
            </a:r>
            <a:endParaRPr lang="en-US" sz="4000" dirty="0"/>
          </a:p>
        </p:txBody>
      </p:sp>
      <p:sp>
        <p:nvSpPr>
          <p:cNvPr id="3" name="Text 1"/>
          <p:cNvSpPr/>
          <p:nvPr/>
        </p:nvSpPr>
        <p:spPr>
          <a:xfrm>
            <a:off x="707136" y="5654149"/>
            <a:ext cx="10777728"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The thick middle layer helps block high voltage</a:t>
            </a:r>
            <a:endParaRPr lang="en-US" sz="2200" dirty="0"/>
          </a:p>
        </p:txBody>
      </p:sp>
      <p:pic>
        <p:nvPicPr>
          <p:cNvPr id="4" name="Picture 3"/>
          <p:cNvPicPr>
            <a:picLocks noChangeAspect="1"/>
          </p:cNvPicPr>
          <p:nvPr/>
        </p:nvPicPr>
        <p:blipFill rotWithShape="1">
          <a:blip r:embed="rId3"/>
          <a:srcRect b="21203"/>
          <a:stretch/>
        </p:blipFill>
        <p:spPr>
          <a:xfrm>
            <a:off x="1631740" y="1816610"/>
            <a:ext cx="9416672" cy="3419335"/>
          </a:xfrm>
          <a:prstGeom prst="rect">
            <a:avLst/>
          </a:prstGeom>
        </p:spPr>
      </p:pic>
    </p:spTree>
    <p:extLst>
      <p:ext uri="{BB962C8B-B14F-4D97-AF65-F5344CB8AC3E}">
        <p14:creationId xmlns:p14="http://schemas.microsoft.com/office/powerpoint/2010/main" val="1509521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Power Diode Symbol</a:t>
            </a:r>
            <a:endParaRPr lang="en-US" sz="4000" dirty="0"/>
          </a:p>
        </p:txBody>
      </p:sp>
      <p:sp>
        <p:nvSpPr>
          <p:cNvPr id="3" name="Text 1"/>
          <p:cNvSpPr/>
          <p:nvPr/>
        </p:nvSpPr>
        <p:spPr>
          <a:xfrm>
            <a:off x="707136" y="5654149"/>
            <a:ext cx="10777728"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Current flows from Anode to Cathode (like arrow direction)</a:t>
            </a:r>
            <a:endParaRPr lang="en-US" sz="2200" dirty="0"/>
          </a:p>
        </p:txBody>
      </p:sp>
      <p:pic>
        <p:nvPicPr>
          <p:cNvPr id="4" name="Picture 3"/>
          <p:cNvPicPr>
            <a:picLocks noChangeAspect="1"/>
          </p:cNvPicPr>
          <p:nvPr/>
        </p:nvPicPr>
        <p:blipFill>
          <a:blip r:embed="rId3"/>
          <a:stretch>
            <a:fillRect/>
          </a:stretch>
        </p:blipFill>
        <p:spPr>
          <a:xfrm>
            <a:off x="2631121" y="1727413"/>
            <a:ext cx="6249272" cy="3289759"/>
          </a:xfrm>
          <a:prstGeom prst="rect">
            <a:avLst/>
          </a:prstGeom>
        </p:spPr>
      </p:pic>
    </p:spTree>
    <p:extLst>
      <p:ext uri="{BB962C8B-B14F-4D97-AF65-F5344CB8AC3E}">
        <p14:creationId xmlns:p14="http://schemas.microsoft.com/office/powerpoint/2010/main" val="3604242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How Does a Diode Work?</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Forward direction: When anode is positive, diode conducts (like open valve)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Reverse direction: When cathode is positive, diode blocks (like closed valve)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Small voltage drop when conducting: About 0.7V for silicon diodes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This one-way property is called "rectification"</a:t>
            </a:r>
            <a:endParaRPr lang="en-US" sz="2200" dirty="0"/>
          </a:p>
        </p:txBody>
      </p:sp>
    </p:spTree>
    <p:extLst>
      <p:ext uri="{BB962C8B-B14F-4D97-AF65-F5344CB8AC3E}">
        <p14:creationId xmlns:p14="http://schemas.microsoft.com/office/powerpoint/2010/main" val="1513343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Diode Behavior Graph</a:t>
            </a:r>
            <a:endParaRPr lang="en-US" sz="4000" dirty="0"/>
          </a:p>
        </p:txBody>
      </p:sp>
      <p:sp>
        <p:nvSpPr>
          <p:cNvPr id="3" name="Text 1"/>
          <p:cNvSpPr/>
          <p:nvPr/>
        </p:nvSpPr>
        <p:spPr>
          <a:xfrm>
            <a:off x="707136" y="5654149"/>
            <a:ext cx="10777728"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Forward: Diode ON after 0.7V | Reverse: Diode OFF (blocks)</a:t>
            </a:r>
            <a:endParaRPr lang="en-US" sz="2200" dirty="0"/>
          </a:p>
        </p:txBody>
      </p:sp>
      <p:pic>
        <p:nvPicPr>
          <p:cNvPr id="4" name="Picture 3"/>
          <p:cNvPicPr>
            <a:picLocks noChangeAspect="1"/>
          </p:cNvPicPr>
          <p:nvPr/>
        </p:nvPicPr>
        <p:blipFill>
          <a:blip r:embed="rId3"/>
          <a:stretch>
            <a:fillRect/>
          </a:stretch>
        </p:blipFill>
        <p:spPr>
          <a:xfrm>
            <a:off x="1570242" y="1493710"/>
            <a:ext cx="8237157" cy="4089129"/>
          </a:xfrm>
          <a:prstGeom prst="rect">
            <a:avLst/>
          </a:prstGeom>
        </p:spPr>
      </p:pic>
    </p:spTree>
    <p:extLst>
      <p:ext uri="{BB962C8B-B14F-4D97-AF65-F5344CB8AC3E}">
        <p14:creationId xmlns:p14="http://schemas.microsoft.com/office/powerpoint/2010/main" val="2228368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Forward Conduction Explained</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When anode voltage is higher than cathode: Diode turns 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Small voltage drop occurs: Typically 0.7V for silicon, 0.3V for Schottky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This voltage drop causes some heat generation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Example: In a 12V system, diode drops it to 11.3V</a:t>
            </a:r>
            <a:endParaRPr lang="en-US" sz="2200" dirty="0"/>
          </a:p>
        </p:txBody>
      </p:sp>
    </p:spTree>
    <p:extLst>
      <p:ext uri="{BB962C8B-B14F-4D97-AF65-F5344CB8AC3E}">
        <p14:creationId xmlns:p14="http://schemas.microsoft.com/office/powerpoint/2010/main" val="4236510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320"/>
            <a:ext cx="8229600" cy="0"/>
          </a:xfrm>
        </p:spPr>
        <p:txBody>
          <a:bodyPr>
            <a:noAutofit/>
          </a:bodyPr>
          <a:lstStyle/>
          <a:p>
            <a:pPr algn="l"/>
            <a:r>
              <a:rPr sz="4000" b="1" dirty="0">
                <a:latin typeface="Arial"/>
              </a:rPr>
              <a:t>Power Diode V‑I Characteristic</a:t>
            </a:r>
          </a:p>
        </p:txBody>
      </p:sp>
      <p:sp>
        <p:nvSpPr>
          <p:cNvPr id="3" name="TextBox 2"/>
          <p:cNvSpPr txBox="1"/>
          <p:nvPr/>
        </p:nvSpPr>
        <p:spPr>
          <a:xfrm>
            <a:off x="686391" y="1472258"/>
            <a:ext cx="10201349" cy="2123658"/>
          </a:xfrm>
          <a:prstGeom prst="rect">
            <a:avLst/>
          </a:prstGeom>
          <a:noFill/>
        </p:spPr>
        <p:txBody>
          <a:bodyPr wrap="square">
            <a:spAutoFit/>
          </a:bodyPr>
          <a:lstStyle/>
          <a:p>
            <a:pPr marL="342891" indent="-342891">
              <a:lnSpc>
                <a:spcPct val="150000"/>
              </a:lnSpc>
              <a:buFont typeface="Arial" panose="020B0604020202020204" pitchFamily="34" charset="0"/>
              <a:buChar char="•"/>
            </a:pPr>
            <a:r>
              <a:rPr sz="2200" dirty="0">
                <a:latin typeface="Arial"/>
              </a:rPr>
              <a:t>Forward region shows rapid current increase after threshold voltage.</a:t>
            </a:r>
          </a:p>
          <a:p>
            <a:pPr marL="342891" indent="-342891">
              <a:lnSpc>
                <a:spcPct val="150000"/>
              </a:lnSpc>
              <a:buFont typeface="Arial" panose="020B0604020202020204" pitchFamily="34" charset="0"/>
              <a:buChar char="•"/>
            </a:pPr>
            <a:r>
              <a:rPr sz="2200" dirty="0">
                <a:latin typeface="Arial"/>
              </a:rPr>
              <a:t>Reverse region shows very small leakage current.</a:t>
            </a:r>
          </a:p>
          <a:p>
            <a:pPr marL="342891" indent="-342891">
              <a:lnSpc>
                <a:spcPct val="150000"/>
              </a:lnSpc>
              <a:buFont typeface="Arial" panose="020B0604020202020204" pitchFamily="34" charset="0"/>
              <a:buChar char="•"/>
            </a:pPr>
            <a:r>
              <a:rPr sz="2200" dirty="0">
                <a:latin typeface="Arial"/>
              </a:rPr>
              <a:t>Breakdown occurs when reverse voltage exceeds device rating.</a:t>
            </a:r>
          </a:p>
          <a:p>
            <a:pPr marL="342891" indent="-342891">
              <a:lnSpc>
                <a:spcPct val="150000"/>
              </a:lnSpc>
              <a:buFont typeface="Arial" panose="020B0604020202020204" pitchFamily="34" charset="0"/>
              <a:buChar char="•"/>
            </a:pPr>
            <a:r>
              <a:rPr sz="2200" dirty="0">
                <a:latin typeface="Arial"/>
              </a:rPr>
              <a:t>This curve helps estimate conduction losses.</a:t>
            </a:r>
          </a:p>
        </p:txBody>
      </p:sp>
      <p:pic>
        <p:nvPicPr>
          <p:cNvPr id="4" name="Picture 3" descr="diagram_vi.png"/>
          <p:cNvPicPr>
            <a:picLocks noChangeAspect="1"/>
          </p:cNvPicPr>
          <p:nvPr/>
        </p:nvPicPr>
        <p:blipFill>
          <a:blip r:embed="rId2"/>
          <a:stretch>
            <a:fillRect/>
          </a:stretch>
        </p:blipFill>
        <p:spPr>
          <a:xfrm>
            <a:off x="6776737" y="3185042"/>
            <a:ext cx="5141180" cy="3421921"/>
          </a:xfrm>
          <a:prstGeom prst="rect">
            <a:avLst/>
          </a:prstGeom>
        </p:spPr>
      </p:pic>
    </p:spTree>
    <p:extLst>
      <p:ext uri="{BB962C8B-B14F-4D97-AF65-F5344CB8AC3E}">
        <p14:creationId xmlns:p14="http://schemas.microsoft.com/office/powerpoint/2010/main" val="220323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Reverse Blocking</a:t>
            </a:r>
            <a:endParaRPr lang="en-US" sz="4000" dirty="0"/>
          </a:p>
        </p:txBody>
      </p:sp>
      <p:sp>
        <p:nvSpPr>
          <p:cNvPr id="3" name="Text 1"/>
          <p:cNvSpPr/>
          <p:nvPr/>
        </p:nvSpPr>
        <p:spPr>
          <a:xfrm>
            <a:off x="689936" y="1715387"/>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When cathode voltage is higher than anode: Diode turns OFF</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Very small leakage current flows (microamps)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Can block voltage up to its rating (e.g., 600V, 1200V)</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Beyond this voltage: Diode breaks down (gets damaged)</a:t>
            </a:r>
            <a:endParaRPr lang="en-US" sz="2200" dirty="0"/>
          </a:p>
        </p:txBody>
      </p:sp>
    </p:spTree>
    <p:extLst>
      <p:ext uri="{BB962C8B-B14F-4D97-AF65-F5344CB8AC3E}">
        <p14:creationId xmlns:p14="http://schemas.microsoft.com/office/powerpoint/2010/main" val="75237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320"/>
            <a:ext cx="8229600" cy="0"/>
          </a:xfrm>
        </p:spPr>
        <p:txBody>
          <a:bodyPr>
            <a:noAutofit/>
          </a:bodyPr>
          <a:lstStyle/>
          <a:p>
            <a:pPr algn="l"/>
            <a:r>
              <a:rPr sz="4000" b="1" dirty="0">
                <a:latin typeface="Arial"/>
              </a:rPr>
              <a:t>Reverse Recovery</a:t>
            </a:r>
          </a:p>
        </p:txBody>
      </p:sp>
      <p:sp>
        <p:nvSpPr>
          <p:cNvPr id="3" name="TextBox 2"/>
          <p:cNvSpPr txBox="1"/>
          <p:nvPr/>
        </p:nvSpPr>
        <p:spPr>
          <a:xfrm>
            <a:off x="699387" y="1160132"/>
            <a:ext cx="9747693" cy="2123658"/>
          </a:xfrm>
          <a:prstGeom prst="rect">
            <a:avLst/>
          </a:prstGeom>
          <a:noFill/>
        </p:spPr>
        <p:txBody>
          <a:bodyPr wrap="square">
            <a:spAutoFit/>
          </a:bodyPr>
          <a:lstStyle/>
          <a:p>
            <a:pPr marL="342891" indent="-342891">
              <a:lnSpc>
                <a:spcPct val="150000"/>
              </a:lnSpc>
              <a:buFont typeface="Arial" panose="020B0604020202020204" pitchFamily="34" charset="0"/>
              <a:buChar char="•"/>
            </a:pPr>
            <a:r>
              <a:rPr sz="2200" dirty="0">
                <a:latin typeface="Arial"/>
              </a:rPr>
              <a:t>When a diode switches OFF stored charge must be removed.</a:t>
            </a:r>
          </a:p>
          <a:p>
            <a:pPr marL="342891" indent="-342891">
              <a:lnSpc>
                <a:spcPct val="150000"/>
              </a:lnSpc>
              <a:buFont typeface="Arial" panose="020B0604020202020204" pitchFamily="34" charset="0"/>
              <a:buChar char="•"/>
            </a:pPr>
            <a:r>
              <a:rPr sz="2200" dirty="0">
                <a:latin typeface="Arial"/>
              </a:rPr>
              <a:t>This produces reverse current called reverse recovery current.</a:t>
            </a:r>
          </a:p>
          <a:p>
            <a:pPr marL="342891" indent="-342891">
              <a:lnSpc>
                <a:spcPct val="150000"/>
              </a:lnSpc>
              <a:buFont typeface="Arial" panose="020B0604020202020204" pitchFamily="34" charset="0"/>
              <a:buChar char="•"/>
            </a:pPr>
            <a:r>
              <a:rPr sz="2200" dirty="0">
                <a:latin typeface="Arial"/>
              </a:rPr>
              <a:t>Recovery time influences switching losses.</a:t>
            </a:r>
          </a:p>
          <a:p>
            <a:pPr marL="342891" indent="-342891">
              <a:lnSpc>
                <a:spcPct val="150000"/>
              </a:lnSpc>
              <a:buFont typeface="Arial" panose="020B0604020202020204" pitchFamily="34" charset="0"/>
              <a:buChar char="•"/>
            </a:pPr>
            <a:r>
              <a:rPr sz="2200" dirty="0">
                <a:latin typeface="Arial"/>
              </a:rPr>
              <a:t>Fast recovery diodes are used in high frequency converters.</a:t>
            </a:r>
          </a:p>
        </p:txBody>
      </p:sp>
      <p:pic>
        <p:nvPicPr>
          <p:cNvPr id="4" name="Picture 3" descr="diagram_recovery.png"/>
          <p:cNvPicPr>
            <a:picLocks noChangeAspect="1"/>
          </p:cNvPicPr>
          <p:nvPr/>
        </p:nvPicPr>
        <p:blipFill>
          <a:blip r:embed="rId2"/>
          <a:stretch>
            <a:fillRect/>
          </a:stretch>
        </p:blipFill>
        <p:spPr>
          <a:xfrm>
            <a:off x="3892619" y="3596640"/>
            <a:ext cx="5072507" cy="3261360"/>
          </a:xfrm>
          <a:prstGeom prst="rect">
            <a:avLst/>
          </a:prstGeom>
        </p:spPr>
      </p:pic>
    </p:spTree>
    <p:extLst>
      <p:ext uri="{BB962C8B-B14F-4D97-AF65-F5344CB8AC3E}">
        <p14:creationId xmlns:p14="http://schemas.microsoft.com/office/powerpoint/2010/main" val="4269070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Types of Power Diodes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Standard Diodes: Used in AC to DC converters (slow switching)</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Fast Recovery Diodes: Used in high-speed circuits (quick switching)</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Schottky Diodes: Very low voltage drop, used in low-voltage systems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SiC Diodes: Advanced material, used in EVs for better efficiency</a:t>
            </a:r>
            <a:endParaRPr lang="en-US" sz="2200" dirty="0"/>
          </a:p>
        </p:txBody>
      </p:sp>
    </p:spTree>
    <p:extLst>
      <p:ext uri="{BB962C8B-B14F-4D97-AF65-F5344CB8AC3E}">
        <p14:creationId xmlns:p14="http://schemas.microsoft.com/office/powerpoint/2010/main" val="4293263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Where Do We Use Diodes?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Mobile phone chargers: Converting AC wall power to DC</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Laptop adapters: Rectifying AC to charge battery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Solar panels: Preventing reverse current at night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LED lights: Controlling current direction</a:t>
            </a:r>
            <a:endParaRPr lang="en-US" sz="2200" dirty="0"/>
          </a:p>
        </p:txBody>
      </p:sp>
    </p:spTree>
    <p:extLst>
      <p:ext uri="{BB962C8B-B14F-4D97-AF65-F5344CB8AC3E}">
        <p14:creationId xmlns:p14="http://schemas.microsoft.com/office/powerpoint/2010/main" val="522765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Diodes in Electric Vehicles (Part 1)</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Battery charger: Converting AC from wall to DC for battery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Freewheeling diodes: Protecting motor controller circuits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Reverse polarity protection: Preventing wrong battery connections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DC-DC converter: Stepping down voltage for 12V accessories</a:t>
            </a:r>
            <a:endParaRPr lang="en-US" sz="2200" dirty="0"/>
          </a:p>
        </p:txBody>
      </p:sp>
    </p:spTree>
    <p:extLst>
      <p:ext uri="{BB962C8B-B14F-4D97-AF65-F5344CB8AC3E}">
        <p14:creationId xmlns:p14="http://schemas.microsoft.com/office/powerpoint/2010/main" val="390225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Diodes in Electric Vehicles (Part 2)</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Regenerative braking: Diodes handle reverse current from motor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Battery management system: Preventing cell discharge in wrong direction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Isolation sensing: Detecting ground faults for safety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These applications improve safety and efficiency</a:t>
            </a:r>
            <a:endParaRPr lang="en-US" sz="2200" dirty="0"/>
          </a:p>
        </p:txBody>
      </p:sp>
    </p:spTree>
    <p:extLst>
      <p:ext uri="{BB962C8B-B14F-4D97-AF65-F5344CB8AC3E}">
        <p14:creationId xmlns:p14="http://schemas.microsoft.com/office/powerpoint/2010/main" val="116354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54690" y="2479148"/>
            <a:ext cx="6882623" cy="609600"/>
          </a:xfrm>
          <a:prstGeom prst="rect">
            <a:avLst/>
          </a:prstGeom>
          <a:noFill/>
          <a:ln/>
        </p:spPr>
        <p:txBody>
          <a:bodyPr wrap="square" lIns="0" tIns="0" rIns="0" bIns="0" rtlCol="0" anchor="t"/>
          <a:lstStyle/>
          <a:p>
            <a:pPr algn="ctr">
              <a:lnSpc>
                <a:spcPts val="4800"/>
              </a:lnSpc>
            </a:pPr>
            <a:r>
              <a:rPr lang="en-US" sz="4000" b="1" dirty="0">
                <a:solidFill>
                  <a:srgbClr val="000000"/>
                </a:solidFill>
                <a:latin typeface="Arial" pitchFamily="34" charset="0"/>
                <a:ea typeface="Arial" pitchFamily="34" charset="-122"/>
                <a:cs typeface="Arial" pitchFamily="34" charset="-120"/>
              </a:rPr>
              <a:t>Power Electronics Switches</a:t>
            </a:r>
            <a:endParaRPr lang="en-US" sz="4000" dirty="0"/>
          </a:p>
        </p:txBody>
      </p:sp>
      <p:sp>
        <p:nvSpPr>
          <p:cNvPr id="3" name="Text 1"/>
          <p:cNvSpPr/>
          <p:nvPr/>
        </p:nvSpPr>
        <p:spPr>
          <a:xfrm>
            <a:off x="1985670" y="3393549"/>
            <a:ext cx="8220663"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Controllable switches that turn ON and OFF like electronic valves</a:t>
            </a:r>
            <a:endParaRPr lang="en-US" sz="2200" dirty="0"/>
          </a:p>
        </p:txBody>
      </p:sp>
      <p:sp>
        <p:nvSpPr>
          <p:cNvPr id="4" name="Text 2"/>
          <p:cNvSpPr/>
          <p:nvPr/>
        </p:nvSpPr>
        <p:spPr>
          <a:xfrm>
            <a:off x="3268387" y="3987801"/>
            <a:ext cx="5655096"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Unlike diodes, we can control these switches</a:t>
            </a:r>
            <a:endParaRPr lang="en-US" sz="2200" dirty="0"/>
          </a:p>
        </p:txBody>
      </p:sp>
    </p:spTree>
    <p:extLst>
      <p:ext uri="{BB962C8B-B14F-4D97-AF65-F5344CB8AC3E}">
        <p14:creationId xmlns:p14="http://schemas.microsoft.com/office/powerpoint/2010/main" val="1999249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What is a Power Switch?</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Electronic component that can be turned ON or OFF by a control signal</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Acts like a light switch but works electronically at high speed</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Can switch thousands of times per second</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Main types: MOSFET, IGBT, Thyristor, GTO</a:t>
            </a:r>
            <a:endParaRPr lang="en-US" sz="2200" dirty="0"/>
          </a:p>
        </p:txBody>
      </p:sp>
    </p:spTree>
    <p:extLst>
      <p:ext uri="{BB962C8B-B14F-4D97-AF65-F5344CB8AC3E}">
        <p14:creationId xmlns:p14="http://schemas.microsoft.com/office/powerpoint/2010/main" val="629951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Main Types of Power Switches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MOSFET: Fast switching, used in laptops and small EVs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IGBT: High power, used in large EV motors and trains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Thyristor (SCR): Very high power, used in industrial applications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GTO: Improved thyristor with better control</a:t>
            </a:r>
            <a:endParaRPr lang="en-US" sz="2200" dirty="0"/>
          </a:p>
        </p:txBody>
      </p:sp>
    </p:spTree>
    <p:extLst>
      <p:ext uri="{BB962C8B-B14F-4D97-AF65-F5344CB8AC3E}">
        <p14:creationId xmlns:p14="http://schemas.microsoft.com/office/powerpoint/2010/main" val="4222240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MOSFET- </a:t>
            </a:r>
            <a:r>
              <a:rPr lang="en-IN" sz="2400" b="1" dirty="0"/>
              <a:t>Metal-Oxide-Semiconductor Field-Effect Transistor</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Stands for: Metal-Oxide-Semiconductor Field-Effect Transistor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Think of it as a voltage-controlled tap for electricity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Has three terminals: Gate (control), Drain (input), Source (output)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Apply voltage to Gate to turn ON, remove voltage to turn OFF</a:t>
            </a:r>
            <a:endParaRPr lang="en-US" sz="2200" dirty="0"/>
          </a:p>
        </p:txBody>
      </p:sp>
    </p:spTree>
    <p:extLst>
      <p:ext uri="{BB962C8B-B14F-4D97-AF65-F5344CB8AC3E}">
        <p14:creationId xmlns:p14="http://schemas.microsoft.com/office/powerpoint/2010/main" val="2020264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MOSFET Structure Simplified</a:t>
            </a:r>
            <a:endParaRPr lang="en-US" sz="4000" dirty="0"/>
          </a:p>
        </p:txBody>
      </p:sp>
      <p:pic>
        <p:nvPicPr>
          <p:cNvPr id="3" name="Picture 2"/>
          <p:cNvPicPr>
            <a:picLocks noChangeAspect="1"/>
          </p:cNvPicPr>
          <p:nvPr/>
        </p:nvPicPr>
        <p:blipFill>
          <a:blip r:embed="rId3"/>
          <a:stretch>
            <a:fillRect/>
          </a:stretch>
        </p:blipFill>
        <p:spPr>
          <a:xfrm>
            <a:off x="1770576" y="1637246"/>
            <a:ext cx="7623880" cy="3903009"/>
          </a:xfrm>
          <a:prstGeom prst="rect">
            <a:avLst/>
          </a:prstGeom>
        </p:spPr>
      </p:pic>
    </p:spTree>
    <p:extLst>
      <p:ext uri="{BB962C8B-B14F-4D97-AF65-F5344CB8AC3E}">
        <p14:creationId xmlns:p14="http://schemas.microsoft.com/office/powerpoint/2010/main" val="4186535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How Does MOSFET Work?</a:t>
            </a:r>
            <a:endParaRPr lang="en-US" sz="4000" dirty="0"/>
          </a:p>
        </p:txBody>
      </p:sp>
      <p:sp>
        <p:nvSpPr>
          <p:cNvPr id="3" name="Text 1"/>
          <p:cNvSpPr/>
          <p:nvPr/>
        </p:nvSpPr>
        <p:spPr>
          <a:xfrm>
            <a:off x="1219200" y="1727200"/>
            <a:ext cx="10160000" cy="3461488"/>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Apply positive voltage to Gate (e.g., 10-15V): MOSFET turns 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Current flows from Drain to Source (like tap is open)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Remove Gate voltage (0V): MOSFET turns OFF</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No current flows from Drain to Source (like tap is closed)</a:t>
            </a:r>
          </a:p>
          <a:p>
            <a:pPr marL="380990" indent="-380990">
              <a:lnSpc>
                <a:spcPct val="150000"/>
              </a:lnSpc>
              <a:buFont typeface="Arial" panose="020B0604020202020204" pitchFamily="34" charset="0"/>
              <a:buChar char="•"/>
            </a:pPr>
            <a:r>
              <a:rPr lang="en-US" sz="2400" dirty="0">
                <a:latin typeface="Arial"/>
              </a:rPr>
              <a:t>It requires almost zero steady‑state gate current.</a:t>
            </a:r>
          </a:p>
          <a:p>
            <a:pPr marL="380990" indent="-380990">
              <a:lnSpc>
                <a:spcPct val="150000"/>
              </a:lnSpc>
              <a:buFont typeface="Arial" panose="020B0604020202020204" pitchFamily="34" charset="0"/>
              <a:buChar char="•"/>
            </a:pPr>
            <a:r>
              <a:rPr lang="en-US" sz="2400" dirty="0">
                <a:latin typeface="Arial"/>
              </a:rPr>
              <a:t>Commonly used in EV DC‑DC converters.</a:t>
            </a:r>
          </a:p>
          <a:p>
            <a:pPr marL="457189" indent="-457189">
              <a:lnSpc>
                <a:spcPts val="3960"/>
              </a:lnSpc>
              <a:buSzPct val="100000"/>
              <a:buChar char="•"/>
            </a:pPr>
            <a:endParaRPr lang="en-US" sz="2200" dirty="0"/>
          </a:p>
        </p:txBody>
      </p:sp>
      <p:pic>
        <p:nvPicPr>
          <p:cNvPr id="4" name="Picture 3"/>
          <p:cNvPicPr>
            <a:picLocks noChangeAspect="1"/>
          </p:cNvPicPr>
          <p:nvPr/>
        </p:nvPicPr>
        <p:blipFill>
          <a:blip r:embed="rId3"/>
          <a:stretch>
            <a:fillRect/>
          </a:stretch>
        </p:blipFill>
        <p:spPr>
          <a:xfrm>
            <a:off x="8689630" y="3610344"/>
            <a:ext cx="3197572" cy="2654195"/>
          </a:xfrm>
          <a:prstGeom prst="rect">
            <a:avLst/>
          </a:prstGeom>
        </p:spPr>
      </p:pic>
      <p:sp>
        <p:nvSpPr>
          <p:cNvPr id="5" name="Text 1"/>
          <p:cNvSpPr/>
          <p:nvPr/>
        </p:nvSpPr>
        <p:spPr>
          <a:xfrm>
            <a:off x="6999213" y="6069011"/>
            <a:ext cx="5294352"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Control voltage at Gate turns the switch ON/OFF</a:t>
            </a:r>
            <a:endParaRPr lang="en-US" sz="2200" dirty="0"/>
          </a:p>
        </p:txBody>
      </p:sp>
    </p:spTree>
    <p:extLst>
      <p:ext uri="{BB962C8B-B14F-4D97-AF65-F5344CB8AC3E}">
        <p14:creationId xmlns:p14="http://schemas.microsoft.com/office/powerpoint/2010/main" val="3588650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MOSFET Key Features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Very fast switching: Can turn ON/OFF in nanoseconds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Low control power: Gate needs very little current to operate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Commonly used in: DC-DC converters, laptop chargers, small EV converters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Good for low to medium voltage applications (up to 600V)</a:t>
            </a:r>
            <a:endParaRPr lang="en-US" sz="2200" dirty="0"/>
          </a:p>
        </p:txBody>
      </p:sp>
    </p:spTree>
    <p:extLst>
      <p:ext uri="{BB962C8B-B14F-4D97-AF65-F5344CB8AC3E}">
        <p14:creationId xmlns:p14="http://schemas.microsoft.com/office/powerpoint/2010/main" val="2748912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MOSFET Applications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Laptop power supplies: Regulating voltage for battery charging</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LED drivers: Controlling brightness of LED lights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Motor speed controllers: Adjusting fan or pump speeds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DC-DC converters in EVs: Stepping down high voltage to 12V</a:t>
            </a:r>
            <a:endParaRPr lang="en-US" sz="2200" dirty="0"/>
          </a:p>
        </p:txBody>
      </p:sp>
    </p:spTree>
    <p:extLst>
      <p:ext uri="{BB962C8B-B14F-4D97-AF65-F5344CB8AC3E}">
        <p14:creationId xmlns:p14="http://schemas.microsoft.com/office/powerpoint/2010/main" val="1056083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IGBT - </a:t>
            </a:r>
            <a:r>
              <a:rPr lang="en-IN" sz="2400" b="1" dirty="0"/>
              <a:t>Insulated Gate Bipolar Transistor</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Stands for: Insulated Gate Bipolar Transistor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Combination of MOSFET (easy control) and BJT (high power)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Has three terminals: Gate (control), Collector (input), Emitter (output)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Used when we need high power handling with simple control</a:t>
            </a:r>
            <a:endParaRPr lang="en-US" sz="2200" dirty="0"/>
          </a:p>
        </p:txBody>
      </p:sp>
    </p:spTree>
    <p:extLst>
      <p:ext uri="{BB962C8B-B14F-4D97-AF65-F5344CB8AC3E}">
        <p14:creationId xmlns:p14="http://schemas.microsoft.com/office/powerpoint/2010/main" val="3305695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How Does IGBT Work?</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Apply positive voltage to Gate (10-15V): IGBT turns 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Current flows from Collector to Emitter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Remove Gate voltage: IGBT turns OFF (with small delay)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Combines easy control of MOSFET with power handling of BJT</a:t>
            </a:r>
            <a:endParaRPr lang="en-US" sz="2200" dirty="0"/>
          </a:p>
        </p:txBody>
      </p:sp>
      <p:pic>
        <p:nvPicPr>
          <p:cNvPr id="4" name="Picture 3"/>
          <p:cNvPicPr>
            <a:picLocks noChangeAspect="1"/>
          </p:cNvPicPr>
          <p:nvPr/>
        </p:nvPicPr>
        <p:blipFill>
          <a:blip r:embed="rId3"/>
          <a:stretch>
            <a:fillRect/>
          </a:stretch>
        </p:blipFill>
        <p:spPr>
          <a:xfrm>
            <a:off x="1332417" y="3776996"/>
            <a:ext cx="3270300" cy="2661197"/>
          </a:xfrm>
          <a:prstGeom prst="rect">
            <a:avLst/>
          </a:prstGeom>
        </p:spPr>
      </p:pic>
      <p:sp>
        <p:nvSpPr>
          <p:cNvPr id="5" name="Text 1"/>
          <p:cNvSpPr/>
          <p:nvPr/>
        </p:nvSpPr>
        <p:spPr>
          <a:xfrm>
            <a:off x="4093858" y="4831903"/>
            <a:ext cx="7496671"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Similar to MOSFET but with arrow showing bipolar nature</a:t>
            </a:r>
            <a:endParaRPr lang="en-US" sz="2200" dirty="0"/>
          </a:p>
        </p:txBody>
      </p:sp>
    </p:spTree>
    <p:extLst>
      <p:ext uri="{BB962C8B-B14F-4D97-AF65-F5344CB8AC3E}">
        <p14:creationId xmlns:p14="http://schemas.microsoft.com/office/powerpoint/2010/main" val="286733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IGBT Key Features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Can handle very high power (hundreds of kilowatts)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Lower voltage drop when ON compared to MOSFET (less heat)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Moderate switching speed (slower than MOSFET but still fast)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Commonly used in: Large EV motors, industrial drives, trains</a:t>
            </a:r>
            <a:endParaRPr lang="en-US" sz="2200" dirty="0"/>
          </a:p>
        </p:txBody>
      </p:sp>
    </p:spTree>
    <p:extLst>
      <p:ext uri="{BB962C8B-B14F-4D97-AF65-F5344CB8AC3E}">
        <p14:creationId xmlns:p14="http://schemas.microsoft.com/office/powerpoint/2010/main" val="1828529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1727200"/>
            <a:ext cx="5130800" cy="3434027"/>
          </a:xfrm>
          <a:prstGeom prst="rect">
            <a:avLst/>
          </a:prstGeom>
          <a:noFill/>
          <a:ln w="19050">
            <a:solidFill>
              <a:srgbClr val="000000"/>
            </a:solidFill>
          </a:ln>
        </p:spPr>
        <p:txBody>
          <a:bodyPr wrap="none" lIns="0" tIns="0" rIns="0" bIns="0" rtlCol="0" anchor="ctr">
            <a:normAutofit/>
          </a:bodyPr>
          <a:lstStyle/>
          <a:p>
            <a:endParaRPr lang="en-US" sz="2400" dirty="0"/>
          </a:p>
        </p:txBody>
      </p:sp>
      <p:sp>
        <p:nvSpPr>
          <p:cNvPr id="3" name="Text 1"/>
          <p:cNvSpPr/>
          <p:nvPr/>
        </p:nvSpPr>
        <p:spPr>
          <a:xfrm>
            <a:off x="6248400" y="1727200"/>
            <a:ext cx="5130800" cy="3434027"/>
          </a:xfrm>
          <a:prstGeom prst="rect">
            <a:avLst/>
          </a:prstGeom>
          <a:noFill/>
          <a:ln w="19050">
            <a:solidFill>
              <a:srgbClr val="000000"/>
            </a:solidFill>
          </a:ln>
        </p:spPr>
        <p:txBody>
          <a:bodyPr wrap="none" lIns="0" tIns="0" rIns="0" bIns="0" rtlCol="0" anchor="ctr">
            <a:normAutofit/>
          </a:bodyPr>
          <a:lstStyle/>
          <a:p>
            <a:endParaRPr lang="en-US" sz="2400" dirty="0"/>
          </a:p>
        </p:txBody>
      </p:sp>
      <p:sp>
        <p:nvSpPr>
          <p:cNvPr id="4" name="Text 2"/>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MOSFET vs IGBT - Quick Comparison</a:t>
            </a:r>
            <a:endParaRPr lang="en-US" sz="4000" dirty="0"/>
          </a:p>
        </p:txBody>
      </p:sp>
      <p:sp>
        <p:nvSpPr>
          <p:cNvPr id="5" name="Text 3"/>
          <p:cNvSpPr/>
          <p:nvPr/>
        </p:nvSpPr>
        <p:spPr>
          <a:xfrm>
            <a:off x="1098296" y="2057400"/>
            <a:ext cx="4559808" cy="335227"/>
          </a:xfrm>
          <a:prstGeom prst="rect">
            <a:avLst/>
          </a:prstGeom>
          <a:noFill/>
          <a:ln/>
        </p:spPr>
        <p:txBody>
          <a:bodyPr wrap="square" lIns="0" tIns="0" rIns="0" bIns="0" rtlCol="0" anchor="t"/>
          <a:lstStyle/>
          <a:p>
            <a:pPr algn="ctr">
              <a:lnSpc>
                <a:spcPts val="2640"/>
              </a:lnSpc>
            </a:pPr>
            <a:r>
              <a:rPr lang="en-US" sz="2200" b="1" dirty="0">
                <a:solidFill>
                  <a:srgbClr val="000000"/>
                </a:solidFill>
                <a:latin typeface="Arial" pitchFamily="34" charset="0"/>
                <a:ea typeface="Arial" pitchFamily="34" charset="-122"/>
                <a:cs typeface="Arial" pitchFamily="34" charset="-120"/>
              </a:rPr>
              <a:t>MOSFET</a:t>
            </a:r>
            <a:endParaRPr lang="en-US" sz="2200" dirty="0"/>
          </a:p>
        </p:txBody>
      </p:sp>
      <p:sp>
        <p:nvSpPr>
          <p:cNvPr id="6" name="Text 4"/>
          <p:cNvSpPr/>
          <p:nvPr/>
        </p:nvSpPr>
        <p:spPr>
          <a:xfrm>
            <a:off x="1447800" y="2545036"/>
            <a:ext cx="4165600" cy="2286000"/>
          </a:xfrm>
          <a:prstGeom prst="rect">
            <a:avLst/>
          </a:prstGeom>
          <a:noFill/>
          <a:ln/>
        </p:spPr>
        <p:txBody>
          <a:bodyPr wrap="square" lIns="0" tIns="0" rIns="0" bIns="0" rtlCol="0" anchor="t"/>
          <a:lstStyle/>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Very fast switching</a:t>
            </a:r>
            <a:endParaRPr lang="en-US" sz="2000" dirty="0"/>
          </a:p>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Low to medium power</a:t>
            </a:r>
            <a:endParaRPr lang="en-US" sz="2000" dirty="0"/>
          </a:p>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Used in: Laptop chargers</a:t>
            </a:r>
            <a:endParaRPr lang="en-US" sz="2000" dirty="0"/>
          </a:p>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Good for high frequency</a:t>
            </a:r>
            <a:endParaRPr lang="en-US" sz="2000" dirty="0"/>
          </a:p>
        </p:txBody>
      </p:sp>
      <p:sp>
        <p:nvSpPr>
          <p:cNvPr id="7" name="Text 5"/>
          <p:cNvSpPr/>
          <p:nvPr/>
        </p:nvSpPr>
        <p:spPr>
          <a:xfrm>
            <a:off x="6533896" y="2057400"/>
            <a:ext cx="4559808" cy="335227"/>
          </a:xfrm>
          <a:prstGeom prst="rect">
            <a:avLst/>
          </a:prstGeom>
          <a:noFill/>
          <a:ln/>
        </p:spPr>
        <p:txBody>
          <a:bodyPr wrap="square" lIns="0" tIns="0" rIns="0" bIns="0" rtlCol="0" anchor="t"/>
          <a:lstStyle/>
          <a:p>
            <a:pPr algn="ctr">
              <a:lnSpc>
                <a:spcPts val="2640"/>
              </a:lnSpc>
            </a:pPr>
            <a:r>
              <a:rPr lang="en-US" sz="2200" b="1" dirty="0">
                <a:solidFill>
                  <a:srgbClr val="000000"/>
                </a:solidFill>
                <a:latin typeface="Arial" pitchFamily="34" charset="0"/>
                <a:ea typeface="Arial" pitchFamily="34" charset="-122"/>
                <a:cs typeface="Arial" pitchFamily="34" charset="-120"/>
              </a:rPr>
              <a:t>IGBT</a:t>
            </a:r>
            <a:endParaRPr lang="en-US" sz="2200" dirty="0"/>
          </a:p>
        </p:txBody>
      </p:sp>
      <p:sp>
        <p:nvSpPr>
          <p:cNvPr id="8" name="Text 6"/>
          <p:cNvSpPr/>
          <p:nvPr/>
        </p:nvSpPr>
        <p:spPr>
          <a:xfrm>
            <a:off x="6883400" y="2545036"/>
            <a:ext cx="4165600" cy="2286000"/>
          </a:xfrm>
          <a:prstGeom prst="rect">
            <a:avLst/>
          </a:prstGeom>
          <a:noFill/>
          <a:ln/>
        </p:spPr>
        <p:txBody>
          <a:bodyPr wrap="square" lIns="0" tIns="0" rIns="0" bIns="0" rtlCol="0" anchor="t"/>
          <a:lstStyle/>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Moderate speed</a:t>
            </a:r>
            <a:endParaRPr lang="en-US" sz="2000" dirty="0"/>
          </a:p>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High power handling</a:t>
            </a:r>
            <a:endParaRPr lang="en-US" sz="2000" dirty="0"/>
          </a:p>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Used in: EV motors</a:t>
            </a:r>
            <a:endParaRPr lang="en-US" sz="2000" dirty="0"/>
          </a:p>
          <a:p>
            <a:pPr marL="457189" indent="-457189">
              <a:lnSpc>
                <a:spcPts val="3600"/>
              </a:lnSpc>
              <a:buSzPct val="100000"/>
              <a:buChar char="•"/>
            </a:pPr>
            <a:r>
              <a:rPr lang="en-US" sz="2000" dirty="0">
                <a:solidFill>
                  <a:srgbClr val="000000"/>
                </a:solidFill>
                <a:latin typeface="Arial" pitchFamily="34" charset="0"/>
                <a:ea typeface="Arial" pitchFamily="34" charset="-122"/>
                <a:cs typeface="Arial" pitchFamily="34" charset="-120"/>
              </a:rPr>
              <a:t>Good for high voltage</a:t>
            </a:r>
            <a:endParaRPr lang="en-US" sz="2000" dirty="0"/>
          </a:p>
        </p:txBody>
      </p:sp>
    </p:spTree>
    <p:extLst>
      <p:ext uri="{BB962C8B-B14F-4D97-AF65-F5344CB8AC3E}">
        <p14:creationId xmlns:p14="http://schemas.microsoft.com/office/powerpoint/2010/main" val="1261392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IGBT Applications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Electric vehicle traction inverters: Driving the main motor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Industrial motor drives: Controlling large pumps and compressors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Railway traction: Electric trains and metro systems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Welding machines: High current switching for arc welding</a:t>
            </a:r>
            <a:endParaRPr lang="en-US" sz="2200" dirty="0"/>
          </a:p>
        </p:txBody>
      </p:sp>
    </p:spTree>
    <p:extLst>
      <p:ext uri="{BB962C8B-B14F-4D97-AF65-F5344CB8AC3E}">
        <p14:creationId xmlns:p14="http://schemas.microsoft.com/office/powerpoint/2010/main" val="586229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Thyristor (SCR) - </a:t>
            </a:r>
            <a:r>
              <a:rPr lang="en-US" sz="4267" dirty="0">
                <a:solidFill>
                  <a:srgbClr val="000000"/>
                </a:solidFill>
                <a:latin typeface="Arial" pitchFamily="34" charset="0"/>
                <a:ea typeface="Arial" pitchFamily="34" charset="-122"/>
                <a:cs typeface="Arial" pitchFamily="34" charset="-120"/>
              </a:rPr>
              <a:t>Silicon Controlled Rectifier</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Acts like a controllable diode that latches 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Has three terminals: Anode, Cathode, Gate (trigger)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Once turned ON, it stays ON until current is stopped</a:t>
            </a:r>
            <a:endParaRPr lang="en-US" sz="2200" dirty="0"/>
          </a:p>
        </p:txBody>
      </p:sp>
      <p:pic>
        <p:nvPicPr>
          <p:cNvPr id="4" name="Picture 3"/>
          <p:cNvPicPr>
            <a:picLocks noChangeAspect="1"/>
          </p:cNvPicPr>
          <p:nvPr/>
        </p:nvPicPr>
        <p:blipFill>
          <a:blip r:embed="rId3"/>
          <a:stretch>
            <a:fillRect/>
          </a:stretch>
        </p:blipFill>
        <p:spPr>
          <a:xfrm>
            <a:off x="8588846" y="1778629"/>
            <a:ext cx="2881234" cy="3198724"/>
          </a:xfrm>
          <a:prstGeom prst="rect">
            <a:avLst/>
          </a:prstGeom>
        </p:spPr>
      </p:pic>
    </p:spTree>
    <p:extLst>
      <p:ext uri="{BB962C8B-B14F-4D97-AF65-F5344CB8AC3E}">
        <p14:creationId xmlns:p14="http://schemas.microsoft.com/office/powerpoint/2010/main" val="603979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Thyristor Structure</a:t>
            </a:r>
            <a:endParaRPr lang="en-US" sz="4000" dirty="0"/>
          </a:p>
        </p:txBody>
      </p:sp>
      <p:sp>
        <p:nvSpPr>
          <p:cNvPr id="5" name="Rectangle 4"/>
          <p:cNvSpPr/>
          <p:nvPr/>
        </p:nvSpPr>
        <p:spPr>
          <a:xfrm>
            <a:off x="335516" y="1622884"/>
            <a:ext cx="6096000" cy="4196020"/>
          </a:xfrm>
          <a:prstGeom prst="rect">
            <a:avLst/>
          </a:prstGeom>
        </p:spPr>
        <p:txBody>
          <a:bodyPr>
            <a:spAutoFit/>
          </a:bodyPr>
          <a:lstStyle/>
          <a:p>
            <a:pPr marL="457189" indent="-457189">
              <a:lnSpc>
                <a:spcPts val="3960"/>
              </a:lnSpc>
              <a:buSzPct val="100000"/>
              <a:buChar char="•"/>
            </a:pPr>
            <a:r>
              <a:rPr lang="en-US" sz="2400" dirty="0">
                <a:solidFill>
                  <a:srgbClr val="000000"/>
                </a:solidFill>
                <a:latin typeface="Arial" pitchFamily="34" charset="0"/>
                <a:ea typeface="Arial" pitchFamily="34" charset="-122"/>
                <a:cs typeface="Arial" pitchFamily="34" charset="-120"/>
              </a:rPr>
              <a:t>Step 1: Anode must be positive with respect to cathode</a:t>
            </a:r>
            <a:endParaRPr lang="en-US" sz="2400" dirty="0"/>
          </a:p>
          <a:p>
            <a:pPr marL="457189" indent="-457189">
              <a:lnSpc>
                <a:spcPts val="3960"/>
              </a:lnSpc>
              <a:buSzPct val="100000"/>
              <a:buChar char="•"/>
            </a:pPr>
            <a:r>
              <a:rPr lang="en-US" sz="2400" dirty="0">
                <a:solidFill>
                  <a:srgbClr val="000000"/>
                </a:solidFill>
                <a:latin typeface="Arial" pitchFamily="34" charset="0"/>
                <a:ea typeface="Arial" pitchFamily="34" charset="-122"/>
                <a:cs typeface="Arial" pitchFamily="34" charset="-120"/>
              </a:rPr>
              <a:t>Step 2: Apply small positive pulse to Gate to trigger</a:t>
            </a:r>
            <a:endParaRPr lang="en-US" sz="2400" dirty="0"/>
          </a:p>
          <a:p>
            <a:pPr marL="457189" indent="-457189">
              <a:lnSpc>
                <a:spcPts val="3960"/>
              </a:lnSpc>
              <a:buSzPct val="100000"/>
              <a:buChar char="•"/>
            </a:pPr>
            <a:r>
              <a:rPr lang="en-US" sz="2400" dirty="0">
                <a:solidFill>
                  <a:srgbClr val="000000"/>
                </a:solidFill>
                <a:latin typeface="Arial" pitchFamily="34" charset="0"/>
                <a:ea typeface="Arial" pitchFamily="34" charset="-122"/>
                <a:cs typeface="Arial" pitchFamily="34" charset="-120"/>
              </a:rPr>
              <a:t>Step 3: </a:t>
            </a:r>
            <a:r>
              <a:rPr lang="en-US" sz="2400" dirty="0" err="1">
                <a:solidFill>
                  <a:srgbClr val="000000"/>
                </a:solidFill>
                <a:latin typeface="Arial" pitchFamily="34" charset="0"/>
                <a:ea typeface="Arial" pitchFamily="34" charset="-122"/>
                <a:cs typeface="Arial" pitchFamily="34" charset="-120"/>
              </a:rPr>
              <a:t>Thyristor</a:t>
            </a:r>
            <a:r>
              <a:rPr lang="en-US" sz="2400" dirty="0">
                <a:solidFill>
                  <a:srgbClr val="000000"/>
                </a:solidFill>
                <a:latin typeface="Arial" pitchFamily="34" charset="0"/>
                <a:ea typeface="Arial" pitchFamily="34" charset="-122"/>
                <a:cs typeface="Arial" pitchFamily="34" charset="-120"/>
              </a:rPr>
              <a:t> latches ON and stays ON</a:t>
            </a:r>
            <a:endParaRPr lang="en-US" sz="2400" dirty="0"/>
          </a:p>
          <a:p>
            <a:pPr marL="457189" indent="-457189">
              <a:lnSpc>
                <a:spcPts val="3960"/>
              </a:lnSpc>
              <a:buSzPct val="100000"/>
              <a:buChar char="•"/>
            </a:pPr>
            <a:r>
              <a:rPr lang="en-US" sz="2400" dirty="0">
                <a:solidFill>
                  <a:srgbClr val="000000"/>
                </a:solidFill>
                <a:latin typeface="Arial" pitchFamily="34" charset="0"/>
                <a:ea typeface="Arial" pitchFamily="34" charset="-122"/>
                <a:cs typeface="Arial" pitchFamily="34" charset="-120"/>
              </a:rPr>
              <a:t>Step 4: To turn OFF, reduce anode current to zero</a:t>
            </a:r>
            <a:endParaRPr lang="en-US" sz="2400" dirty="0"/>
          </a:p>
        </p:txBody>
      </p:sp>
      <p:pic>
        <p:nvPicPr>
          <p:cNvPr id="6" name="Picture 5"/>
          <p:cNvPicPr>
            <a:picLocks noChangeAspect="1"/>
          </p:cNvPicPr>
          <p:nvPr/>
        </p:nvPicPr>
        <p:blipFill>
          <a:blip r:embed="rId3"/>
          <a:stretch>
            <a:fillRect/>
          </a:stretch>
        </p:blipFill>
        <p:spPr>
          <a:xfrm>
            <a:off x="7844128" y="1622884"/>
            <a:ext cx="2881234" cy="3198724"/>
          </a:xfrm>
          <a:prstGeom prst="rect">
            <a:avLst/>
          </a:prstGeom>
        </p:spPr>
      </p:pic>
    </p:spTree>
    <p:extLst>
      <p:ext uri="{BB962C8B-B14F-4D97-AF65-F5344CB8AC3E}">
        <p14:creationId xmlns:p14="http://schemas.microsoft.com/office/powerpoint/2010/main" val="3569103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Thyristor Key Features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Can handle extremely high power (megawatts)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Once triggered, Gate loses control (latching behavior)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Used in AC circuits where current naturally goes to zero</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Very low voltage drop when conducting (efficient)</a:t>
            </a:r>
            <a:endParaRPr lang="en-US" sz="2200" dirty="0"/>
          </a:p>
        </p:txBody>
      </p:sp>
    </p:spTree>
    <p:extLst>
      <p:ext uri="{BB962C8B-B14F-4D97-AF65-F5344CB8AC3E}">
        <p14:creationId xmlns:p14="http://schemas.microsoft.com/office/powerpoint/2010/main" val="207180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Thyristor Applications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AC motor speed controllers: Industrial fans and pumps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Light dimmers: Controlling brightness of AC lights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Battery chargers: High-power charging systems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HVDC transmission: High-voltage DC power lines</a:t>
            </a:r>
            <a:endParaRPr lang="en-US" sz="2200" dirty="0"/>
          </a:p>
        </p:txBody>
      </p:sp>
    </p:spTree>
    <p:extLst>
      <p:ext uri="{BB962C8B-B14F-4D97-AF65-F5344CB8AC3E}">
        <p14:creationId xmlns:p14="http://schemas.microsoft.com/office/powerpoint/2010/main" val="4201740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GTO - Gate Turn-Off Thyristor</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Improved version of thyristor with better control</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Can be turned ON by positive gate signal</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Can be turned OFF by negative gate signal (unlike SCR)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Used where we need full control over high power</a:t>
            </a:r>
            <a:endParaRPr lang="en-US" sz="2200" dirty="0"/>
          </a:p>
        </p:txBody>
      </p:sp>
    </p:spTree>
    <p:extLst>
      <p:ext uri="{BB962C8B-B14F-4D97-AF65-F5344CB8AC3E}">
        <p14:creationId xmlns:p14="http://schemas.microsoft.com/office/powerpoint/2010/main" val="2072625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Silicon Carbide (SiC) Devices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Made from Silicon Carbide instead of regular Silicon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Can work at much higher temperatures (200°C vs 150°C)</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Handle higher voltage with smaller size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Faster switching with lower losses</a:t>
            </a:r>
            <a:endParaRPr lang="en-US" sz="2200" dirty="0"/>
          </a:p>
        </p:txBody>
      </p:sp>
    </p:spTree>
    <p:extLst>
      <p:ext uri="{BB962C8B-B14F-4D97-AF65-F5344CB8AC3E}">
        <p14:creationId xmlns:p14="http://schemas.microsoft.com/office/powerpoint/2010/main" val="1575308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SiC Advantages for Electric Vehicles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Better efficiency: Less energy wasted as heat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Smaller cooling systems: Reduces vehicle weight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Faster charging: Can handle higher charging currents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Longer range: More efficient power conversion</a:t>
            </a:r>
            <a:endParaRPr lang="en-US" sz="2200" dirty="0"/>
          </a:p>
        </p:txBody>
      </p:sp>
    </p:spTree>
    <p:extLst>
      <p:ext uri="{BB962C8B-B14F-4D97-AF65-F5344CB8AC3E}">
        <p14:creationId xmlns:p14="http://schemas.microsoft.com/office/powerpoint/2010/main" val="3802350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30402" y="2827089"/>
            <a:ext cx="9331199" cy="609600"/>
          </a:xfrm>
          <a:prstGeom prst="rect">
            <a:avLst/>
          </a:prstGeom>
          <a:noFill/>
          <a:ln/>
        </p:spPr>
        <p:txBody>
          <a:bodyPr wrap="square" lIns="0" tIns="0" rIns="0" bIns="0" rtlCol="0" anchor="t"/>
          <a:lstStyle/>
          <a:p>
            <a:pPr algn="ctr">
              <a:lnSpc>
                <a:spcPts val="4800"/>
              </a:lnSpc>
            </a:pPr>
            <a:r>
              <a:rPr lang="en-US" sz="4000" b="1" dirty="0">
                <a:solidFill>
                  <a:srgbClr val="000000"/>
                </a:solidFill>
                <a:latin typeface="Arial" pitchFamily="34" charset="0"/>
                <a:ea typeface="Arial" pitchFamily="34" charset="-122"/>
                <a:cs typeface="Arial" pitchFamily="34" charset="-120"/>
              </a:rPr>
              <a:t>Power Electronics in Electric Vehicles</a:t>
            </a:r>
            <a:endParaRPr lang="en-US" sz="4000" dirty="0"/>
          </a:p>
        </p:txBody>
      </p:sp>
      <p:sp>
        <p:nvSpPr>
          <p:cNvPr id="3" name="Text 1"/>
          <p:cNvSpPr/>
          <p:nvPr/>
        </p:nvSpPr>
        <p:spPr>
          <a:xfrm>
            <a:off x="2499917" y="3639890"/>
            <a:ext cx="7192035" cy="391055"/>
          </a:xfrm>
          <a:prstGeom prst="rect">
            <a:avLst/>
          </a:prstGeom>
          <a:noFill/>
          <a:ln/>
        </p:spPr>
        <p:txBody>
          <a:bodyPr wrap="square" lIns="0" tIns="0" rIns="0" bIns="0" rtlCol="0" anchor="t"/>
          <a:lstStyle/>
          <a:p>
            <a:pPr algn="ctr">
              <a:lnSpc>
                <a:spcPts val="3080"/>
              </a:lnSpc>
            </a:pPr>
            <a:r>
              <a:rPr lang="en-US" sz="2200" dirty="0">
                <a:solidFill>
                  <a:srgbClr val="000000"/>
                </a:solidFill>
                <a:latin typeface="Arial" pitchFamily="34" charset="0"/>
                <a:ea typeface="Arial" pitchFamily="34" charset="-122"/>
                <a:cs typeface="Arial" pitchFamily="34" charset="-120"/>
              </a:rPr>
              <a:t>Understanding where these components work in your EV</a:t>
            </a:r>
            <a:endParaRPr lang="en-US" sz="2200" dirty="0"/>
          </a:p>
        </p:txBody>
      </p:sp>
    </p:spTree>
    <p:extLst>
      <p:ext uri="{BB962C8B-B14F-4D97-AF65-F5344CB8AC3E}">
        <p14:creationId xmlns:p14="http://schemas.microsoft.com/office/powerpoint/2010/main" val="1355202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Main Power Systems in EV</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Traction Inverter: Converts battery DC to motor AC</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Onboard Charger: Converts grid AC to battery DC</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DC-DC Converter: Steps down voltage for accessories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Battery Management System: Monitors and protects battery</a:t>
            </a:r>
            <a:endParaRPr lang="en-US" sz="2200" dirty="0"/>
          </a:p>
        </p:txBody>
      </p:sp>
    </p:spTree>
    <p:extLst>
      <p:ext uri="{BB962C8B-B14F-4D97-AF65-F5344CB8AC3E}">
        <p14:creationId xmlns:p14="http://schemas.microsoft.com/office/powerpoint/2010/main" val="11919222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Traction Inverter - Heart of EV</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Function: Converts DC battery power to AC for motor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Uses: 6 IGBT or SiC MOSFET switches in 3-phase bridge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Controls: Motor speed by changing AC frequency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Regenerative braking: Motor generates power, inverter sends it back to battery</a:t>
            </a:r>
            <a:endParaRPr lang="en-US" sz="2200" dirty="0"/>
          </a:p>
        </p:txBody>
      </p:sp>
    </p:spTree>
    <p:extLst>
      <p:ext uri="{BB962C8B-B14F-4D97-AF65-F5344CB8AC3E}">
        <p14:creationId xmlns:p14="http://schemas.microsoft.com/office/powerpoint/2010/main" val="35903162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Why EV Needs Inverter</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Battery stores DC (Direct Current)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Motor needs AC (Alternating Current) to rotate efficiently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Inverter changes DC to AC using fast switching</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By changing AC frequency, we control motor speed</a:t>
            </a:r>
            <a:endParaRPr lang="en-US" sz="2200" dirty="0"/>
          </a:p>
        </p:txBody>
      </p:sp>
    </p:spTree>
    <p:extLst>
      <p:ext uri="{BB962C8B-B14F-4D97-AF65-F5344CB8AC3E}">
        <p14:creationId xmlns:p14="http://schemas.microsoft.com/office/powerpoint/2010/main" val="1093739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Onboard Charger (OBC)</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Function: Converts AC from wall socket to DC for battery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Uses: Power diodes or MOSFETs for rectification</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Controls: Charging current and voltage automatically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Protection: Stops charging when battery is full</a:t>
            </a:r>
            <a:endParaRPr lang="en-US" sz="2200" dirty="0"/>
          </a:p>
        </p:txBody>
      </p:sp>
    </p:spTree>
    <p:extLst>
      <p:ext uri="{BB962C8B-B14F-4D97-AF65-F5344CB8AC3E}">
        <p14:creationId xmlns:p14="http://schemas.microsoft.com/office/powerpoint/2010/main" val="2974134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DC-DC Converter</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Function: Steps down high voltage (400V) to low voltage (12V)</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Uses: MOSFETs for fast switching and diodes for freewheeling</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Powers: Lights, wipers, radio, dashboard, air conditioning</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Replaces: Traditional 12V battery in conventional cars</a:t>
            </a:r>
            <a:endParaRPr lang="en-US" sz="2200" dirty="0"/>
          </a:p>
        </p:txBody>
      </p:sp>
    </p:spTree>
    <p:extLst>
      <p:ext uri="{BB962C8B-B14F-4D97-AF65-F5344CB8AC3E}">
        <p14:creationId xmlns:p14="http://schemas.microsoft.com/office/powerpoint/2010/main" val="4271793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Battery Management System (BMS)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Uses diodes: To prevent reverse current between cells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Uses MOSFETs: For cell balancing (equalizing charge)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Protection circuits: Disconnect battery in case of fault</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Monitors: Voltage, current, and temperature of each cell</a:t>
            </a:r>
            <a:endParaRPr lang="en-US" sz="2200" dirty="0"/>
          </a:p>
        </p:txBody>
      </p:sp>
    </p:spTree>
    <p:extLst>
      <p:ext uri="{BB962C8B-B14F-4D97-AF65-F5344CB8AC3E}">
        <p14:creationId xmlns:p14="http://schemas.microsoft.com/office/powerpoint/2010/main" val="33781880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413522" y="928133"/>
            <a:ext cx="7159919" cy="609600"/>
          </a:xfrm>
          <a:prstGeom prst="rect">
            <a:avLst/>
          </a:prstGeom>
          <a:noFill/>
          <a:ln/>
        </p:spPr>
        <p:txBody>
          <a:bodyPr wrap="square" lIns="0" tIns="0" rIns="0" bIns="0" rtlCol="0" anchor="t"/>
          <a:lstStyle/>
          <a:p>
            <a:pPr algn="ctr">
              <a:lnSpc>
                <a:spcPts val="4800"/>
              </a:lnSpc>
            </a:pPr>
            <a:r>
              <a:rPr lang="en-US" sz="4000" b="1" dirty="0">
                <a:solidFill>
                  <a:srgbClr val="000000"/>
                </a:solidFill>
                <a:latin typeface="Arial" pitchFamily="34" charset="0"/>
                <a:ea typeface="Arial" pitchFamily="34" charset="-122"/>
                <a:cs typeface="Arial" pitchFamily="34" charset="-120"/>
              </a:rPr>
              <a:t>Summary</a:t>
            </a:r>
            <a:endParaRPr lang="en-US" sz="4000" dirty="0"/>
          </a:p>
        </p:txBody>
      </p:sp>
      <p:sp>
        <p:nvSpPr>
          <p:cNvPr id="3" name="Text 1"/>
          <p:cNvSpPr/>
          <p:nvPr/>
        </p:nvSpPr>
        <p:spPr>
          <a:xfrm>
            <a:off x="1883524" y="1852778"/>
            <a:ext cx="8843387" cy="3812916"/>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Power diodes: One-way valves for electricity</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MOSFETs: Fast switches for low to medium power</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IGBTs: Powerful switches for high power applications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SiC devices: Future of efficient power electronics</a:t>
            </a:r>
            <a:endParaRPr lang="en-US" sz="2200" dirty="0"/>
          </a:p>
        </p:txBody>
      </p:sp>
    </p:spTree>
    <p:extLst>
      <p:ext uri="{BB962C8B-B14F-4D97-AF65-F5344CB8AC3E}">
        <p14:creationId xmlns:p14="http://schemas.microsoft.com/office/powerpoint/2010/main" val="1672306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777728" cy="609600"/>
          </a:xfrm>
          <a:prstGeom prst="rect">
            <a:avLst/>
          </a:prstGeom>
          <a:noFill/>
          <a:ln/>
        </p:spPr>
        <p:txBody>
          <a:bodyPr wrap="square" lIns="0" tIns="0" rIns="0" bIns="0" rtlCol="0" anchor="t"/>
          <a:lstStyle/>
          <a:p>
            <a:pPr>
              <a:lnSpc>
                <a:spcPts val="4800"/>
              </a:lnSpc>
            </a:pPr>
            <a:r>
              <a:rPr lang="en-US" sz="4000" b="1" dirty="0">
                <a:solidFill>
                  <a:srgbClr val="000000"/>
                </a:solidFill>
                <a:latin typeface="Arial" pitchFamily="34" charset="0"/>
                <a:ea typeface="Arial" pitchFamily="34" charset="-122"/>
                <a:cs typeface="Arial" pitchFamily="34" charset="-120"/>
              </a:rPr>
              <a:t>Key Takeaways</a:t>
            </a:r>
            <a:endParaRPr lang="en-US" sz="4000" dirty="0"/>
          </a:p>
        </p:txBody>
      </p:sp>
      <p:sp>
        <p:nvSpPr>
          <p:cNvPr id="3" name="Text 1"/>
          <p:cNvSpPr/>
          <p:nvPr/>
        </p:nvSpPr>
        <p:spPr>
          <a:xfrm>
            <a:off x="1219200" y="1727200"/>
            <a:ext cx="10160000" cy="2468563"/>
          </a:xfrm>
          <a:prstGeom prst="rect">
            <a:avLst/>
          </a:prstGeom>
          <a:noFill/>
          <a:ln/>
        </p:spPr>
        <p:txBody>
          <a:bodyPr wrap="square" lIns="0" tIns="0" rIns="0" bIns="0" rtlCol="0" anchor="t"/>
          <a:lstStyle/>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All EVs use multiple power electronics components</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Choosing right component depends on voltage, current, and speed</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Power electronics make EVs efficient and controllable</a:t>
            </a:r>
            <a:endParaRPr lang="en-US" sz="2200" dirty="0"/>
          </a:p>
          <a:p>
            <a:pPr marL="457189" indent="-457189">
              <a:lnSpc>
                <a:spcPts val="3960"/>
              </a:lnSpc>
              <a:buSzPct val="100000"/>
              <a:buChar char="•"/>
            </a:pPr>
            <a:r>
              <a:rPr lang="en-US" sz="2200" dirty="0">
                <a:solidFill>
                  <a:srgbClr val="000000"/>
                </a:solidFill>
                <a:latin typeface="Arial" pitchFamily="34" charset="0"/>
                <a:ea typeface="Arial" pitchFamily="34" charset="-122"/>
                <a:cs typeface="Arial" pitchFamily="34" charset="-120"/>
              </a:rPr>
              <a:t>Future EVs will use more SiC devices for better performance</a:t>
            </a:r>
            <a:endParaRPr lang="en-US" sz="2200" dirty="0"/>
          </a:p>
        </p:txBody>
      </p:sp>
    </p:spTree>
    <p:extLst>
      <p:ext uri="{BB962C8B-B14F-4D97-AF65-F5344CB8AC3E}">
        <p14:creationId xmlns:p14="http://schemas.microsoft.com/office/powerpoint/2010/main" val="3441858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Half Wave rectifier </a:t>
            </a:r>
            <a:r>
              <a:rPr lang="en-IN" dirty="0"/>
              <a:t/>
            </a:r>
            <a:br>
              <a:rPr lang="en-IN" dirty="0"/>
            </a:br>
            <a:endParaRPr lang="en-IN" dirty="0"/>
          </a:p>
        </p:txBody>
      </p:sp>
      <p:pic>
        <p:nvPicPr>
          <p:cNvPr id="4" name="Content Placeholder 3" descr="Half-wave rectifier circuit with filter capacitor converting AC to DC."/>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63307" y="1391992"/>
            <a:ext cx="5526407" cy="5103076"/>
          </a:xfrm>
          <a:prstGeom prst="rect">
            <a:avLst/>
          </a:prstGeom>
          <a:noFill/>
          <a:ln>
            <a:noFill/>
          </a:ln>
        </p:spPr>
      </p:pic>
      <p:pic>
        <p:nvPicPr>
          <p:cNvPr id="5" name="Picture 4" descr="Half Wave Rectifier - an overview | ScienceDirect Topics"/>
          <p:cNvPicPr/>
          <p:nvPr/>
        </p:nvPicPr>
        <p:blipFill>
          <a:blip r:embed="rId3">
            <a:extLst>
              <a:ext uri="{28A0092B-C50C-407E-A947-70E740481C1C}">
                <a14:useLocalDpi xmlns:a14="http://schemas.microsoft.com/office/drawing/2010/main" val="0"/>
              </a:ext>
            </a:extLst>
          </a:blip>
          <a:srcRect/>
          <a:stretch>
            <a:fillRect/>
          </a:stretch>
        </p:blipFill>
        <p:spPr bwMode="auto">
          <a:xfrm>
            <a:off x="6775581" y="1990217"/>
            <a:ext cx="5073912" cy="3901536"/>
          </a:xfrm>
          <a:prstGeom prst="rect">
            <a:avLst/>
          </a:prstGeom>
          <a:noFill/>
          <a:ln>
            <a:noFill/>
          </a:ln>
        </p:spPr>
      </p:pic>
    </p:spTree>
    <p:extLst>
      <p:ext uri="{BB962C8B-B14F-4D97-AF65-F5344CB8AC3E}">
        <p14:creationId xmlns:p14="http://schemas.microsoft.com/office/powerpoint/2010/main" val="9800794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Working Principle</a:t>
            </a:r>
            <a:br>
              <a:rPr lang="en-IN" b="1" dirty="0"/>
            </a:br>
            <a:endParaRPr lang="en-IN" dirty="0"/>
          </a:p>
        </p:txBody>
      </p:sp>
      <p:sp>
        <p:nvSpPr>
          <p:cNvPr id="3" name="Content Placeholder 2"/>
          <p:cNvSpPr>
            <a:spLocks noGrp="1"/>
          </p:cNvSpPr>
          <p:nvPr>
            <p:ph idx="1"/>
          </p:nvPr>
        </p:nvSpPr>
        <p:spPr>
          <a:xfrm>
            <a:off x="838200" y="1140643"/>
            <a:ext cx="10515600" cy="5410986"/>
          </a:xfrm>
        </p:spPr>
        <p:txBody>
          <a:bodyPr>
            <a:normAutofit/>
          </a:bodyPr>
          <a:lstStyle/>
          <a:p>
            <a:pPr marL="0" indent="0">
              <a:buNone/>
            </a:pPr>
            <a:r>
              <a:rPr lang="en-IN" b="1" dirty="0"/>
              <a:t>Positive Half Cycle</a:t>
            </a:r>
            <a:endParaRPr lang="en-IN" dirty="0"/>
          </a:p>
          <a:p>
            <a:pPr lvl="0"/>
            <a:r>
              <a:rPr lang="en-IN" dirty="0"/>
              <a:t>When AC input becomes </a:t>
            </a:r>
            <a:r>
              <a:rPr lang="en-IN" b="1" dirty="0"/>
              <a:t>positive</a:t>
            </a:r>
            <a:r>
              <a:rPr lang="en-IN" dirty="0"/>
              <a:t>, the diode becomes </a:t>
            </a:r>
            <a:r>
              <a:rPr lang="en-IN" b="1" dirty="0"/>
              <a:t>forward biased</a:t>
            </a:r>
            <a:r>
              <a:rPr lang="en-IN" dirty="0"/>
              <a:t>.</a:t>
            </a:r>
          </a:p>
          <a:p>
            <a:pPr lvl="0"/>
            <a:r>
              <a:rPr lang="en-IN" dirty="0"/>
              <a:t>Current flows through the diode and load resistor.</a:t>
            </a:r>
          </a:p>
          <a:p>
            <a:pPr lvl="0"/>
            <a:r>
              <a:rPr lang="en-IN" dirty="0"/>
              <a:t>Output voltage appears across the load</a:t>
            </a:r>
            <a:r>
              <a:rPr lang="en-IN" dirty="0" smtClean="0"/>
              <a:t>.</a:t>
            </a:r>
          </a:p>
          <a:p>
            <a:pPr lvl="0"/>
            <a:endParaRPr lang="en-IN" dirty="0"/>
          </a:p>
          <a:p>
            <a:pPr marL="0" indent="0">
              <a:buNone/>
            </a:pPr>
            <a:r>
              <a:rPr lang="en-IN" b="1" dirty="0"/>
              <a:t>Negative Half Cycle</a:t>
            </a:r>
            <a:endParaRPr lang="en-IN" dirty="0"/>
          </a:p>
          <a:p>
            <a:pPr lvl="0"/>
            <a:r>
              <a:rPr lang="en-IN" dirty="0"/>
              <a:t>When AC input becomes </a:t>
            </a:r>
            <a:r>
              <a:rPr lang="en-IN" b="1" dirty="0"/>
              <a:t>negative</a:t>
            </a:r>
            <a:r>
              <a:rPr lang="en-IN" dirty="0"/>
              <a:t>, the diode becomes </a:t>
            </a:r>
            <a:r>
              <a:rPr lang="en-IN" b="1" dirty="0"/>
              <a:t>reverse biased</a:t>
            </a:r>
            <a:r>
              <a:rPr lang="en-IN" dirty="0"/>
              <a:t>.</a:t>
            </a:r>
          </a:p>
          <a:p>
            <a:pPr lvl="0"/>
            <a:r>
              <a:rPr lang="en-IN" dirty="0"/>
              <a:t>The diode blocks current.</a:t>
            </a:r>
          </a:p>
          <a:p>
            <a:pPr lvl="0"/>
            <a:r>
              <a:rPr lang="en-IN" dirty="0"/>
              <a:t>Output voltage becomes </a:t>
            </a:r>
            <a:r>
              <a:rPr lang="en-IN" b="1" dirty="0"/>
              <a:t>zero</a:t>
            </a:r>
            <a:r>
              <a:rPr lang="en-IN" dirty="0"/>
              <a:t>.</a:t>
            </a:r>
          </a:p>
          <a:p>
            <a:pPr lvl="0"/>
            <a:endParaRPr lang="en-IN" dirty="0"/>
          </a:p>
          <a:p>
            <a:endParaRPr lang="en-IN" dirty="0"/>
          </a:p>
        </p:txBody>
      </p:sp>
    </p:spTree>
    <p:extLst>
      <p:ext uri="{BB962C8B-B14F-4D97-AF65-F5344CB8AC3E}">
        <p14:creationId xmlns:p14="http://schemas.microsoft.com/office/powerpoint/2010/main" val="4630655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Thus only </a:t>
            </a:r>
            <a:r>
              <a:rPr lang="en-IN" b="1" dirty="0"/>
              <a:t>one half of the AC waveform appears at the output</a:t>
            </a:r>
            <a:r>
              <a:rPr lang="en-IN" dirty="0"/>
              <a:t>.</a:t>
            </a:r>
          </a:p>
          <a:p>
            <a:r>
              <a:rPr lang="en-IN" b="1" dirty="0"/>
              <a:t>Output Waveform</a:t>
            </a:r>
          </a:p>
          <a:p>
            <a:pPr lvl="0"/>
            <a:r>
              <a:rPr lang="en-IN" dirty="0"/>
              <a:t>Output is </a:t>
            </a:r>
            <a:r>
              <a:rPr lang="en-IN" b="1" dirty="0"/>
              <a:t>pulsating DC</a:t>
            </a:r>
            <a:r>
              <a:rPr lang="en-IN" dirty="0"/>
              <a:t>.</a:t>
            </a:r>
          </a:p>
          <a:p>
            <a:pPr lvl="0"/>
            <a:r>
              <a:rPr lang="en-IN" dirty="0"/>
              <a:t>Only </a:t>
            </a:r>
            <a:r>
              <a:rPr lang="en-IN" b="1" dirty="0"/>
              <a:t>positive half cycles</a:t>
            </a:r>
            <a:r>
              <a:rPr lang="en-IN" dirty="0"/>
              <a:t> appear.</a:t>
            </a:r>
          </a:p>
          <a:p>
            <a:endParaRPr lang="en-IN" dirty="0"/>
          </a:p>
        </p:txBody>
      </p:sp>
    </p:spTree>
    <p:extLst>
      <p:ext uri="{BB962C8B-B14F-4D97-AF65-F5344CB8AC3E}">
        <p14:creationId xmlns:p14="http://schemas.microsoft.com/office/powerpoint/2010/main" val="20613893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Full Wave Rectifier </a:t>
            </a:r>
            <a:r>
              <a:rPr lang="en-IN" dirty="0"/>
              <a:t/>
            </a:r>
            <a:br>
              <a:rPr lang="en-IN" dirty="0"/>
            </a:br>
            <a:endParaRPr lang="en-IN" dirty="0"/>
          </a:p>
        </p:txBody>
      </p:sp>
      <p:pic>
        <p:nvPicPr>
          <p:cNvPr id="4" name="Content Placeholder 3" descr="Full-wave bridge rectifier circuit converting AC to DC power output."/>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68830" y="3051109"/>
            <a:ext cx="4479429" cy="3689056"/>
          </a:xfrm>
          <a:prstGeom prst="rect">
            <a:avLst/>
          </a:prstGeom>
          <a:noFill/>
          <a:ln>
            <a:noFill/>
          </a:ln>
        </p:spPr>
      </p:pic>
      <p:pic>
        <p:nvPicPr>
          <p:cNvPr id="5" name="Picture 4" descr="Bridge rectifier - Definition, Construction and Working"/>
          <p:cNvPicPr/>
          <p:nvPr/>
        </p:nvPicPr>
        <p:blipFill>
          <a:blip r:embed="rId3">
            <a:extLst>
              <a:ext uri="{28A0092B-C50C-407E-A947-70E740481C1C}">
                <a14:useLocalDpi xmlns:a14="http://schemas.microsoft.com/office/drawing/2010/main" val="0"/>
              </a:ext>
            </a:extLst>
          </a:blip>
          <a:srcRect/>
          <a:stretch>
            <a:fillRect/>
          </a:stretch>
        </p:blipFill>
        <p:spPr bwMode="auto">
          <a:xfrm>
            <a:off x="6070862" y="1329998"/>
            <a:ext cx="5689201" cy="5136790"/>
          </a:xfrm>
          <a:prstGeom prst="rect">
            <a:avLst/>
          </a:prstGeom>
          <a:noFill/>
          <a:ln>
            <a:noFill/>
          </a:ln>
        </p:spPr>
      </p:pic>
      <p:sp>
        <p:nvSpPr>
          <p:cNvPr id="6" name="Rectangle 5"/>
          <p:cNvSpPr/>
          <p:nvPr/>
        </p:nvSpPr>
        <p:spPr>
          <a:xfrm>
            <a:off x="368830" y="1229023"/>
            <a:ext cx="6096000" cy="1815882"/>
          </a:xfrm>
          <a:prstGeom prst="rect">
            <a:avLst/>
          </a:prstGeom>
        </p:spPr>
        <p:txBody>
          <a:bodyPr>
            <a:spAutoFit/>
          </a:bodyPr>
          <a:lstStyle/>
          <a:p>
            <a:r>
              <a:rPr lang="en-IN" sz="2800" dirty="0">
                <a:ea typeface="Times New Roman" panose="02020603050405020304" pitchFamily="18" charset="0"/>
              </a:rPr>
              <a:t>A </a:t>
            </a:r>
            <a:r>
              <a:rPr lang="en-IN" sz="2800" b="1" dirty="0">
                <a:ea typeface="Times New Roman" panose="02020603050405020304" pitchFamily="18" charset="0"/>
              </a:rPr>
              <a:t>full-wave bridge rectifier</a:t>
            </a:r>
            <a:r>
              <a:rPr lang="en-IN" sz="2800" dirty="0">
                <a:ea typeface="Times New Roman" panose="02020603050405020304" pitchFamily="18" charset="0"/>
              </a:rPr>
              <a:t> converts </a:t>
            </a:r>
            <a:r>
              <a:rPr lang="en-IN" sz="2800" b="1" dirty="0">
                <a:ea typeface="Times New Roman" panose="02020603050405020304" pitchFamily="18" charset="0"/>
              </a:rPr>
              <a:t>both positive and negative halves of AC into DC</a:t>
            </a:r>
            <a:r>
              <a:rPr lang="en-IN" sz="2800" dirty="0">
                <a:ea typeface="Times New Roman" panose="02020603050405020304" pitchFamily="18" charset="0"/>
              </a:rPr>
              <a:t> using </a:t>
            </a:r>
            <a:r>
              <a:rPr lang="en-IN" sz="2800" b="1" dirty="0">
                <a:ea typeface="Times New Roman" panose="02020603050405020304" pitchFamily="18" charset="0"/>
              </a:rPr>
              <a:t>four diodes arranged in a bridge configuration</a:t>
            </a:r>
            <a:r>
              <a:rPr lang="en-IN" sz="2800" dirty="0">
                <a:ea typeface="Times New Roman" panose="02020603050405020304" pitchFamily="18" charset="0"/>
              </a:rPr>
              <a:t>.</a:t>
            </a:r>
          </a:p>
        </p:txBody>
      </p:sp>
    </p:spTree>
    <p:extLst>
      <p:ext uri="{BB962C8B-B14F-4D97-AF65-F5344CB8AC3E}">
        <p14:creationId xmlns:p14="http://schemas.microsoft.com/office/powerpoint/2010/main" val="36717218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3932" y="179109"/>
            <a:ext cx="10515600" cy="832848"/>
          </a:xfrm>
        </p:spPr>
        <p:txBody>
          <a:bodyPr>
            <a:normAutofit fontScale="90000"/>
          </a:bodyPr>
          <a:lstStyle/>
          <a:p>
            <a:r>
              <a:rPr lang="en-IN" dirty="0"/>
              <a:t/>
            </a:r>
            <a:br>
              <a:rPr lang="en-IN" dirty="0"/>
            </a:br>
            <a:r>
              <a:rPr lang="en-IN" b="1" dirty="0"/>
              <a:t>Working Principle:</a:t>
            </a:r>
            <a:endParaRPr lang="en-IN" dirty="0"/>
          </a:p>
        </p:txBody>
      </p:sp>
      <p:sp>
        <p:nvSpPr>
          <p:cNvPr id="3" name="Content Placeholder 2"/>
          <p:cNvSpPr>
            <a:spLocks noGrp="1"/>
          </p:cNvSpPr>
          <p:nvPr>
            <p:ph idx="1"/>
          </p:nvPr>
        </p:nvSpPr>
        <p:spPr>
          <a:xfrm>
            <a:off x="329938" y="1442301"/>
            <a:ext cx="11585542" cy="5250730"/>
          </a:xfrm>
        </p:spPr>
        <p:txBody>
          <a:bodyPr>
            <a:normAutofit/>
          </a:bodyPr>
          <a:lstStyle/>
          <a:p>
            <a:pPr marL="0" indent="0">
              <a:buNone/>
            </a:pPr>
            <a:r>
              <a:rPr lang="en-IN" b="1" dirty="0" smtClean="0"/>
              <a:t>Positive </a:t>
            </a:r>
            <a:r>
              <a:rPr lang="en-IN" b="1" dirty="0"/>
              <a:t>Half Cycle</a:t>
            </a:r>
            <a:endParaRPr lang="en-IN" b="1" i="1" dirty="0"/>
          </a:p>
          <a:p>
            <a:pPr lvl="0"/>
            <a:r>
              <a:rPr lang="en-IN" dirty="0"/>
              <a:t>Diodes </a:t>
            </a:r>
            <a:r>
              <a:rPr lang="en-IN" b="1" dirty="0"/>
              <a:t>D1 and D3 conduct</a:t>
            </a:r>
            <a:r>
              <a:rPr lang="en-IN" dirty="0"/>
              <a:t>.</a:t>
            </a:r>
          </a:p>
          <a:p>
            <a:pPr lvl="0"/>
            <a:r>
              <a:rPr lang="en-IN" dirty="0"/>
              <a:t>Diodes </a:t>
            </a:r>
            <a:r>
              <a:rPr lang="en-IN" b="1" dirty="0"/>
              <a:t>D2 and D4 are reverse biased</a:t>
            </a:r>
            <a:r>
              <a:rPr lang="en-IN" dirty="0"/>
              <a:t>.</a:t>
            </a:r>
          </a:p>
          <a:p>
            <a:pPr lvl="0"/>
            <a:r>
              <a:rPr lang="en-IN" dirty="0"/>
              <a:t>Current flows through the load in one </a:t>
            </a:r>
            <a:r>
              <a:rPr lang="en-IN" dirty="0" smtClean="0"/>
              <a:t>direction.</a:t>
            </a:r>
          </a:p>
          <a:p>
            <a:pPr lvl="0"/>
            <a:endParaRPr lang="en-IN" b="1" dirty="0"/>
          </a:p>
          <a:p>
            <a:pPr marL="0" lvl="0" indent="0">
              <a:buNone/>
            </a:pPr>
            <a:r>
              <a:rPr lang="en-IN" b="1" dirty="0" smtClean="0"/>
              <a:t>Negative </a:t>
            </a:r>
            <a:r>
              <a:rPr lang="en-IN" b="1" dirty="0"/>
              <a:t>Half Cycle</a:t>
            </a:r>
            <a:endParaRPr lang="en-IN" b="1" i="1" dirty="0"/>
          </a:p>
          <a:p>
            <a:pPr lvl="0"/>
            <a:r>
              <a:rPr lang="en-IN" dirty="0"/>
              <a:t>Diodes </a:t>
            </a:r>
            <a:r>
              <a:rPr lang="en-IN" b="1" dirty="0"/>
              <a:t>D2 and D4 conduct</a:t>
            </a:r>
            <a:r>
              <a:rPr lang="en-IN" dirty="0"/>
              <a:t>.</a:t>
            </a:r>
          </a:p>
          <a:p>
            <a:pPr lvl="0"/>
            <a:r>
              <a:rPr lang="en-IN" dirty="0"/>
              <a:t>Diodes </a:t>
            </a:r>
            <a:r>
              <a:rPr lang="en-IN" b="1" dirty="0"/>
              <a:t>D1 and D3 are reverse biased</a:t>
            </a:r>
            <a:r>
              <a:rPr lang="en-IN" dirty="0"/>
              <a:t>.</a:t>
            </a:r>
          </a:p>
          <a:p>
            <a:pPr lvl="0"/>
            <a:r>
              <a:rPr lang="en-IN" dirty="0"/>
              <a:t>Current again flows through the load in the </a:t>
            </a:r>
            <a:r>
              <a:rPr lang="en-IN" b="1" dirty="0"/>
              <a:t>same direction</a:t>
            </a:r>
            <a:r>
              <a:rPr lang="en-IN" dirty="0"/>
              <a:t>.</a:t>
            </a:r>
          </a:p>
          <a:p>
            <a:r>
              <a:rPr lang="en-IN" dirty="0"/>
              <a:t>Thus both halves of the AC waveform are converted to DC.</a:t>
            </a:r>
          </a:p>
          <a:p>
            <a:endParaRPr lang="en-IN" dirty="0"/>
          </a:p>
        </p:txBody>
      </p:sp>
    </p:spTree>
    <p:extLst>
      <p:ext uri="{BB962C8B-B14F-4D97-AF65-F5344CB8AC3E}">
        <p14:creationId xmlns:p14="http://schemas.microsoft.com/office/powerpoint/2010/main" val="7218338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7072"/>
            <a:ext cx="10515600" cy="5799891"/>
          </a:xfrm>
        </p:spPr>
        <p:txBody>
          <a:bodyPr/>
          <a:lstStyle/>
          <a:p>
            <a:pPr marL="0" indent="0">
              <a:buNone/>
            </a:pPr>
            <a:r>
              <a:rPr lang="en-IN" b="1" dirty="0"/>
              <a:t>Output Waveform</a:t>
            </a:r>
          </a:p>
          <a:p>
            <a:pPr lvl="0"/>
            <a:r>
              <a:rPr lang="en-IN" dirty="0"/>
              <a:t>Both </a:t>
            </a:r>
            <a:r>
              <a:rPr lang="en-IN" b="1" dirty="0"/>
              <a:t>positive and negative cycles become positive</a:t>
            </a:r>
            <a:r>
              <a:rPr lang="en-IN" dirty="0"/>
              <a:t> at output.</a:t>
            </a:r>
          </a:p>
          <a:p>
            <a:pPr lvl="0"/>
            <a:r>
              <a:rPr lang="en-IN" dirty="0"/>
              <a:t>Output is </a:t>
            </a:r>
            <a:r>
              <a:rPr lang="en-IN" b="1" dirty="0"/>
              <a:t>pulsating DC with higher frequency ripple</a:t>
            </a:r>
            <a:r>
              <a:rPr lang="en-IN" dirty="0" smtClean="0"/>
              <a:t>.</a:t>
            </a:r>
          </a:p>
          <a:p>
            <a:pPr lvl="0"/>
            <a:endParaRPr lang="en-IN" dirty="0"/>
          </a:p>
          <a:p>
            <a:pPr marL="0" indent="0">
              <a:buNone/>
            </a:pPr>
            <a:r>
              <a:rPr lang="en-IN" b="1" dirty="0"/>
              <a:t>Applications:</a:t>
            </a:r>
          </a:p>
          <a:p>
            <a:pPr lvl="0"/>
            <a:r>
              <a:rPr lang="en-IN" dirty="0"/>
              <a:t>Power supplies</a:t>
            </a:r>
          </a:p>
          <a:p>
            <a:pPr lvl="0"/>
            <a:r>
              <a:rPr lang="en-IN" dirty="0"/>
              <a:t>Battery chargers</a:t>
            </a:r>
          </a:p>
          <a:p>
            <a:pPr lvl="0"/>
            <a:r>
              <a:rPr lang="en-IN" dirty="0"/>
              <a:t>DC motor drives</a:t>
            </a:r>
          </a:p>
          <a:p>
            <a:pPr lvl="0"/>
            <a:r>
              <a:rPr lang="en-IN" dirty="0"/>
              <a:t>Electronic equipment power circuits</a:t>
            </a:r>
          </a:p>
          <a:p>
            <a:pPr lvl="0"/>
            <a:endParaRPr lang="en-IN" dirty="0"/>
          </a:p>
          <a:p>
            <a:endParaRPr lang="en-IN" dirty="0"/>
          </a:p>
        </p:txBody>
      </p:sp>
    </p:spTree>
    <p:extLst>
      <p:ext uri="{BB962C8B-B14F-4D97-AF65-F5344CB8AC3E}">
        <p14:creationId xmlns:p14="http://schemas.microsoft.com/office/powerpoint/2010/main" val="479129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 Concept of DC–AC Conversion</a:t>
            </a:r>
            <a:br>
              <a:rPr lang="en-IN" b="1" dirty="0"/>
            </a:br>
            <a:endParaRPr lang="en-IN" dirty="0"/>
          </a:p>
        </p:txBody>
      </p:sp>
      <p:sp>
        <p:nvSpPr>
          <p:cNvPr id="3" name="Content Placeholder 2"/>
          <p:cNvSpPr>
            <a:spLocks noGrp="1"/>
          </p:cNvSpPr>
          <p:nvPr>
            <p:ph idx="1"/>
          </p:nvPr>
        </p:nvSpPr>
        <p:spPr/>
        <p:txBody>
          <a:bodyPr/>
          <a:lstStyle/>
          <a:p>
            <a:pPr marL="0" indent="0">
              <a:buNone/>
            </a:pPr>
            <a:r>
              <a:rPr lang="en-IN" b="1" dirty="0"/>
              <a:t>Process</a:t>
            </a:r>
            <a:endParaRPr lang="en-IN" dirty="0"/>
          </a:p>
          <a:p>
            <a:r>
              <a:rPr lang="en-IN" dirty="0"/>
              <a:t>Battery (DC) → </a:t>
            </a:r>
            <a:r>
              <a:rPr lang="en-IN" b="1" dirty="0"/>
              <a:t>Inverter (DC to AC conversion)</a:t>
            </a:r>
            <a:r>
              <a:rPr lang="en-IN" dirty="0"/>
              <a:t> → </a:t>
            </a:r>
            <a:r>
              <a:rPr lang="en-IN" b="1" dirty="0"/>
              <a:t>AC Motor</a:t>
            </a:r>
            <a:r>
              <a:rPr lang="en-IN" dirty="0"/>
              <a:t> → Mechanical power → Wheels</a:t>
            </a:r>
          </a:p>
          <a:p>
            <a:endParaRPr lang="en-IN" dirty="0" smtClean="0"/>
          </a:p>
          <a:p>
            <a:r>
              <a:rPr lang="en-IN" dirty="0" smtClean="0"/>
              <a:t>The </a:t>
            </a:r>
            <a:r>
              <a:rPr lang="en-IN" dirty="0"/>
              <a:t>inverter converts the </a:t>
            </a:r>
            <a:r>
              <a:rPr lang="en-IN" b="1" dirty="0"/>
              <a:t>constant DC voltage of the battery into variable-frequency and variable-voltage AC</a:t>
            </a:r>
            <a:r>
              <a:rPr lang="en-IN" dirty="0"/>
              <a:t> required by the motor.</a:t>
            </a:r>
          </a:p>
          <a:p>
            <a:endParaRPr lang="en-IN" dirty="0"/>
          </a:p>
        </p:txBody>
      </p:sp>
    </p:spTree>
    <p:extLst>
      <p:ext uri="{BB962C8B-B14F-4D97-AF65-F5344CB8AC3E}">
        <p14:creationId xmlns:p14="http://schemas.microsoft.com/office/powerpoint/2010/main" val="42801436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nventional six-switch three phase inverter brushless DC motor drive... |  Download Scientific Diagram"/>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6877" y="81706"/>
            <a:ext cx="5863963" cy="4094367"/>
          </a:xfrm>
          <a:prstGeom prst="rect">
            <a:avLst/>
          </a:prstGeom>
          <a:noFill/>
          <a:ln>
            <a:noFill/>
          </a:ln>
        </p:spPr>
      </p:pic>
      <p:sp>
        <p:nvSpPr>
          <p:cNvPr id="5" name="Rectangle 4"/>
          <p:cNvSpPr/>
          <p:nvPr/>
        </p:nvSpPr>
        <p:spPr>
          <a:xfrm>
            <a:off x="6749592" y="326803"/>
            <a:ext cx="5222450" cy="4996624"/>
          </a:xfrm>
          <a:prstGeom prst="rect">
            <a:avLst/>
          </a:prstGeom>
        </p:spPr>
        <p:txBody>
          <a:bodyPr wrap="square">
            <a:spAutoFit/>
          </a:bodyPr>
          <a:lstStyle/>
          <a:p>
            <a:r>
              <a:rPr lang="en-IN" sz="2400" dirty="0">
                <a:ea typeface="Times New Roman" panose="02020603050405020304" pitchFamily="18" charset="0"/>
                <a:cs typeface="Times New Roman" panose="02020603050405020304" pitchFamily="18" charset="0"/>
              </a:rPr>
              <a:t>Most EVs use a </a:t>
            </a:r>
            <a:r>
              <a:rPr lang="en-IN" sz="2400" b="1" dirty="0">
                <a:ea typeface="Times New Roman" panose="02020603050405020304" pitchFamily="18" charset="0"/>
                <a:cs typeface="Times New Roman" panose="02020603050405020304" pitchFamily="18" charset="0"/>
              </a:rPr>
              <a:t>three-phase voltage source inverter (VSI</a:t>
            </a:r>
            <a:r>
              <a:rPr lang="en-IN" sz="2400" b="1" dirty="0" smtClean="0">
                <a:ea typeface="Times New Roman" panose="02020603050405020304" pitchFamily="18" charset="0"/>
                <a:cs typeface="Times New Roman" panose="02020603050405020304" pitchFamily="18" charset="0"/>
              </a:rPr>
              <a:t>)</a:t>
            </a:r>
            <a:r>
              <a:rPr lang="en-IN" sz="2400" dirty="0" smtClean="0">
                <a:ea typeface="Times New Roman" panose="02020603050405020304" pitchFamily="18" charset="0"/>
                <a:cs typeface="Times New Roman" panose="02020603050405020304" pitchFamily="18" charset="0"/>
              </a:rPr>
              <a:t>.</a:t>
            </a:r>
          </a:p>
          <a:p>
            <a:endParaRPr lang="en-IN" sz="2400" dirty="0">
              <a:ea typeface="Times New Roman" panose="02020603050405020304" pitchFamily="18" charset="0"/>
              <a:cs typeface="Times New Roman" panose="02020603050405020304" pitchFamily="18" charset="0"/>
            </a:endParaRPr>
          </a:p>
          <a:p>
            <a:pPr>
              <a:lnSpc>
                <a:spcPct val="107000"/>
              </a:lnSpc>
              <a:spcBef>
                <a:spcPts val="200"/>
              </a:spcBef>
              <a:spcAft>
                <a:spcPts val="0"/>
              </a:spcAft>
            </a:pPr>
            <a:r>
              <a:rPr lang="en-IN" sz="2400" b="1" dirty="0" smtClean="0">
                <a:ea typeface="Times New Roman" panose="02020603050405020304" pitchFamily="18" charset="0"/>
                <a:cs typeface="Times New Roman" panose="02020603050405020304" pitchFamily="18" charset="0"/>
              </a:rPr>
              <a:t>Structure</a:t>
            </a:r>
          </a:p>
          <a:p>
            <a:pPr>
              <a:lnSpc>
                <a:spcPct val="107000"/>
              </a:lnSpc>
              <a:spcBef>
                <a:spcPts val="200"/>
              </a:spcBef>
              <a:spcAft>
                <a:spcPts val="0"/>
              </a:spcAft>
            </a:pPr>
            <a:endParaRPr lang="en-IN" sz="2400" b="1" dirty="0">
              <a:ea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2400" b="1" dirty="0">
                <a:ea typeface="Times New Roman" panose="02020603050405020304" pitchFamily="18" charset="0"/>
                <a:cs typeface="Times New Roman" panose="02020603050405020304" pitchFamily="18" charset="0"/>
              </a:rPr>
              <a:t>6 power switches</a:t>
            </a:r>
            <a:r>
              <a:rPr lang="en-IN" sz="2400" dirty="0">
                <a:ea typeface="Times New Roman" panose="02020603050405020304" pitchFamily="18" charset="0"/>
                <a:cs typeface="Times New Roman" panose="02020603050405020304" pitchFamily="18" charset="0"/>
              </a:rPr>
              <a:t> (IGBTs or MOSFETs)</a:t>
            </a: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cs typeface="Times New Roman" panose="02020603050405020304" pitchFamily="18" charset="0"/>
              </a:rPr>
              <a:t>Arranged in </a:t>
            </a:r>
            <a:r>
              <a:rPr lang="en-IN" sz="2400" b="1" dirty="0">
                <a:ea typeface="Times New Roman" panose="02020603050405020304" pitchFamily="18" charset="0"/>
                <a:cs typeface="Times New Roman" panose="02020603050405020304" pitchFamily="18" charset="0"/>
              </a:rPr>
              <a:t>three legs</a:t>
            </a:r>
            <a:endParaRPr lang="en-IN" sz="2400" dirty="0">
              <a:ea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cs typeface="Times New Roman" panose="02020603050405020304" pitchFamily="18" charset="0"/>
              </a:rPr>
              <a:t>Each leg produces one phase (A, B, C)</a:t>
            </a:r>
          </a:p>
          <a:p>
            <a:endParaRPr lang="en-IN" sz="2400" b="1" dirty="0" smtClean="0">
              <a:ea typeface="Times New Roman" panose="02020603050405020304" pitchFamily="18" charset="0"/>
              <a:cs typeface="Times New Roman" panose="02020603050405020304" pitchFamily="18" charset="0"/>
            </a:endParaRPr>
          </a:p>
          <a:p>
            <a:r>
              <a:rPr lang="en-IN" sz="2400" b="1" dirty="0" smtClean="0">
                <a:ea typeface="Times New Roman" panose="02020603050405020304" pitchFamily="18" charset="0"/>
                <a:cs typeface="Times New Roman" panose="02020603050405020304" pitchFamily="18" charset="0"/>
              </a:rPr>
              <a:t>Switch </a:t>
            </a:r>
            <a:r>
              <a:rPr lang="en-IN" sz="2400" b="1" dirty="0">
                <a:ea typeface="Times New Roman" panose="02020603050405020304" pitchFamily="18" charset="0"/>
                <a:cs typeface="Times New Roman" panose="02020603050405020304" pitchFamily="18" charset="0"/>
              </a:rPr>
              <a:t>pairs</a:t>
            </a:r>
            <a:endParaRPr lang="en-IN" sz="2400" dirty="0">
              <a:ea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cs typeface="Times New Roman" panose="02020603050405020304" pitchFamily="18" charset="0"/>
              </a:rPr>
              <a:t>Phase A → S1, S4</a:t>
            </a: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cs typeface="Times New Roman" panose="02020603050405020304" pitchFamily="18" charset="0"/>
              </a:rPr>
              <a:t>Phase B → S3, S6</a:t>
            </a: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cs typeface="Times New Roman" panose="02020603050405020304" pitchFamily="18" charset="0"/>
              </a:rPr>
              <a:t>Phase C → S5, S2</a:t>
            </a:r>
          </a:p>
        </p:txBody>
      </p:sp>
      <p:sp>
        <p:nvSpPr>
          <p:cNvPr id="6" name="Rectangle 5"/>
          <p:cNvSpPr/>
          <p:nvPr/>
        </p:nvSpPr>
        <p:spPr>
          <a:xfrm>
            <a:off x="455627" y="4176073"/>
            <a:ext cx="11450425" cy="2180277"/>
          </a:xfrm>
          <a:prstGeom prst="rect">
            <a:avLst/>
          </a:prstGeom>
        </p:spPr>
        <p:txBody>
          <a:bodyPr wrap="square" numCol="2">
            <a:spAutoFit/>
          </a:bodyPr>
          <a:lstStyle/>
          <a:p>
            <a:pPr>
              <a:lnSpc>
                <a:spcPct val="107000"/>
              </a:lnSpc>
              <a:spcBef>
                <a:spcPts val="1200"/>
              </a:spcBef>
              <a:spcAft>
                <a:spcPts val="0"/>
              </a:spcAft>
            </a:pPr>
            <a:r>
              <a:rPr lang="en-IN" sz="2400" b="1" kern="0" dirty="0">
                <a:ea typeface="Times New Roman" panose="02020603050405020304" pitchFamily="18" charset="0"/>
                <a:cs typeface="Times New Roman" panose="02020603050405020304" pitchFamily="18" charset="0"/>
              </a:rPr>
              <a:t>EV Inverter </a:t>
            </a:r>
            <a:r>
              <a:rPr lang="en-IN" sz="2400" b="1" dirty="0" smtClean="0">
                <a:ea typeface="Times New Roman" panose="02020603050405020304" pitchFamily="18" charset="0"/>
              </a:rPr>
              <a:t>Main </a:t>
            </a:r>
            <a:r>
              <a:rPr lang="en-IN" sz="2400" b="1" dirty="0">
                <a:ea typeface="Times New Roman" panose="02020603050405020304" pitchFamily="18" charset="0"/>
              </a:rPr>
              <a:t>Components</a:t>
            </a:r>
            <a:endParaRPr lang="en-IN" sz="2400" dirty="0">
              <a:ea typeface="Times New Roman" panose="02020603050405020304" pitchFamily="18" charset="0"/>
            </a:endParaRPr>
          </a:p>
          <a:p>
            <a:pPr marL="342900" lvl="0" indent="-342900">
              <a:buFont typeface="+mj-lt"/>
              <a:buAutoNum type="arabicPeriod"/>
              <a:tabLst>
                <a:tab pos="457200" algn="l"/>
              </a:tabLst>
            </a:pPr>
            <a:r>
              <a:rPr lang="en-IN" sz="2200" dirty="0">
                <a:ea typeface="Times New Roman" panose="02020603050405020304" pitchFamily="18" charset="0"/>
              </a:rPr>
              <a:t>Battery Pack</a:t>
            </a:r>
          </a:p>
          <a:p>
            <a:pPr marL="342900" lvl="0" indent="-342900">
              <a:buFont typeface="+mj-lt"/>
              <a:buAutoNum type="arabicPeriod"/>
              <a:tabLst>
                <a:tab pos="457200" algn="l"/>
              </a:tabLst>
            </a:pPr>
            <a:r>
              <a:rPr lang="en-IN" sz="2200" dirty="0">
                <a:ea typeface="Times New Roman" panose="02020603050405020304" pitchFamily="18" charset="0"/>
              </a:rPr>
              <a:t>DC Link Capacitor</a:t>
            </a:r>
          </a:p>
          <a:p>
            <a:pPr marL="342900" lvl="0" indent="-342900">
              <a:buFont typeface="+mj-lt"/>
              <a:buAutoNum type="arabicPeriod"/>
              <a:tabLst>
                <a:tab pos="457200" algn="l"/>
              </a:tabLst>
            </a:pPr>
            <a:r>
              <a:rPr lang="en-IN" sz="2200" dirty="0">
                <a:ea typeface="Times New Roman" panose="02020603050405020304" pitchFamily="18" charset="0"/>
              </a:rPr>
              <a:t>Power Inverter (IGBT/MOSFET based)</a:t>
            </a:r>
          </a:p>
          <a:p>
            <a:pPr marL="342900" lvl="0" indent="-342900">
              <a:buFont typeface="+mj-lt"/>
              <a:buAutoNum type="arabicPeriod"/>
              <a:tabLst>
                <a:tab pos="457200" algn="l"/>
              </a:tabLst>
            </a:pPr>
            <a:r>
              <a:rPr lang="en-IN" sz="2200" dirty="0">
                <a:ea typeface="Times New Roman" panose="02020603050405020304" pitchFamily="18" charset="0"/>
              </a:rPr>
              <a:t>Motor Controller</a:t>
            </a:r>
          </a:p>
          <a:p>
            <a:pPr marL="342900" lvl="0" indent="-342900">
              <a:buFont typeface="+mj-lt"/>
              <a:buAutoNum type="arabicPeriod"/>
              <a:tabLst>
                <a:tab pos="457200" algn="l"/>
              </a:tabLst>
            </a:pPr>
            <a:r>
              <a:rPr lang="en-IN" sz="2200" dirty="0">
                <a:ea typeface="Times New Roman" panose="02020603050405020304" pitchFamily="18" charset="0"/>
              </a:rPr>
              <a:t>AC Traction </a:t>
            </a:r>
            <a:r>
              <a:rPr lang="en-IN" sz="2200" dirty="0" smtClean="0">
                <a:ea typeface="Times New Roman" panose="02020603050405020304" pitchFamily="18" charset="0"/>
              </a:rPr>
              <a:t>Motor</a:t>
            </a:r>
            <a:endParaRPr lang="en-IN" sz="2200" dirty="0">
              <a:ea typeface="Times New Roman" panose="02020603050405020304" pitchFamily="18" charset="0"/>
            </a:endParaRPr>
          </a:p>
        </p:txBody>
      </p:sp>
    </p:spTree>
    <p:extLst>
      <p:ext uri="{BB962C8B-B14F-4D97-AF65-F5344CB8AC3E}">
        <p14:creationId xmlns:p14="http://schemas.microsoft.com/office/powerpoint/2010/main" val="41761909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9938" y="367645"/>
            <a:ext cx="11481848" cy="6117996"/>
          </a:xfrm>
        </p:spPr>
        <p:txBody>
          <a:bodyPr>
            <a:normAutofit fontScale="92500" lnSpcReduction="10000"/>
          </a:bodyPr>
          <a:lstStyle/>
          <a:p>
            <a:pPr marL="0" indent="0">
              <a:buNone/>
            </a:pPr>
            <a:r>
              <a:rPr lang="en-IN" b="1" dirty="0"/>
              <a:t>Working Principle</a:t>
            </a:r>
          </a:p>
          <a:p>
            <a:pPr marL="0" indent="0">
              <a:buNone/>
            </a:pPr>
            <a:r>
              <a:rPr lang="en-IN" b="1" dirty="0"/>
              <a:t>Step 1: DC Supply</a:t>
            </a:r>
          </a:p>
          <a:p>
            <a:r>
              <a:rPr lang="en-IN" dirty="0"/>
              <a:t>The battery provides </a:t>
            </a:r>
            <a:r>
              <a:rPr lang="en-IN" b="1" dirty="0"/>
              <a:t>high voltage DC (200–800 V depending on EV design).</a:t>
            </a:r>
            <a:endParaRPr lang="en-IN" dirty="0"/>
          </a:p>
          <a:p>
            <a:pPr marL="0" indent="0">
              <a:buNone/>
            </a:pPr>
            <a:r>
              <a:rPr lang="en-IN" b="1" dirty="0"/>
              <a:t>Step 2: High-Speed Switching</a:t>
            </a:r>
          </a:p>
          <a:p>
            <a:r>
              <a:rPr lang="en-IN" dirty="0"/>
              <a:t>Power semiconductor switches operate at </a:t>
            </a:r>
            <a:r>
              <a:rPr lang="en-IN" b="1" dirty="0"/>
              <a:t>5 kHz – 20 kHz</a:t>
            </a:r>
            <a:r>
              <a:rPr lang="en-IN" dirty="0"/>
              <a:t>.</a:t>
            </a:r>
          </a:p>
          <a:p>
            <a:pPr marL="0" indent="0">
              <a:buNone/>
            </a:pPr>
            <a:r>
              <a:rPr lang="en-IN" b="1" dirty="0"/>
              <a:t>Step 3: PWM Control</a:t>
            </a:r>
          </a:p>
          <a:p>
            <a:r>
              <a:rPr lang="en-IN" dirty="0"/>
              <a:t>Using </a:t>
            </a:r>
            <a:r>
              <a:rPr lang="en-IN" b="1" dirty="0"/>
              <a:t>Pulse Width Modulation (PWM)</a:t>
            </a:r>
            <a:r>
              <a:rPr lang="en-IN" dirty="0"/>
              <a:t>, the inverter synthesizes a </a:t>
            </a:r>
            <a:r>
              <a:rPr lang="en-IN" b="1" dirty="0"/>
              <a:t>sinusoidal AC waveform</a:t>
            </a:r>
            <a:r>
              <a:rPr lang="en-IN" dirty="0"/>
              <a:t>.</a:t>
            </a:r>
          </a:p>
          <a:p>
            <a:pPr marL="0" indent="0">
              <a:buNone/>
            </a:pPr>
            <a:r>
              <a:rPr lang="en-IN" b="1" dirty="0"/>
              <a:t>Step 4: Three-Phase Output</a:t>
            </a:r>
          </a:p>
          <a:p>
            <a:r>
              <a:rPr lang="en-IN" dirty="0"/>
              <a:t>The inverter generates:</a:t>
            </a:r>
          </a:p>
          <a:p>
            <a:pPr lvl="0"/>
            <a:r>
              <a:rPr lang="en-IN" dirty="0"/>
              <a:t>Phase A voltage</a:t>
            </a:r>
          </a:p>
          <a:p>
            <a:pPr lvl="0"/>
            <a:r>
              <a:rPr lang="en-IN" dirty="0"/>
              <a:t>Phase B voltage</a:t>
            </a:r>
          </a:p>
          <a:p>
            <a:pPr lvl="0"/>
            <a:r>
              <a:rPr lang="en-IN" dirty="0"/>
              <a:t>Phase C voltage</a:t>
            </a:r>
          </a:p>
          <a:p>
            <a:pPr marL="0" indent="0">
              <a:buNone/>
            </a:pPr>
            <a:r>
              <a:rPr lang="en-IN" dirty="0"/>
              <a:t>These are </a:t>
            </a:r>
            <a:r>
              <a:rPr lang="en-IN" b="1" dirty="0"/>
              <a:t>120° phase shifted AC signals</a:t>
            </a:r>
            <a:r>
              <a:rPr lang="en-IN" dirty="0"/>
              <a:t> that drive the motor.</a:t>
            </a:r>
          </a:p>
          <a:p>
            <a:endParaRPr lang="en-IN" dirty="0"/>
          </a:p>
        </p:txBody>
      </p:sp>
    </p:spTree>
    <p:extLst>
      <p:ext uri="{BB962C8B-B14F-4D97-AF65-F5344CB8AC3E}">
        <p14:creationId xmlns:p14="http://schemas.microsoft.com/office/powerpoint/2010/main" val="640036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6285" y="289056"/>
            <a:ext cx="11567475" cy="6394548"/>
          </a:xfrm>
        </p:spPr>
        <p:txBody>
          <a:bodyPr/>
          <a:lstStyle/>
          <a:p>
            <a:pPr marL="0" indent="0">
              <a:buNone/>
            </a:pPr>
            <a:r>
              <a:rPr lang="en-IN" b="1" dirty="0"/>
              <a:t>Mathematical Representation</a:t>
            </a:r>
          </a:p>
          <a:p>
            <a:r>
              <a:rPr lang="en-IN" dirty="0"/>
              <a:t>The three-phase voltages generated are:</a:t>
            </a:r>
          </a:p>
          <a:p>
            <a:r>
              <a:rPr lang="en-IN" dirty="0" err="1"/>
              <a:t>V</a:t>
            </a:r>
            <a:r>
              <a:rPr lang="en-IN" baseline="-25000" dirty="0" err="1"/>
              <a:t>a</a:t>
            </a:r>
            <a:r>
              <a:rPr lang="en-IN" dirty="0"/>
              <a:t>=</a:t>
            </a:r>
            <a:r>
              <a:rPr lang="en-IN" dirty="0" err="1"/>
              <a:t>V</a:t>
            </a:r>
            <a:r>
              <a:rPr lang="en-IN" baseline="-25000" dirty="0" err="1"/>
              <a:t>m</a:t>
            </a:r>
            <a:r>
              <a:rPr lang="en-IN" dirty="0" err="1"/>
              <a:t>sin</a:t>
            </a:r>
            <a:r>
              <a:rPr lang="en-IN" dirty="0"/>
              <a:t>(</a:t>
            </a:r>
            <a:r>
              <a:rPr lang="en-IN" dirty="0" err="1"/>
              <a:t>ωt</a:t>
            </a:r>
            <a:r>
              <a:rPr lang="en-IN" dirty="0"/>
              <a:t>)</a:t>
            </a:r>
          </a:p>
          <a:p>
            <a:r>
              <a:rPr lang="en-IN" dirty="0" err="1"/>
              <a:t>V</a:t>
            </a:r>
            <a:r>
              <a:rPr lang="en-IN" baseline="-25000" dirty="0" err="1"/>
              <a:t>b</a:t>
            </a:r>
            <a:r>
              <a:rPr lang="en-IN" dirty="0"/>
              <a:t>​=</a:t>
            </a:r>
            <a:r>
              <a:rPr lang="en-IN" dirty="0" err="1"/>
              <a:t>V</a:t>
            </a:r>
            <a:r>
              <a:rPr lang="en-IN" baseline="-25000" dirty="0" err="1"/>
              <a:t>m</a:t>
            </a:r>
            <a:r>
              <a:rPr lang="en-IN" baseline="-25000" dirty="0"/>
              <a:t>​</a:t>
            </a:r>
            <a:r>
              <a:rPr lang="en-IN" dirty="0"/>
              <a:t>sin(ωt−120∘)    </a:t>
            </a:r>
          </a:p>
          <a:p>
            <a:r>
              <a:rPr lang="en-IN" dirty="0" err="1"/>
              <a:t>V</a:t>
            </a:r>
            <a:r>
              <a:rPr lang="en-IN" baseline="-25000" dirty="0" err="1"/>
              <a:t>c</a:t>
            </a:r>
            <a:r>
              <a:rPr lang="en-IN" dirty="0"/>
              <a:t>​=</a:t>
            </a:r>
            <a:r>
              <a:rPr lang="en-IN" dirty="0" err="1"/>
              <a:t>V</a:t>
            </a:r>
            <a:r>
              <a:rPr lang="en-IN" baseline="-25000" dirty="0" err="1"/>
              <a:t>m</a:t>
            </a:r>
            <a:r>
              <a:rPr lang="en-IN" dirty="0"/>
              <a:t>​sin(ωt−240∘) </a:t>
            </a:r>
          </a:p>
          <a:p>
            <a:pPr marL="0" indent="0">
              <a:buNone/>
            </a:pPr>
            <a:r>
              <a:rPr lang="en-IN" dirty="0"/>
              <a:t>Where</a:t>
            </a:r>
          </a:p>
          <a:p>
            <a:pPr lvl="0"/>
            <a:r>
              <a:rPr lang="en-IN" dirty="0" err="1"/>
              <a:t>V</a:t>
            </a:r>
            <a:r>
              <a:rPr lang="en-IN" baseline="-25000" dirty="0" err="1"/>
              <a:t>m</a:t>
            </a:r>
            <a:r>
              <a:rPr lang="en-IN" dirty="0"/>
              <a:t>= peak phase voltage</a:t>
            </a:r>
          </a:p>
          <a:p>
            <a:pPr lvl="0"/>
            <a:r>
              <a:rPr lang="en-IN" dirty="0"/>
              <a:t>ω = angular frequency</a:t>
            </a:r>
          </a:p>
          <a:p>
            <a:pPr lvl="0"/>
            <a:r>
              <a:rPr lang="en-IN" dirty="0"/>
              <a:t>t = time</a:t>
            </a:r>
          </a:p>
          <a:p>
            <a:pPr marL="0" indent="0">
              <a:buNone/>
            </a:pPr>
            <a:r>
              <a:rPr lang="en-IN" dirty="0"/>
              <a:t>By controlling </a:t>
            </a:r>
            <a:r>
              <a:rPr lang="en-IN" b="1" dirty="0"/>
              <a:t>frequency</a:t>
            </a:r>
            <a:r>
              <a:rPr lang="en-IN" dirty="0"/>
              <a:t>, the EV controls </a:t>
            </a:r>
            <a:r>
              <a:rPr lang="en-IN" b="1" dirty="0"/>
              <a:t>motor speed</a:t>
            </a:r>
            <a:r>
              <a:rPr lang="en-IN" dirty="0"/>
              <a:t>.</a:t>
            </a:r>
          </a:p>
          <a:p>
            <a:endParaRPr lang="en-IN" dirty="0"/>
          </a:p>
        </p:txBody>
      </p:sp>
    </p:spTree>
    <p:extLst>
      <p:ext uri="{BB962C8B-B14F-4D97-AF65-F5344CB8AC3E}">
        <p14:creationId xmlns:p14="http://schemas.microsoft.com/office/powerpoint/2010/main" val="15008988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mn-lt"/>
              </a:rPr>
              <a:t>Power Devices Used in EV Inverters</a:t>
            </a:r>
            <a:r>
              <a:rPr lang="en-IN" dirty="0">
                <a:latin typeface="+mn-lt"/>
              </a:rPr>
              <a:t/>
            </a:r>
            <a:br>
              <a:rPr lang="en-IN" dirty="0">
                <a:latin typeface="+mn-lt"/>
              </a:rPr>
            </a:br>
            <a:endParaRPr lang="en-IN" dirty="0">
              <a:latin typeface="+mn-lt"/>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21214908"/>
              </p:ext>
            </p:extLst>
          </p:nvPr>
        </p:nvGraphicFramePr>
        <p:xfrm>
          <a:off x="838200" y="1231737"/>
          <a:ext cx="10515600" cy="1641604"/>
        </p:xfrm>
        <a:graphic>
          <a:graphicData uri="http://schemas.openxmlformats.org/drawingml/2006/table">
            <a:tbl>
              <a:tblPr firstRow="1" bandRow="1">
                <a:tableStyleId>{5C22544A-7EE6-4342-B048-85BDC9FD1C3A}</a:tableStyleId>
              </a:tblPr>
              <a:tblGrid>
                <a:gridCol w="3809214">
                  <a:extLst>
                    <a:ext uri="{9D8B030D-6E8A-4147-A177-3AD203B41FA5}">
                      <a16:colId xmlns:a16="http://schemas.microsoft.com/office/drawing/2014/main" val="1847189194"/>
                    </a:ext>
                  </a:extLst>
                </a:gridCol>
                <a:gridCol w="6706386">
                  <a:extLst>
                    <a:ext uri="{9D8B030D-6E8A-4147-A177-3AD203B41FA5}">
                      <a16:colId xmlns:a16="http://schemas.microsoft.com/office/drawing/2014/main" val="2379590101"/>
                    </a:ext>
                  </a:extLst>
                </a:gridCol>
              </a:tblGrid>
              <a:tr h="377866">
                <a:tc>
                  <a:txBody>
                    <a:bodyPr/>
                    <a:lstStyle/>
                    <a:p>
                      <a:pPr algn="ctr">
                        <a:lnSpc>
                          <a:spcPct val="107000"/>
                        </a:lnSpc>
                        <a:spcAft>
                          <a:spcPts val="0"/>
                        </a:spcAft>
                      </a:pPr>
                      <a:r>
                        <a:rPr lang="en-IN" sz="2400" b="1" dirty="0">
                          <a:effectLst/>
                          <a:latin typeface="+mn-lt"/>
                          <a:ea typeface="Times New Roman" panose="02020603050405020304" pitchFamily="18" charset="0"/>
                          <a:cs typeface="Times New Roman" panose="02020603050405020304" pitchFamily="18" charset="0"/>
                        </a:rPr>
                        <a:t>Device</a:t>
                      </a:r>
                      <a:endParaRPr lang="en-IN" sz="24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b="1" dirty="0">
                          <a:effectLst/>
                          <a:latin typeface="+mn-lt"/>
                          <a:ea typeface="Times New Roman" panose="02020603050405020304" pitchFamily="18" charset="0"/>
                          <a:cs typeface="Times New Roman" panose="02020603050405020304" pitchFamily="18" charset="0"/>
                        </a:rPr>
                        <a:t>Used In</a:t>
                      </a:r>
                      <a:endParaRPr lang="en-IN" sz="2400" dirty="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88745260"/>
                  </a:ext>
                </a:extLst>
              </a:tr>
              <a:tr h="377866">
                <a:tc>
                  <a:txBody>
                    <a:bodyPr/>
                    <a:lstStyle/>
                    <a:p>
                      <a:pPr algn="ctr">
                        <a:lnSpc>
                          <a:spcPct val="107000"/>
                        </a:lnSpc>
                        <a:spcAft>
                          <a:spcPts val="0"/>
                        </a:spcAft>
                      </a:pPr>
                      <a:r>
                        <a:rPr lang="en-IN" sz="2400" dirty="0">
                          <a:effectLst/>
                          <a:latin typeface="+mn-lt"/>
                          <a:ea typeface="Times New Roman" panose="02020603050405020304" pitchFamily="18" charset="0"/>
                          <a:cs typeface="Times New Roman" panose="02020603050405020304" pitchFamily="18" charset="0"/>
                        </a:rPr>
                        <a:t>MOSFET</a:t>
                      </a:r>
                      <a:endParaRPr lang="en-IN" sz="24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a:effectLst/>
                          <a:latin typeface="+mn-lt"/>
                          <a:ea typeface="Times New Roman" panose="02020603050405020304" pitchFamily="18" charset="0"/>
                          <a:cs typeface="Times New Roman" panose="02020603050405020304" pitchFamily="18" charset="0"/>
                        </a:rPr>
                        <a:t>Low power EVs, e-bikes</a:t>
                      </a:r>
                      <a:endParaRPr lang="en-IN" sz="240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8388869"/>
                  </a:ext>
                </a:extLst>
              </a:tr>
              <a:tr h="377866">
                <a:tc>
                  <a:txBody>
                    <a:bodyPr/>
                    <a:lstStyle/>
                    <a:p>
                      <a:pPr algn="ctr">
                        <a:lnSpc>
                          <a:spcPct val="107000"/>
                        </a:lnSpc>
                        <a:spcAft>
                          <a:spcPts val="0"/>
                        </a:spcAft>
                      </a:pPr>
                      <a:r>
                        <a:rPr lang="en-IN" sz="2400" dirty="0">
                          <a:effectLst/>
                          <a:latin typeface="+mn-lt"/>
                          <a:ea typeface="Times New Roman" panose="02020603050405020304" pitchFamily="18" charset="0"/>
                          <a:cs typeface="Times New Roman" panose="02020603050405020304" pitchFamily="18" charset="0"/>
                        </a:rPr>
                        <a:t>IGBT</a:t>
                      </a:r>
                      <a:endParaRPr lang="en-IN" sz="24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a:effectLst/>
                          <a:latin typeface="+mn-lt"/>
                          <a:ea typeface="Times New Roman" panose="02020603050405020304" pitchFamily="18" charset="0"/>
                          <a:cs typeface="Times New Roman" panose="02020603050405020304" pitchFamily="18" charset="0"/>
                        </a:rPr>
                        <a:t>Most electric cars</a:t>
                      </a:r>
                      <a:endParaRPr lang="en-IN" sz="240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84951666"/>
                  </a:ext>
                </a:extLst>
              </a:tr>
              <a:tr h="377866">
                <a:tc>
                  <a:txBody>
                    <a:bodyPr/>
                    <a:lstStyle/>
                    <a:p>
                      <a:pPr algn="ctr">
                        <a:lnSpc>
                          <a:spcPct val="107000"/>
                        </a:lnSpc>
                        <a:spcAft>
                          <a:spcPts val="0"/>
                        </a:spcAft>
                      </a:pPr>
                      <a:r>
                        <a:rPr lang="en-IN" sz="2400" dirty="0" err="1">
                          <a:effectLst/>
                          <a:latin typeface="+mn-lt"/>
                          <a:ea typeface="Times New Roman" panose="02020603050405020304" pitchFamily="18" charset="0"/>
                          <a:cs typeface="Times New Roman" panose="02020603050405020304" pitchFamily="18" charset="0"/>
                        </a:rPr>
                        <a:t>SiC</a:t>
                      </a:r>
                      <a:r>
                        <a:rPr lang="en-IN" sz="2400" dirty="0">
                          <a:effectLst/>
                          <a:latin typeface="+mn-lt"/>
                          <a:ea typeface="Times New Roman" panose="02020603050405020304" pitchFamily="18" charset="0"/>
                          <a:cs typeface="Times New Roman" panose="02020603050405020304" pitchFamily="18" charset="0"/>
                        </a:rPr>
                        <a:t> MOSFET</a:t>
                      </a:r>
                      <a:endParaRPr lang="en-IN" sz="2400" dirty="0">
                        <a:effectLst/>
                        <a:latin typeface="+mn-lt"/>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2400" dirty="0">
                          <a:effectLst/>
                          <a:latin typeface="+mn-lt"/>
                          <a:ea typeface="Times New Roman" panose="02020603050405020304" pitchFamily="18" charset="0"/>
                          <a:cs typeface="Times New Roman" panose="02020603050405020304" pitchFamily="18" charset="0"/>
                        </a:rPr>
                        <a:t>High efficiency EVs (Tesla, Hyundai, Porsche)</a:t>
                      </a:r>
                      <a:endParaRPr lang="en-IN" sz="2400" dirty="0">
                        <a:effectLst/>
                        <a:latin typeface="+mn-lt"/>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4331480"/>
                  </a:ext>
                </a:extLst>
              </a:tr>
            </a:tbl>
          </a:graphicData>
        </a:graphic>
      </p:graphicFrame>
      <p:sp>
        <p:nvSpPr>
          <p:cNvPr id="6" name="Rectangle 5"/>
          <p:cNvSpPr/>
          <p:nvPr/>
        </p:nvSpPr>
        <p:spPr>
          <a:xfrm>
            <a:off x="762785" y="3142104"/>
            <a:ext cx="10470037" cy="3046988"/>
          </a:xfrm>
          <a:prstGeom prst="rect">
            <a:avLst/>
          </a:prstGeom>
        </p:spPr>
        <p:txBody>
          <a:bodyPr wrap="square">
            <a:spAutoFit/>
          </a:bodyPr>
          <a:lstStyle/>
          <a:p>
            <a:r>
              <a:rPr lang="en-IN" sz="2400" b="1" dirty="0">
                <a:ea typeface="Times New Roman" panose="02020603050405020304" pitchFamily="18" charset="0"/>
              </a:rPr>
              <a:t>EV inverter also performs:</a:t>
            </a:r>
            <a:endParaRPr lang="en-IN" sz="2400" dirty="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rPr>
              <a:t>Motor torque control</a:t>
            </a: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rPr>
              <a:t>Regenerative braking</a:t>
            </a: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rPr>
              <a:t>Current limiting</a:t>
            </a: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rPr>
              <a:t>Motor protection</a:t>
            </a:r>
          </a:p>
          <a:p>
            <a:pPr marL="342900" lvl="0" indent="-342900">
              <a:buSzPts val="1000"/>
              <a:buFont typeface="Symbol" panose="05050102010706020507" pitchFamily="18" charset="2"/>
              <a:buChar char=""/>
              <a:tabLst>
                <a:tab pos="457200" algn="l"/>
              </a:tabLst>
            </a:pPr>
            <a:r>
              <a:rPr lang="en-IN" sz="2400" dirty="0">
                <a:ea typeface="Times New Roman" panose="02020603050405020304" pitchFamily="18" charset="0"/>
              </a:rPr>
              <a:t>Efficiency optimization</a:t>
            </a:r>
          </a:p>
          <a:p>
            <a:r>
              <a:rPr lang="en-IN" sz="2400" dirty="0">
                <a:ea typeface="Times New Roman" panose="02020603050405020304" pitchFamily="18" charset="0"/>
              </a:rPr>
              <a:t>During </a:t>
            </a:r>
            <a:r>
              <a:rPr lang="en-IN" sz="2400" b="1" dirty="0">
                <a:ea typeface="Times New Roman" panose="02020603050405020304" pitchFamily="18" charset="0"/>
              </a:rPr>
              <a:t>regenerative braking</a:t>
            </a:r>
            <a:r>
              <a:rPr lang="en-IN" sz="2400" dirty="0">
                <a:ea typeface="Times New Roman" panose="02020603050405020304" pitchFamily="18" charset="0"/>
              </a:rPr>
              <a:t>, the inverter works in reverse:</a:t>
            </a:r>
          </a:p>
          <a:p>
            <a:r>
              <a:rPr lang="en-IN" sz="2400" dirty="0">
                <a:ea typeface="Times New Roman" panose="02020603050405020304" pitchFamily="18" charset="0"/>
              </a:rPr>
              <a:t>Motor AC → Inverter → DC → Battery charging.</a:t>
            </a:r>
          </a:p>
        </p:txBody>
      </p:sp>
    </p:spTree>
    <p:extLst>
      <p:ext uri="{BB962C8B-B14F-4D97-AF65-F5344CB8AC3E}">
        <p14:creationId xmlns:p14="http://schemas.microsoft.com/office/powerpoint/2010/main" val="3447559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474" y="282804"/>
            <a:ext cx="10515600" cy="876693"/>
          </a:xfrm>
        </p:spPr>
        <p:txBody>
          <a:bodyPr/>
          <a:lstStyle/>
          <a:p>
            <a:pPr algn="ctr"/>
            <a:r>
              <a:rPr lang="en-IN" dirty="0" smtClean="0"/>
              <a:t>AC to DC </a:t>
            </a:r>
            <a:endParaRPr lang="en-IN" dirty="0"/>
          </a:p>
        </p:txBody>
      </p:sp>
      <p:sp>
        <p:nvSpPr>
          <p:cNvPr id="3" name="Content Placeholder 2"/>
          <p:cNvSpPr>
            <a:spLocks noGrp="1"/>
          </p:cNvSpPr>
          <p:nvPr>
            <p:ph idx="1"/>
          </p:nvPr>
        </p:nvSpPr>
        <p:spPr>
          <a:xfrm>
            <a:off x="518474" y="1366887"/>
            <a:ext cx="11246178" cy="5420412"/>
          </a:xfrm>
        </p:spPr>
        <p:txBody>
          <a:bodyPr>
            <a:normAutofit/>
          </a:bodyPr>
          <a:lstStyle/>
          <a:p>
            <a:pPr marL="0" indent="0">
              <a:buNone/>
            </a:pPr>
            <a:r>
              <a:rPr lang="en-IN" dirty="0"/>
              <a:t>In an EV, AC to DC transformation happens mainly in the </a:t>
            </a:r>
            <a:r>
              <a:rPr lang="en-IN" b="1" dirty="0"/>
              <a:t>on‑board charger (OBC)</a:t>
            </a:r>
            <a:r>
              <a:rPr lang="en-IN" dirty="0"/>
              <a:t> during AC charging, where grid AC is converted into controlled DC to charge the high‑voltage battery</a:t>
            </a:r>
            <a:r>
              <a:rPr lang="en-IN" dirty="0" smtClean="0"/>
              <a:t>.</a:t>
            </a:r>
          </a:p>
          <a:p>
            <a:pPr marL="0" indent="0">
              <a:buNone/>
            </a:pPr>
            <a:endParaRPr lang="en-IN" dirty="0"/>
          </a:p>
          <a:p>
            <a:pPr lvl="0"/>
            <a:r>
              <a:rPr lang="en-IN" dirty="0"/>
              <a:t>EV batteries store energy as DC, typically a few hundred volts (for example 200–900 V depending on vehicle and SOC).</a:t>
            </a:r>
          </a:p>
          <a:p>
            <a:pPr lvl="0"/>
            <a:r>
              <a:rPr lang="en-IN" dirty="0"/>
              <a:t>When you plug into an AC charger (home or public “AC station”), AC from the grid goes through the OBC inside the car, which converts it to DC and sends it to the pack via the BMS.</a:t>
            </a:r>
          </a:p>
          <a:p>
            <a:pPr lvl="0"/>
            <a:r>
              <a:rPr lang="en-IN" dirty="0"/>
              <a:t> With DC fast charging, the AC→DC conversion is done in the off‑board charger; the station outputs DC directly, bypassing the vehicle’s OBC.</a:t>
            </a:r>
          </a:p>
          <a:p>
            <a:endParaRPr lang="en-IN" dirty="0"/>
          </a:p>
        </p:txBody>
      </p:sp>
    </p:spTree>
    <p:extLst>
      <p:ext uri="{BB962C8B-B14F-4D97-AF65-F5344CB8AC3E}">
        <p14:creationId xmlns:p14="http://schemas.microsoft.com/office/powerpoint/2010/main" val="2699867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0070"/>
            <a:ext cx="10515600" cy="5026893"/>
          </a:xfrm>
        </p:spPr>
        <p:txBody>
          <a:bodyPr/>
          <a:lstStyle/>
          <a:p>
            <a:pPr lvl="0"/>
            <a:r>
              <a:rPr lang="en-IN" b="1" dirty="0"/>
              <a:t>AC input + </a:t>
            </a:r>
            <a:r>
              <a:rPr lang="en-IN" b="1" dirty="0" smtClean="0"/>
              <a:t>EMI(Electromagnetic Interference) </a:t>
            </a:r>
            <a:r>
              <a:rPr lang="en-IN" b="1" dirty="0"/>
              <a:t>/ </a:t>
            </a:r>
            <a:r>
              <a:rPr lang="en-IN" b="1" dirty="0" smtClean="0"/>
              <a:t>protection</a:t>
            </a:r>
            <a:endParaRPr lang="en-IN" sz="2400" dirty="0"/>
          </a:p>
          <a:p>
            <a:pPr lvl="1"/>
            <a:r>
              <a:rPr lang="en-IN" dirty="0"/>
              <a:t>Grid AC (often 200–400 V single‑ or three‑phase) passes through contactors, fuses, and EMI filters to meet grid </a:t>
            </a:r>
            <a:r>
              <a:rPr lang="en-IN" dirty="0" smtClean="0"/>
              <a:t>EMC (electromagnetic compatibility) </a:t>
            </a:r>
            <a:r>
              <a:rPr lang="en-IN" dirty="0"/>
              <a:t>and safety requirements.</a:t>
            </a:r>
            <a:endParaRPr lang="en-IN" sz="2000" dirty="0"/>
          </a:p>
          <a:p>
            <a:pPr lvl="0"/>
            <a:r>
              <a:rPr lang="en-IN" b="1" dirty="0"/>
              <a:t>AC→DC rectifier + PFC stage</a:t>
            </a:r>
            <a:endParaRPr lang="en-IN" sz="2400" dirty="0"/>
          </a:p>
          <a:p>
            <a:pPr lvl="1"/>
            <a:r>
              <a:rPr lang="en-IN" dirty="0"/>
              <a:t>A full‑wave rectifier plus an active power‑factor‑correction (PFC) stage converts AC to a regulated high‑voltage DC “PFC bus”.</a:t>
            </a:r>
            <a:endParaRPr lang="en-IN" sz="2000" dirty="0"/>
          </a:p>
          <a:p>
            <a:pPr lvl="1"/>
            <a:r>
              <a:rPr lang="en-IN" dirty="0"/>
              <a:t>PFC shapes input current to be almost sinusoidal and in phase with the voltage, giving high power factor and low harmonics.</a:t>
            </a:r>
            <a:endParaRPr lang="en-IN" sz="2000" dirty="0"/>
          </a:p>
          <a:p>
            <a:endParaRPr lang="en-IN" dirty="0"/>
          </a:p>
        </p:txBody>
      </p:sp>
    </p:spTree>
    <p:extLst>
      <p:ext uri="{BB962C8B-B14F-4D97-AF65-F5344CB8AC3E}">
        <p14:creationId xmlns:p14="http://schemas.microsoft.com/office/powerpoint/2010/main" val="7001622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IN" b="1" dirty="0"/>
              <a:t>Isolated DC‑DC converter (DC bus → battery DC)</a:t>
            </a:r>
            <a:endParaRPr lang="en-IN" sz="2400" dirty="0"/>
          </a:p>
          <a:p>
            <a:pPr lvl="1"/>
            <a:r>
              <a:rPr lang="en-IN" dirty="0"/>
              <a:t>From the PFC DC bus (often several hundred volts), an isolated DC‑DC stage </a:t>
            </a:r>
            <a:r>
              <a:rPr lang="en-IN" dirty="0" smtClean="0"/>
              <a:t>converts </a:t>
            </a:r>
            <a:r>
              <a:rPr lang="en-IN" dirty="0"/>
              <a:t>and isolates to the exact battery voltage required at that moment.</a:t>
            </a:r>
            <a:endParaRPr lang="en-IN" sz="2000" dirty="0"/>
          </a:p>
          <a:p>
            <a:pPr lvl="1"/>
            <a:r>
              <a:rPr lang="en-IN" dirty="0"/>
              <a:t>This stage runs in CC/CV modes under BMS supervision to control charging current and voltage safely.</a:t>
            </a:r>
            <a:endParaRPr lang="en-IN" sz="2000" dirty="0"/>
          </a:p>
          <a:p>
            <a:pPr lvl="0"/>
            <a:r>
              <a:rPr lang="en-IN" b="1" dirty="0"/>
              <a:t>Battery connection and BMS</a:t>
            </a:r>
            <a:endParaRPr lang="en-IN" sz="2400" dirty="0"/>
          </a:p>
          <a:p>
            <a:pPr lvl="1"/>
            <a:r>
              <a:rPr lang="en-IN" dirty="0"/>
              <a:t>The DC output passes through contactors and measurement circuits to the battery; BMS monitors cell voltages, temperature, and current and commands the OBC to adjust or stop charging.</a:t>
            </a:r>
            <a:endParaRPr lang="en-IN" sz="2000" dirty="0"/>
          </a:p>
          <a:p>
            <a:endParaRPr lang="en-IN" dirty="0"/>
          </a:p>
        </p:txBody>
      </p:sp>
    </p:spTree>
    <p:extLst>
      <p:ext uri="{BB962C8B-B14F-4D97-AF65-F5344CB8AC3E}">
        <p14:creationId xmlns:p14="http://schemas.microsoft.com/office/powerpoint/2010/main" val="552884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Operating modes and power levels</a:t>
            </a:r>
            <a:r>
              <a:rPr lang="en-IN" dirty="0"/>
              <a:t/>
            </a:r>
            <a:br>
              <a:rPr lang="en-IN" dirty="0"/>
            </a:br>
            <a:endParaRPr lang="en-IN" dirty="0"/>
          </a:p>
        </p:txBody>
      </p:sp>
      <p:sp>
        <p:nvSpPr>
          <p:cNvPr id="3" name="Content Placeholder 2"/>
          <p:cNvSpPr>
            <a:spLocks noGrp="1"/>
          </p:cNvSpPr>
          <p:nvPr>
            <p:ph idx="1"/>
          </p:nvPr>
        </p:nvSpPr>
        <p:spPr/>
        <p:txBody>
          <a:bodyPr/>
          <a:lstStyle/>
          <a:p>
            <a:pPr lvl="0"/>
            <a:r>
              <a:rPr lang="en-IN" dirty="0"/>
              <a:t>Normal AC charging (“Level 1/2”) uses the OBC, with typical power from about 1–2 kW up to around 11–22 kW depending on vehicle and grid phases.</a:t>
            </a:r>
          </a:p>
          <a:p>
            <a:pPr lvl="0"/>
            <a:r>
              <a:rPr lang="en-IN" dirty="0"/>
              <a:t>In this mode, the AC→DC converter in the car determines the maximum AC charging rate; higher‑power OBCs allow faster AC charging but add cost and thermal complexity.</a:t>
            </a:r>
          </a:p>
          <a:p>
            <a:endParaRPr lang="en-IN" dirty="0"/>
          </a:p>
        </p:txBody>
      </p:sp>
    </p:spTree>
    <p:extLst>
      <p:ext uri="{BB962C8B-B14F-4D97-AF65-F5344CB8AC3E}">
        <p14:creationId xmlns:p14="http://schemas.microsoft.com/office/powerpoint/2010/main" val="31230070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Why this AC→DC chain is special in EVs</a:t>
            </a:r>
            <a:r>
              <a:rPr lang="en-IN" dirty="0"/>
              <a:t/>
            </a:r>
            <a:br>
              <a:rPr lang="en-IN" dirty="0"/>
            </a:br>
            <a:endParaRPr lang="en-IN" dirty="0"/>
          </a:p>
        </p:txBody>
      </p:sp>
      <p:sp>
        <p:nvSpPr>
          <p:cNvPr id="3" name="Content Placeholder 2"/>
          <p:cNvSpPr>
            <a:spLocks noGrp="1"/>
          </p:cNvSpPr>
          <p:nvPr>
            <p:ph idx="1"/>
          </p:nvPr>
        </p:nvSpPr>
        <p:spPr/>
        <p:txBody>
          <a:bodyPr/>
          <a:lstStyle/>
          <a:p>
            <a:pPr lvl="0"/>
            <a:r>
              <a:rPr lang="en-IN" dirty="0"/>
              <a:t>Must meet strict grid standards for power factor and harmonics (hence sophisticated PFC, not just a diode bridge and bulk capacitor).</a:t>
            </a:r>
          </a:p>
          <a:p>
            <a:pPr lvl="0"/>
            <a:r>
              <a:rPr lang="en-IN" dirty="0"/>
              <a:t>Must be highly efficient (around mid‑90% range) and compact, often sharing hardware and cooling with other power‑electronics like DC‑DC and inverter.</a:t>
            </a:r>
          </a:p>
          <a:p>
            <a:pPr lvl="0"/>
            <a:r>
              <a:rPr lang="en-IN" dirty="0"/>
              <a:t>Must coordinate tightly with the BMS for safe charging (cell balancing, temperature limits, SOC estimation, etc.).</a:t>
            </a:r>
          </a:p>
          <a:p>
            <a:endParaRPr lang="en-IN" dirty="0"/>
          </a:p>
        </p:txBody>
      </p:sp>
    </p:spTree>
    <p:extLst>
      <p:ext uri="{BB962C8B-B14F-4D97-AF65-F5344CB8AC3E}">
        <p14:creationId xmlns:p14="http://schemas.microsoft.com/office/powerpoint/2010/main" val="40493091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BMS and OBC control interaction</a:t>
            </a:r>
            <a:br>
              <a:rPr lang="en-IN" b="1" dirty="0"/>
            </a:br>
            <a:endParaRPr lang="en-IN" dirty="0"/>
          </a:p>
        </p:txBody>
      </p:sp>
      <p:sp>
        <p:nvSpPr>
          <p:cNvPr id="3" name="Content Placeholder 2"/>
          <p:cNvSpPr>
            <a:spLocks noGrp="1"/>
          </p:cNvSpPr>
          <p:nvPr>
            <p:ph idx="1"/>
          </p:nvPr>
        </p:nvSpPr>
        <p:spPr>
          <a:xfrm>
            <a:off x="433633" y="1366886"/>
            <a:ext cx="11528981" cy="5203595"/>
          </a:xfrm>
        </p:spPr>
        <p:txBody>
          <a:bodyPr/>
          <a:lstStyle/>
          <a:p>
            <a:r>
              <a:rPr lang="en-IN" dirty="0"/>
              <a:t>The </a:t>
            </a:r>
            <a:r>
              <a:rPr lang="en-IN" b="1" dirty="0"/>
              <a:t>BMS is “master”</a:t>
            </a:r>
            <a:r>
              <a:rPr lang="en-IN" dirty="0"/>
              <a:t>; OBC is a </a:t>
            </a:r>
            <a:r>
              <a:rPr lang="en-IN" b="1" dirty="0"/>
              <a:t>“slave power module”</a:t>
            </a:r>
            <a:r>
              <a:rPr lang="en-IN" dirty="0"/>
              <a:t> that follows BMS requests.</a:t>
            </a:r>
          </a:p>
          <a:p>
            <a:pPr lvl="0"/>
            <a:r>
              <a:rPr lang="en-IN" b="1" dirty="0"/>
              <a:t>Handshake with </a:t>
            </a:r>
            <a:r>
              <a:rPr lang="en-IN" b="1" dirty="0" smtClean="0"/>
              <a:t>Electric Vehicle Supply Equipment (EVSE)</a:t>
            </a:r>
            <a:endParaRPr lang="en-IN" dirty="0"/>
          </a:p>
          <a:p>
            <a:pPr lvl="1"/>
            <a:r>
              <a:rPr lang="en-IN" dirty="0"/>
              <a:t>Vehicle charge controller communicates with the AC EVSE (pilot signal, control pilot, proximity, or digital </a:t>
            </a:r>
            <a:r>
              <a:rPr lang="en-IN" dirty="0" err="1"/>
              <a:t>comms</a:t>
            </a:r>
            <a:r>
              <a:rPr lang="en-IN" dirty="0"/>
              <a:t> depending on standard).</a:t>
            </a:r>
          </a:p>
          <a:p>
            <a:pPr lvl="1"/>
            <a:r>
              <a:rPr lang="en-IN" dirty="0"/>
              <a:t>Max available current from grid/EVSE is determined (e.g. 32 A).</a:t>
            </a:r>
          </a:p>
          <a:p>
            <a:pPr lvl="0"/>
            <a:r>
              <a:rPr lang="en-IN" b="1" dirty="0"/>
              <a:t>BMS decides charge limits</a:t>
            </a:r>
            <a:endParaRPr lang="en-IN" dirty="0"/>
          </a:p>
          <a:p>
            <a:pPr lvl="1"/>
            <a:r>
              <a:rPr lang="en-IN" dirty="0"/>
              <a:t>Based on cell voltages, pack voltage, temperatures, SOC, and SOH, BMS computes allowable charge current </a:t>
            </a:r>
            <a:r>
              <a:rPr lang="en-IN" dirty="0" err="1"/>
              <a:t>I</a:t>
            </a:r>
            <a:r>
              <a:rPr lang="en-IN" baseline="-25000" dirty="0" err="1"/>
              <a:t>chg,max</a:t>
            </a:r>
            <a:r>
              <a:rPr lang="en-IN" baseline="-25000" dirty="0"/>
              <a:t> </a:t>
            </a:r>
            <a:r>
              <a:rPr lang="en-IN" dirty="0"/>
              <a:t>and target voltage </a:t>
            </a:r>
            <a:r>
              <a:rPr lang="en-IN" dirty="0" err="1"/>
              <a:t>V</a:t>
            </a:r>
            <a:r>
              <a:rPr lang="en-IN" baseline="-25000" dirty="0" err="1"/>
              <a:t>target</a:t>
            </a:r>
            <a:endParaRPr lang="en-IN" dirty="0"/>
          </a:p>
          <a:p>
            <a:pPr lvl="1"/>
            <a:r>
              <a:rPr lang="en-IN" dirty="0"/>
              <a:t>It considers safety limits (cell over‑voltage, pack over‑current, temperature windows).</a:t>
            </a:r>
          </a:p>
          <a:p>
            <a:endParaRPr lang="en-IN" dirty="0"/>
          </a:p>
        </p:txBody>
      </p:sp>
    </p:spTree>
    <p:extLst>
      <p:ext uri="{BB962C8B-B14F-4D97-AF65-F5344CB8AC3E}">
        <p14:creationId xmlns:p14="http://schemas.microsoft.com/office/powerpoint/2010/main" val="9050111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524" y="424206"/>
            <a:ext cx="11099276" cy="5752757"/>
          </a:xfrm>
        </p:spPr>
        <p:txBody>
          <a:bodyPr/>
          <a:lstStyle/>
          <a:p>
            <a:pPr lvl="0"/>
            <a:r>
              <a:rPr lang="en-IN" b="1" dirty="0"/>
              <a:t>BMS sends </a:t>
            </a:r>
            <a:r>
              <a:rPr lang="en-IN" b="1" dirty="0" err="1"/>
              <a:t>setpoints</a:t>
            </a:r>
            <a:r>
              <a:rPr lang="en-IN" b="1" dirty="0"/>
              <a:t> to OBC</a:t>
            </a:r>
            <a:endParaRPr lang="en-IN" dirty="0"/>
          </a:p>
          <a:p>
            <a:pPr lvl="1"/>
            <a:r>
              <a:rPr lang="en-IN" dirty="0"/>
              <a:t>Over CAN or other in‑vehicle network, BMS sends allowed current, target voltage, and possibly ramp rates or mode (CC/CV).</a:t>
            </a:r>
          </a:p>
          <a:p>
            <a:pPr lvl="1"/>
            <a:r>
              <a:rPr lang="en-IN" dirty="0"/>
              <a:t>OBC confirms its own limits (thermal, grid current limit, hardware max) and returns a feasible </a:t>
            </a:r>
            <a:r>
              <a:rPr lang="en-IN" dirty="0" smtClean="0"/>
              <a:t>set point </a:t>
            </a:r>
            <a:r>
              <a:rPr lang="en-IN" dirty="0"/>
              <a:t>if needed</a:t>
            </a:r>
            <a:r>
              <a:rPr lang="en-IN" dirty="0" smtClean="0"/>
              <a:t>.</a:t>
            </a:r>
          </a:p>
          <a:p>
            <a:pPr marL="457200" lvl="1" indent="0">
              <a:buNone/>
            </a:pPr>
            <a:endParaRPr lang="en-IN" dirty="0" smtClean="0"/>
          </a:p>
          <a:p>
            <a:pPr lvl="0"/>
            <a:r>
              <a:rPr lang="en-IN" b="1" dirty="0" smtClean="0"/>
              <a:t>OBC </a:t>
            </a:r>
            <a:r>
              <a:rPr lang="en-IN" b="1" dirty="0"/>
              <a:t>inner control loops</a:t>
            </a:r>
            <a:endParaRPr lang="en-IN" dirty="0"/>
          </a:p>
          <a:p>
            <a:pPr lvl="1"/>
            <a:r>
              <a:rPr lang="en-IN" b="1" dirty="0"/>
              <a:t>PFC stage</a:t>
            </a:r>
            <a:r>
              <a:rPr lang="en-IN" dirty="0"/>
              <a:t>: inner current loop tracks a sinusoidal reference; outer DC‑bus loop regulates </a:t>
            </a:r>
            <a:r>
              <a:rPr lang="en-IN" dirty="0" err="1"/>
              <a:t>V</a:t>
            </a:r>
            <a:r>
              <a:rPr lang="en-IN" baseline="-25000" dirty="0" err="1"/>
              <a:t>dc</a:t>
            </a:r>
            <a:endParaRPr lang="en-IN" dirty="0"/>
          </a:p>
          <a:p>
            <a:pPr lvl="1"/>
            <a:r>
              <a:rPr lang="en-IN" b="1" dirty="0"/>
              <a:t>DC‑DC stage</a:t>
            </a:r>
            <a:r>
              <a:rPr lang="en-IN" dirty="0"/>
              <a:t>: inner current loop controls battery current, outer loop controls battery voltage during CV phase.</a:t>
            </a:r>
          </a:p>
        </p:txBody>
      </p:sp>
    </p:spTree>
    <p:extLst>
      <p:ext uri="{BB962C8B-B14F-4D97-AF65-F5344CB8AC3E}">
        <p14:creationId xmlns:p14="http://schemas.microsoft.com/office/powerpoint/2010/main" val="32507688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1596" y="801278"/>
            <a:ext cx="10722204" cy="5375685"/>
          </a:xfrm>
        </p:spPr>
        <p:txBody>
          <a:bodyPr/>
          <a:lstStyle/>
          <a:p>
            <a:pPr lvl="0"/>
            <a:r>
              <a:rPr lang="en-IN" b="1" dirty="0"/>
              <a:t>Charging profile (CC/CV)</a:t>
            </a:r>
            <a:endParaRPr lang="en-IN" dirty="0"/>
          </a:p>
          <a:p>
            <a:pPr lvl="1"/>
            <a:r>
              <a:rPr lang="en-IN" dirty="0"/>
              <a:t>Constant‑current phase: OBC regulates </a:t>
            </a:r>
            <a:r>
              <a:rPr lang="en-IN" dirty="0" err="1"/>
              <a:t>I</a:t>
            </a:r>
            <a:r>
              <a:rPr lang="en-IN" baseline="-25000" dirty="0" err="1"/>
              <a:t>bat</a:t>
            </a:r>
            <a:r>
              <a:rPr lang="en-IN" dirty="0"/>
              <a:t>=</a:t>
            </a:r>
            <a:r>
              <a:rPr lang="en-IN" dirty="0" err="1"/>
              <a:t>I</a:t>
            </a:r>
            <a:r>
              <a:rPr lang="en-IN" baseline="-25000" dirty="0" err="1"/>
              <a:t>ref</a:t>
            </a:r>
            <a:r>
              <a:rPr lang="en-IN" baseline="-25000" dirty="0"/>
              <a:t> </a:t>
            </a:r>
            <a:r>
              <a:rPr lang="en-IN" dirty="0"/>
              <a:t>commanded by BMS; BMS monitors cell voltages and temp.</a:t>
            </a:r>
          </a:p>
          <a:p>
            <a:pPr lvl="1"/>
            <a:r>
              <a:rPr lang="en-IN" dirty="0"/>
              <a:t>Once any cell approaches its upper limit, BMS switches to constant‑voltage behaviour: it commands a </a:t>
            </a:r>
            <a:r>
              <a:rPr lang="en-IN" dirty="0" err="1"/>
              <a:t>V</a:t>
            </a:r>
            <a:r>
              <a:rPr lang="en-IN" baseline="-25000" dirty="0" err="1"/>
              <a:t>target</a:t>
            </a:r>
            <a:r>
              <a:rPr lang="en-IN" baseline="-25000" dirty="0"/>
              <a:t> </a:t>
            </a:r>
            <a:r>
              <a:rPr lang="en-IN" dirty="0"/>
              <a:t>and progressively reduces current.</a:t>
            </a:r>
          </a:p>
          <a:p>
            <a:pPr lvl="0"/>
            <a:r>
              <a:rPr lang="en-IN" b="1" dirty="0"/>
              <a:t>Fault and safety handling</a:t>
            </a:r>
            <a:endParaRPr lang="en-IN" dirty="0"/>
          </a:p>
          <a:p>
            <a:pPr lvl="1"/>
            <a:r>
              <a:rPr lang="en-IN" dirty="0"/>
              <a:t>If BMS detects over‑temperature, over‑voltage, communication loss, isolation fault, etc., it sends reduced current or stop command; OBC must ramp down gracefully and open contactors if required.</a:t>
            </a:r>
          </a:p>
          <a:p>
            <a:endParaRPr lang="en-IN" dirty="0"/>
          </a:p>
        </p:txBody>
      </p:sp>
    </p:spTree>
    <p:extLst>
      <p:ext uri="{BB962C8B-B14F-4D97-AF65-F5344CB8AC3E}">
        <p14:creationId xmlns:p14="http://schemas.microsoft.com/office/powerpoint/2010/main" val="39638343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418" y="261431"/>
            <a:ext cx="10515600" cy="464434"/>
          </a:xfrm>
        </p:spPr>
        <p:txBody>
          <a:bodyPr>
            <a:normAutofit fontScale="90000"/>
          </a:bodyPr>
          <a:lstStyle/>
          <a:p>
            <a:r>
              <a:rPr lang="en-IN" b="1" dirty="0"/>
              <a:t>AC charging vs DC fast charging path</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27570760"/>
              </p:ext>
            </p:extLst>
          </p:nvPr>
        </p:nvGraphicFramePr>
        <p:xfrm>
          <a:off x="634348" y="1018233"/>
          <a:ext cx="10747733" cy="5610607"/>
        </p:xfrm>
        <a:graphic>
          <a:graphicData uri="http://schemas.openxmlformats.org/drawingml/2006/table">
            <a:tbl>
              <a:tblPr firstRow="1" firstCol="1" bandRow="1">
                <a:tableStyleId>{5C22544A-7EE6-4342-B048-85BDC9FD1C3A}</a:tableStyleId>
              </a:tblPr>
              <a:tblGrid>
                <a:gridCol w="1649306">
                  <a:extLst>
                    <a:ext uri="{9D8B030D-6E8A-4147-A177-3AD203B41FA5}">
                      <a16:colId xmlns:a16="http://schemas.microsoft.com/office/drawing/2014/main" val="2341300040"/>
                    </a:ext>
                  </a:extLst>
                </a:gridCol>
                <a:gridCol w="4490737">
                  <a:extLst>
                    <a:ext uri="{9D8B030D-6E8A-4147-A177-3AD203B41FA5}">
                      <a16:colId xmlns:a16="http://schemas.microsoft.com/office/drawing/2014/main" val="1816449418"/>
                    </a:ext>
                  </a:extLst>
                </a:gridCol>
                <a:gridCol w="4607690">
                  <a:extLst>
                    <a:ext uri="{9D8B030D-6E8A-4147-A177-3AD203B41FA5}">
                      <a16:colId xmlns:a16="http://schemas.microsoft.com/office/drawing/2014/main" val="1786430343"/>
                    </a:ext>
                  </a:extLst>
                </a:gridCol>
              </a:tblGrid>
              <a:tr h="0">
                <a:tc>
                  <a:txBody>
                    <a:bodyPr/>
                    <a:lstStyle/>
                    <a:p>
                      <a:pPr>
                        <a:lnSpc>
                          <a:spcPct val="107000"/>
                        </a:lnSpc>
                        <a:spcAft>
                          <a:spcPts val="0"/>
                        </a:spcAft>
                      </a:pPr>
                      <a:r>
                        <a:rPr lang="en-IN" sz="2400">
                          <a:effectLst/>
                        </a:rPr>
                        <a:t>Aspect</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AC charging (OBC) inside EV</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DC fast charging (off‑board)</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3046248531"/>
                  </a:ext>
                </a:extLst>
              </a:tr>
              <a:tr h="0">
                <a:tc>
                  <a:txBody>
                    <a:bodyPr/>
                    <a:lstStyle/>
                    <a:p>
                      <a:pPr>
                        <a:lnSpc>
                          <a:spcPct val="107000"/>
                        </a:lnSpc>
                        <a:spcAft>
                          <a:spcPts val="0"/>
                        </a:spcAft>
                      </a:pPr>
                      <a:r>
                        <a:rPr lang="en-IN" sz="2400">
                          <a:effectLst/>
                        </a:rPr>
                        <a:t>Where AC→DC happens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Inside vehicle OBC power stages.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In the charging station power converter </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1779468483"/>
                  </a:ext>
                </a:extLst>
              </a:tr>
              <a:tr h="0">
                <a:tc>
                  <a:txBody>
                    <a:bodyPr/>
                    <a:lstStyle/>
                    <a:p>
                      <a:pPr>
                        <a:lnSpc>
                          <a:spcPct val="107000"/>
                        </a:lnSpc>
                        <a:spcAft>
                          <a:spcPts val="0"/>
                        </a:spcAft>
                      </a:pPr>
                      <a:r>
                        <a:rPr lang="en-IN" sz="2400">
                          <a:effectLst/>
                        </a:rPr>
                        <a:t>Vehicle hardware</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Uses rectifier+PFC + isolated DC‑DC, 3–22 kW.</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Only HV contactors, DC/DC fuse, BMS; no high‑power AC→DC in car </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3434094866"/>
                  </a:ext>
                </a:extLst>
              </a:tr>
              <a:tr h="0">
                <a:tc>
                  <a:txBody>
                    <a:bodyPr/>
                    <a:lstStyle/>
                    <a:p>
                      <a:pPr>
                        <a:lnSpc>
                          <a:spcPct val="107000"/>
                        </a:lnSpc>
                        <a:spcAft>
                          <a:spcPts val="0"/>
                        </a:spcAft>
                      </a:pPr>
                      <a:r>
                        <a:rPr lang="en-IN" sz="2400">
                          <a:effectLst/>
                        </a:rPr>
                        <a:t>Control master</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BMS commands OBC set points </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BMS communicates limits; station’s converter executes </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1380206942"/>
                  </a:ext>
                </a:extLst>
              </a:tr>
              <a:tr h="0">
                <a:tc>
                  <a:txBody>
                    <a:bodyPr/>
                    <a:lstStyle/>
                    <a:p>
                      <a:pPr>
                        <a:lnSpc>
                          <a:spcPct val="107000"/>
                        </a:lnSpc>
                        <a:spcAft>
                          <a:spcPts val="0"/>
                        </a:spcAft>
                      </a:pPr>
                      <a:r>
                        <a:rPr lang="en-IN" sz="2400">
                          <a:effectLst/>
                        </a:rPr>
                        <a:t>Power levels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dirty="0">
                          <a:effectLst/>
                        </a:rPr>
                        <a:t>Typically 1–22 kW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Commonly 50–350+ kW</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568419491"/>
                  </a:ext>
                </a:extLst>
              </a:tr>
              <a:tr h="0">
                <a:tc>
                  <a:txBody>
                    <a:bodyPr/>
                    <a:lstStyle/>
                    <a:p>
                      <a:pPr>
                        <a:lnSpc>
                          <a:spcPct val="107000"/>
                        </a:lnSpc>
                        <a:spcAft>
                          <a:spcPts val="0"/>
                        </a:spcAft>
                      </a:pPr>
                      <a:r>
                        <a:rPr lang="en-IN" sz="2400">
                          <a:effectLst/>
                        </a:rPr>
                        <a:t>Grid quality</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a:effectLst/>
                        </a:rPr>
                        <a:t>Vehicle OBC must meet PF/THD standards.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nSpc>
                          <a:spcPct val="107000"/>
                        </a:lnSpc>
                        <a:spcAft>
                          <a:spcPts val="0"/>
                        </a:spcAft>
                      </a:pPr>
                      <a:r>
                        <a:rPr lang="en-IN" sz="2400" dirty="0">
                          <a:effectLst/>
                        </a:rPr>
                        <a:t>Station enforces PF/THD; vehicle sees DC only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1064251365"/>
                  </a:ext>
                </a:extLst>
              </a:tr>
            </a:tbl>
          </a:graphicData>
        </a:graphic>
      </p:graphicFrame>
    </p:spTree>
    <p:extLst>
      <p:ext uri="{BB962C8B-B14F-4D97-AF65-F5344CB8AC3E}">
        <p14:creationId xmlns:p14="http://schemas.microsoft.com/office/powerpoint/2010/main" val="23332846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In both cases, </a:t>
            </a:r>
            <a:r>
              <a:rPr lang="en-IN" b="1" dirty="0"/>
              <a:t>BMS always decides how much current and voltage are acceptable</a:t>
            </a:r>
            <a:r>
              <a:rPr lang="en-IN" dirty="0"/>
              <a:t>, </a:t>
            </a:r>
            <a:endParaRPr lang="en-IN" dirty="0" smtClean="0"/>
          </a:p>
          <a:p>
            <a:r>
              <a:rPr lang="en-IN" dirty="0" smtClean="0"/>
              <a:t>but </a:t>
            </a:r>
            <a:r>
              <a:rPr lang="en-IN" dirty="0"/>
              <a:t>in AC charging the OBC implements the power conversion, </a:t>
            </a:r>
            <a:endParaRPr lang="en-IN" dirty="0" smtClean="0"/>
          </a:p>
          <a:p>
            <a:r>
              <a:rPr lang="en-IN" dirty="0" smtClean="0"/>
              <a:t>while </a:t>
            </a:r>
            <a:r>
              <a:rPr lang="en-IN" dirty="0"/>
              <a:t>in DC fast charging the external charger does that and the vehicle mostly manages contactors and monitoring.</a:t>
            </a:r>
          </a:p>
          <a:p>
            <a:endParaRPr lang="en-IN" dirty="0"/>
          </a:p>
        </p:txBody>
      </p:sp>
    </p:spTree>
    <p:extLst>
      <p:ext uri="{BB962C8B-B14F-4D97-AF65-F5344CB8AC3E}">
        <p14:creationId xmlns:p14="http://schemas.microsoft.com/office/powerpoint/2010/main" val="3133520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1423</TotalTime>
  <Words>3201</Words>
  <Application>Microsoft Office PowerPoint</Application>
  <PresentationFormat>Widescreen</PresentationFormat>
  <Paragraphs>415</Paragraphs>
  <Slides>65</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Arial</vt:lpstr>
      <vt:lpstr>Calibri</vt:lpstr>
      <vt:lpstr>Calibri Light</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 Diode V‑I Characteristic</vt:lpstr>
      <vt:lpstr>PowerPoint Presentation</vt:lpstr>
      <vt:lpstr>Reverse Recovery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Half Wave rectifier  </vt:lpstr>
      <vt:lpstr>Working Principle </vt:lpstr>
      <vt:lpstr>PowerPoint Presentation</vt:lpstr>
      <vt:lpstr>Full Wave Rectifier  </vt:lpstr>
      <vt:lpstr> Working Principle:</vt:lpstr>
      <vt:lpstr>PowerPoint Presentation</vt:lpstr>
      <vt:lpstr>Basic Concept of DC–AC Conversion </vt:lpstr>
      <vt:lpstr>PowerPoint Presentation</vt:lpstr>
      <vt:lpstr>PowerPoint Presentation</vt:lpstr>
      <vt:lpstr>PowerPoint Presentation</vt:lpstr>
      <vt:lpstr>Power Devices Used in EV Inverters </vt:lpstr>
      <vt:lpstr>AC to DC </vt:lpstr>
      <vt:lpstr>PowerPoint Presentation</vt:lpstr>
      <vt:lpstr>PowerPoint Presentation</vt:lpstr>
      <vt:lpstr>Operating modes and power levels </vt:lpstr>
      <vt:lpstr>Why this AC→DC chain is special in EVs </vt:lpstr>
      <vt:lpstr>BMS and OBC control interaction </vt:lpstr>
      <vt:lpstr>PowerPoint Presentation</vt:lpstr>
      <vt:lpstr>PowerPoint Presentation</vt:lpstr>
      <vt:lpstr>AC charging vs DC fast charging path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Sachin Argade</dc:creator>
  <cp:lastModifiedBy>Sachin Argade</cp:lastModifiedBy>
  <cp:revision>33</cp:revision>
  <dcterms:created xsi:type="dcterms:W3CDTF">2026-03-11T07:25:57Z</dcterms:created>
  <dcterms:modified xsi:type="dcterms:W3CDTF">2026-03-17T09:05:57Z</dcterms:modified>
</cp:coreProperties>
</file>