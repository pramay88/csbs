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57" r:id="rId12"/>
    <p:sldId id="299" r:id="rId13"/>
    <p:sldId id="258" r:id="rId14"/>
    <p:sldId id="259" r:id="rId15"/>
    <p:sldId id="260" r:id="rId16"/>
    <p:sldId id="262" r:id="rId17"/>
    <p:sldId id="265" r:id="rId18"/>
    <p:sldId id="267" r:id="rId19"/>
    <p:sldId id="269" r:id="rId20"/>
    <p:sldId id="271" r:id="rId21"/>
    <p:sldId id="274" r:id="rId22"/>
    <p:sldId id="276" r:id="rId23"/>
    <p:sldId id="279" r:id="rId24"/>
    <p:sldId id="281" r:id="rId25"/>
    <p:sldId id="297" r:id="rId26"/>
    <p:sldId id="300" r:id="rId27"/>
    <p:sldId id="301" r:id="rId28"/>
    <p:sldId id="282" r:id="rId29"/>
    <p:sldId id="283" r:id="rId30"/>
    <p:sldId id="28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42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smtClean="0"/>
              <a:t>Series </a:t>
            </a:r>
            <a:r>
              <a:rPr dirty="0"/>
              <a:t>Hybrid Drive </a:t>
            </a:r>
            <a:r>
              <a:rPr dirty="0" smtClean="0"/>
              <a:t>Train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Sachin Argade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Basic architecture of hybrid drive train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599" y="838199"/>
            <a:ext cx="8610601" cy="5924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7189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Power train 1 alone delivers power to the load</a:t>
            </a:r>
          </a:p>
          <a:p>
            <a:r>
              <a:rPr lang="en-US" sz="2400" dirty="0" smtClean="0"/>
              <a:t>Power train 2 alone delivers power to the load</a:t>
            </a:r>
          </a:p>
          <a:p>
            <a:r>
              <a:rPr lang="en-US" sz="2400" dirty="0" smtClean="0"/>
              <a:t>Both power train 1 and 2 deliver power to load at the same time</a:t>
            </a:r>
          </a:p>
          <a:p>
            <a:r>
              <a:rPr lang="en-US" sz="2400" dirty="0" smtClean="0"/>
              <a:t>Power train 2 obtains power from load (regenerative braking)</a:t>
            </a:r>
          </a:p>
          <a:p>
            <a:r>
              <a:rPr lang="en-US" sz="2400" dirty="0" smtClean="0"/>
              <a:t>Power train 2 obtains power from power train 1</a:t>
            </a:r>
          </a:p>
          <a:p>
            <a:r>
              <a:rPr lang="en-US" sz="2400" dirty="0" smtClean="0"/>
              <a:t>Power train 2 obtains power from power train 1 and load at the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Power train 1 delivers power to load and to power train 2 at the</a:t>
            </a:r>
          </a:p>
          <a:p>
            <a:pPr>
              <a:buNone/>
            </a:pPr>
            <a:r>
              <a:rPr lang="en-US" sz="2400" dirty="0" smtClean="0"/>
              <a:t>     </a:t>
            </a:r>
          </a:p>
          <a:p>
            <a:r>
              <a:rPr lang="en-US" sz="2400" dirty="0" smtClean="0"/>
              <a:t>Power train 1 delivers power to power train 2, and power train 2</a:t>
            </a:r>
          </a:p>
          <a:p>
            <a:r>
              <a:rPr lang="en-US" sz="2400" dirty="0" smtClean="0"/>
              <a:t>delivers power to load</a:t>
            </a:r>
          </a:p>
          <a:p>
            <a:r>
              <a:rPr lang="en-US" sz="2400" dirty="0" smtClean="0"/>
              <a:t>Power train 1 delivers power to load, and load delivers power to</a:t>
            </a:r>
          </a:p>
          <a:p>
            <a:pPr>
              <a:buNone/>
            </a:pPr>
            <a:r>
              <a:rPr lang="en-US" sz="2400" dirty="0" smtClean="0"/>
              <a:t>power train 2.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Basic architecture of hybrid drive train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600200" y="1981200"/>
            <a:ext cx="7543800" cy="4268576"/>
            <a:chOff x="0" y="601172"/>
            <a:chExt cx="8763000" cy="5420004"/>
          </a:xfrm>
        </p:grpSpPr>
        <p:pic>
          <p:nvPicPr>
            <p:cNvPr id="13" name="Picture 12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1172"/>
              <a:ext cx="8763000" cy="5420004"/>
            </a:xfrm>
            <a:prstGeom prst="rect">
              <a:avLst/>
            </a:prstGeom>
          </p:spPr>
        </p:pic>
        <p:cxnSp>
          <p:nvCxnSpPr>
            <p:cNvPr id="14" name="Straight Arrow Connector 13"/>
            <p:cNvCxnSpPr/>
            <p:nvPr/>
          </p:nvCxnSpPr>
          <p:spPr>
            <a:xfrm>
              <a:off x="1219200" y="1524000"/>
              <a:ext cx="5105400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6200000" flipH="1">
              <a:off x="5867400" y="2057400"/>
              <a:ext cx="1524000" cy="60960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2133600" y="2057400"/>
            <a:ext cx="6477000" cy="4006090"/>
            <a:chOff x="304800" y="1219200"/>
            <a:chExt cx="6477000" cy="4006090"/>
          </a:xfrm>
        </p:grpSpPr>
        <p:pic>
          <p:nvPicPr>
            <p:cNvPr id="16" name="Picture 15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" y="1219200"/>
              <a:ext cx="6477000" cy="4006090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 flipV="1">
              <a:off x="1143000" y="4876800"/>
              <a:ext cx="3886200" cy="762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4572000" y="4114800"/>
              <a:ext cx="1143000" cy="3810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838200" y="1371600"/>
            <a:ext cx="7543800" cy="4665917"/>
            <a:chOff x="-381000" y="1447800"/>
            <a:chExt cx="7543800" cy="4665917"/>
          </a:xfrm>
        </p:grpSpPr>
        <p:pic>
          <p:nvPicPr>
            <p:cNvPr id="22" name="Picture 21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81000" y="1447800"/>
              <a:ext cx="7543800" cy="4665917"/>
            </a:xfrm>
            <a:prstGeom prst="rect">
              <a:avLst/>
            </a:prstGeom>
          </p:spPr>
        </p:pic>
        <p:cxnSp>
          <p:nvCxnSpPr>
            <p:cNvPr id="24" name="Straight Arrow Connector 23"/>
            <p:cNvCxnSpPr/>
            <p:nvPr/>
          </p:nvCxnSpPr>
          <p:spPr>
            <a:xfrm>
              <a:off x="914400" y="2209800"/>
              <a:ext cx="5029200" cy="457200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1752600" y="5334000"/>
              <a:ext cx="4495800" cy="6858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381000" y="762000"/>
            <a:ext cx="8458200" cy="5105401"/>
            <a:chOff x="152400" y="-1"/>
            <a:chExt cx="7315200" cy="4524526"/>
          </a:xfrm>
        </p:grpSpPr>
        <p:pic>
          <p:nvPicPr>
            <p:cNvPr id="28" name="Picture 27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" y="-1"/>
              <a:ext cx="7315200" cy="4524526"/>
            </a:xfrm>
            <a:prstGeom prst="rect">
              <a:avLst/>
            </a:prstGeom>
          </p:spPr>
        </p:pic>
        <p:cxnSp>
          <p:nvCxnSpPr>
            <p:cNvPr id="31" name="Curved Connector 30"/>
            <p:cNvCxnSpPr/>
            <p:nvPr/>
          </p:nvCxnSpPr>
          <p:spPr>
            <a:xfrm rot="10800000" flipV="1">
              <a:off x="2057400" y="2895600"/>
              <a:ext cx="4038600" cy="990600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0" y="1066800"/>
            <a:ext cx="8686800" cy="5372874"/>
            <a:chOff x="0" y="0"/>
            <a:chExt cx="8686800" cy="5372874"/>
          </a:xfrm>
        </p:grpSpPr>
        <p:pic>
          <p:nvPicPr>
            <p:cNvPr id="33" name="Picture 32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686800" cy="5372874"/>
            </a:xfrm>
            <a:prstGeom prst="rect">
              <a:avLst/>
            </a:prstGeom>
          </p:spPr>
        </p:pic>
        <p:cxnSp>
          <p:nvCxnSpPr>
            <p:cNvPr id="35" name="Curved Connector 34"/>
            <p:cNvCxnSpPr/>
            <p:nvPr/>
          </p:nvCxnSpPr>
          <p:spPr>
            <a:xfrm rot="5400000">
              <a:off x="876300" y="2324100"/>
              <a:ext cx="2438400" cy="228600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0" y="685800"/>
            <a:ext cx="8382000" cy="5184352"/>
            <a:chOff x="152400" y="457200"/>
            <a:chExt cx="8382000" cy="5184352"/>
          </a:xfrm>
        </p:grpSpPr>
        <p:pic>
          <p:nvPicPr>
            <p:cNvPr id="37" name="Picture 36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" y="457200"/>
              <a:ext cx="8382000" cy="5184352"/>
            </a:xfrm>
            <a:prstGeom prst="rect">
              <a:avLst/>
            </a:prstGeom>
          </p:spPr>
        </p:pic>
        <p:cxnSp>
          <p:nvCxnSpPr>
            <p:cNvPr id="39" name="Curved Connector 38"/>
            <p:cNvCxnSpPr/>
            <p:nvPr/>
          </p:nvCxnSpPr>
          <p:spPr>
            <a:xfrm rot="5400000">
              <a:off x="1104900" y="3086100"/>
              <a:ext cx="2209800" cy="1588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/>
            <p:cNvCxnSpPr/>
            <p:nvPr/>
          </p:nvCxnSpPr>
          <p:spPr>
            <a:xfrm rot="10800000" flipV="1">
              <a:off x="2514600" y="3810000"/>
              <a:ext cx="4953000" cy="533400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urved Connector 42"/>
            <p:cNvCxnSpPr/>
            <p:nvPr/>
          </p:nvCxnSpPr>
          <p:spPr>
            <a:xfrm rot="5400000">
              <a:off x="1105694" y="3085306"/>
              <a:ext cx="2209800" cy="1588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0" y="838200"/>
            <a:ext cx="8623949" cy="5334000"/>
            <a:chOff x="136825" y="685800"/>
            <a:chExt cx="8623949" cy="5334000"/>
          </a:xfrm>
        </p:grpSpPr>
        <p:pic>
          <p:nvPicPr>
            <p:cNvPr id="44" name="Picture 43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825" y="685800"/>
              <a:ext cx="8623949" cy="5334000"/>
            </a:xfrm>
            <a:prstGeom prst="rect">
              <a:avLst/>
            </a:prstGeom>
          </p:spPr>
        </p:pic>
        <p:cxnSp>
          <p:nvCxnSpPr>
            <p:cNvPr id="46" name="Straight Arrow Connector 45"/>
            <p:cNvCxnSpPr/>
            <p:nvPr/>
          </p:nvCxnSpPr>
          <p:spPr>
            <a:xfrm rot="5400000">
              <a:off x="1257300" y="3467100"/>
              <a:ext cx="1219200" cy="2286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1981200" y="1600200"/>
              <a:ext cx="5257800" cy="10668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228600" y="1143000"/>
            <a:ext cx="8153400" cy="5042961"/>
            <a:chOff x="228600" y="1143000"/>
            <a:chExt cx="8153400" cy="5042961"/>
          </a:xfrm>
        </p:grpSpPr>
        <p:pic>
          <p:nvPicPr>
            <p:cNvPr id="50" name="Picture 49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1143000"/>
              <a:ext cx="8153400" cy="5042961"/>
            </a:xfrm>
            <a:prstGeom prst="rect">
              <a:avLst/>
            </a:prstGeom>
          </p:spPr>
        </p:pic>
        <p:cxnSp>
          <p:nvCxnSpPr>
            <p:cNvPr id="52" name="Straight Arrow Connector 51"/>
            <p:cNvCxnSpPr/>
            <p:nvPr/>
          </p:nvCxnSpPr>
          <p:spPr>
            <a:xfrm rot="5400000">
              <a:off x="1371600" y="3810001"/>
              <a:ext cx="1219200" cy="1524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V="1">
              <a:off x="1905000" y="4495801"/>
              <a:ext cx="5181600" cy="152400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/>
          <p:cNvGrpSpPr/>
          <p:nvPr/>
        </p:nvGrpSpPr>
        <p:grpSpPr>
          <a:xfrm>
            <a:off x="228600" y="609600"/>
            <a:ext cx="8747148" cy="5410200"/>
            <a:chOff x="228600" y="609600"/>
            <a:chExt cx="8747148" cy="5410200"/>
          </a:xfrm>
        </p:grpSpPr>
        <p:pic>
          <p:nvPicPr>
            <p:cNvPr id="56" name="Picture 55" descr="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09600"/>
              <a:ext cx="8747148" cy="5410200"/>
            </a:xfrm>
            <a:prstGeom prst="rect">
              <a:avLst/>
            </a:prstGeom>
          </p:spPr>
        </p:pic>
        <p:cxnSp>
          <p:nvCxnSpPr>
            <p:cNvPr id="58" name="Curved Connector 57"/>
            <p:cNvCxnSpPr/>
            <p:nvPr/>
          </p:nvCxnSpPr>
          <p:spPr>
            <a:xfrm>
              <a:off x="2209800" y="2743200"/>
              <a:ext cx="3810000" cy="1066800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urved Connector 59"/>
            <p:cNvCxnSpPr/>
            <p:nvPr/>
          </p:nvCxnSpPr>
          <p:spPr>
            <a:xfrm rot="10800000" flipV="1">
              <a:off x="2362200" y="4191000"/>
              <a:ext cx="5257800" cy="990600"/>
            </a:xfrm>
            <a:prstGeom prst="curvedConnector3">
              <a:avLst>
                <a:gd name="adj1" fmla="val 50000"/>
              </a:avLst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309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dirty="0" smtClean="0"/>
              <a:t>The varied operation modes in a hybrid vehicle create more flexibility over a single power train vehicle.</a:t>
            </a:r>
          </a:p>
          <a:p>
            <a:pPr lvl="1"/>
            <a:r>
              <a:rPr lang="en-US" dirty="0" smtClean="0"/>
              <a:t>With proper configuration and control</a:t>
            </a:r>
          </a:p>
          <a:p>
            <a:pPr lvl="1"/>
            <a:r>
              <a:rPr lang="en-US" dirty="0" smtClean="0"/>
              <a:t> applying the specific mode for each special operating condition </a:t>
            </a:r>
          </a:p>
          <a:p>
            <a:pPr lvl="1"/>
            <a:r>
              <a:rPr lang="en-US" dirty="0" smtClean="0"/>
              <a:t>can optimize overall performance, efficiency, and emissions.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0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8967018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2590800"/>
            <a:ext cx="8763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The load power of a vehicle varies randomly in real operation </a:t>
            </a:r>
          </a:p>
          <a:p>
            <a:pPr lvl="2">
              <a:buFont typeface="Wingdings" pitchFamily="2" charset="2"/>
              <a:buChar char="ü"/>
            </a:pPr>
            <a:r>
              <a:rPr lang="en-US" sz="2800" dirty="0" smtClean="0"/>
              <a:t>due to frequent acceleration, deceleration, and climbing up and down grades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228600" y="4495800"/>
            <a:ext cx="8686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Actually, the load power is composed of two components:</a:t>
            </a:r>
          </a:p>
          <a:p>
            <a:pPr lvl="2">
              <a:buFont typeface="Wingdings" pitchFamily="2" charset="2"/>
              <a:buChar char="ü"/>
            </a:pPr>
            <a:r>
              <a:rPr lang="en-US" sz="2800" dirty="0" smtClean="0"/>
              <a:t>one is steady (average) power, which has a constant value, </a:t>
            </a:r>
          </a:p>
          <a:p>
            <a:pPr lvl="2">
              <a:buFont typeface="Wingdings" pitchFamily="2" charset="2"/>
              <a:buChar char="ü"/>
            </a:pPr>
            <a:r>
              <a:rPr lang="en-US" sz="2800" dirty="0" smtClean="0"/>
              <a:t>other is dynamic power, which has a zero average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225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Hybrid Power Train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 hybrid vehicle strategy,</a:t>
            </a:r>
          </a:p>
          <a:p>
            <a:pPr lvl="1"/>
            <a:r>
              <a:rPr lang="en-US" dirty="0" smtClean="0"/>
              <a:t>one power train that favors steady-state operation, such as an IC engine (smaller sized than single power train system)</a:t>
            </a:r>
          </a:p>
          <a:p>
            <a:pPr lvl="1"/>
            <a:r>
              <a:rPr lang="en-US" dirty="0" smtClean="0"/>
              <a:t>fuel cell, can be used to supply the average power.</a:t>
            </a:r>
          </a:p>
          <a:p>
            <a:r>
              <a:rPr lang="en-US" dirty="0" smtClean="0"/>
              <a:t>On the other hand, </a:t>
            </a:r>
          </a:p>
          <a:p>
            <a:pPr lvl="1"/>
            <a:r>
              <a:rPr lang="en-US" dirty="0" smtClean="0"/>
              <a:t>power trains such as an electric motor can be used to supply the dynamic power.</a:t>
            </a:r>
          </a:p>
          <a:p>
            <a:r>
              <a:rPr lang="en-US" dirty="0" smtClean="0"/>
              <a:t>The total energy output from the dynamic power train will be zero in a whole driving cycle.</a:t>
            </a:r>
          </a:p>
          <a:p>
            <a:r>
              <a:rPr lang="en-US" dirty="0" smtClean="0"/>
              <a:t>Implies that the energy source of the dynamic power train does not lose energy capacity at the end of the driving 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86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Series Hybrid mode 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371600"/>
            <a:ext cx="6715945" cy="4100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799" y="5791200"/>
            <a:ext cx="335280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4783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Hybrid Mode </a:t>
            </a:r>
            <a:endParaRPr lang="en-US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447799"/>
            <a:ext cx="6324600" cy="3586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5410200"/>
            <a:ext cx="335280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4043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Series Parallel Hybrid </a:t>
            </a:r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6629400" cy="3917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5410200"/>
            <a:ext cx="335280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040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Hybrid Mode 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6477000" cy="3691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5410200"/>
            <a:ext cx="335280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0529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1. Definition of Series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In a series hybrid, the internal combustion engine does not mechanically drive the wheels.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All propulsion torque is generated by the electric motor.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Energy path: Fuel → Engine → Generator → DC Bus → Motor → Wheels.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"/>
            <a:ext cx="5943598" cy="339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2264" y="3581400"/>
            <a:ext cx="5093481" cy="3109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1" y="4800600"/>
            <a:ext cx="2514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3179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2. Energy Conversion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Stage 1: Chemical → Mechanical (Engine).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Stage 2: Mechanical → Electrical (Generator).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Stage 3: Electrical → Mechanical (Motor).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Each stage introduces efficiency loss.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80"/>
            <a:ext cx="8229600" cy="909320"/>
          </a:xfrm>
        </p:spPr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3. Engine Efficiency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50240"/>
            <a:ext cx="8686800" cy="6014720"/>
          </a:xfrm>
        </p:spPr>
        <p:txBody>
          <a:bodyPr wrap="square">
            <a:normAutofit fontScale="92500" lnSpcReduction="10000"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400" b="1" dirty="0" err="1"/>
              <a:t>η_e</a:t>
            </a:r>
            <a:r>
              <a:rPr sz="2400" b="1" dirty="0"/>
              <a:t> = Brake Power / Fuel Energy Input.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400" b="1" dirty="0" err="1"/>
              <a:t>η_e</a:t>
            </a:r>
            <a:r>
              <a:rPr sz="2400" b="1" dirty="0"/>
              <a:t> = </a:t>
            </a:r>
            <a:r>
              <a:rPr sz="2400" b="1" dirty="0" err="1"/>
              <a:t>P_engine</a:t>
            </a:r>
            <a:r>
              <a:rPr sz="2400" b="1" dirty="0"/>
              <a:t> / (</a:t>
            </a:r>
            <a:r>
              <a:rPr sz="2400" b="1" dirty="0" err="1"/>
              <a:t>ṁ_f</a:t>
            </a:r>
            <a:r>
              <a:rPr sz="2400" b="1" dirty="0"/>
              <a:t> × LHV</a:t>
            </a:r>
            <a:r>
              <a:rPr sz="2400" b="1" dirty="0" smtClean="0"/>
              <a:t>).</a:t>
            </a:r>
            <a:endParaRPr lang="en-IN" sz="2400" b="1" dirty="0" smtClean="0"/>
          </a:p>
          <a:p>
            <a:pPr marL="0" indent="0">
              <a:buNone/>
            </a:pPr>
            <a:r>
              <a:rPr lang="el-GR" sz="2400" b="1" dirty="0"/>
              <a:t>η_</a:t>
            </a:r>
            <a:r>
              <a:rPr lang="en-IN" sz="2400" b="1" dirty="0"/>
              <a:t>e </a:t>
            </a:r>
            <a:r>
              <a:rPr lang="en-US" sz="2400" b="1" dirty="0" smtClean="0"/>
              <a:t>​ </a:t>
            </a:r>
            <a:r>
              <a:rPr lang="en-US" sz="2400" b="1" dirty="0"/>
              <a:t>= Engine </a:t>
            </a:r>
            <a:r>
              <a:rPr lang="en-US" sz="2400" b="1" dirty="0" smtClean="0"/>
              <a:t>Efficiency </a:t>
            </a:r>
            <a:r>
              <a:rPr lang="en-US" sz="2400" dirty="0" smtClean="0"/>
              <a:t>Dimensionless </a:t>
            </a:r>
            <a:r>
              <a:rPr lang="en-US" sz="2400" dirty="0"/>
              <a:t>(no units)</a:t>
            </a:r>
          </a:p>
          <a:p>
            <a:r>
              <a:rPr lang="en-US" sz="2400" dirty="0" smtClean="0"/>
              <a:t>Typical </a:t>
            </a:r>
            <a:r>
              <a:rPr lang="en-US" sz="2400" dirty="0"/>
              <a:t>petrol engine: 30–35%</a:t>
            </a:r>
          </a:p>
          <a:p>
            <a:r>
              <a:rPr lang="en-US" sz="2400" dirty="0"/>
              <a:t>Typical diesel engine: 35–45%</a:t>
            </a:r>
          </a:p>
          <a:p>
            <a:pPr marL="0" indent="0">
              <a:buNone/>
            </a:pPr>
            <a:r>
              <a:rPr lang="en-IN" sz="2400" b="1" dirty="0" err="1" smtClean="0"/>
              <a:t>P_engine</a:t>
            </a:r>
            <a:r>
              <a:rPr lang="en-IN" sz="2400" dirty="0" smtClean="0"/>
              <a:t> </a:t>
            </a:r>
            <a:r>
              <a:rPr lang="en-US" sz="2400" b="1" dirty="0" smtClean="0"/>
              <a:t>= </a:t>
            </a:r>
            <a:r>
              <a:rPr lang="en-US" sz="2400" b="1" dirty="0"/>
              <a:t>Brake Power Output (W or kW)</a:t>
            </a:r>
          </a:p>
          <a:p>
            <a:r>
              <a:rPr lang="en-US" sz="2400" dirty="0"/>
              <a:t>Actual mechanical shaft power available at crankshaft</a:t>
            </a:r>
          </a:p>
          <a:p>
            <a:r>
              <a:rPr lang="en-US" sz="2400" dirty="0"/>
              <a:t>Measured using dynamometer</a:t>
            </a:r>
          </a:p>
          <a:p>
            <a:r>
              <a:rPr lang="en-US" sz="2400" dirty="0"/>
              <a:t>Also called </a:t>
            </a:r>
            <a:r>
              <a:rPr lang="en-US" sz="2400" b="1" dirty="0"/>
              <a:t>Brake Power (BP</a:t>
            </a:r>
            <a:r>
              <a:rPr lang="en-US" sz="2400" b="1" dirty="0" smtClean="0"/>
              <a:t>)</a:t>
            </a:r>
          </a:p>
          <a:p>
            <a:pPr marL="0" indent="0">
              <a:buNone/>
            </a:pPr>
            <a:r>
              <a:rPr lang="en-IN" sz="2400" b="1" dirty="0" err="1"/>
              <a:t>ṁ_f</a:t>
            </a:r>
            <a:r>
              <a:rPr lang="en-IN" sz="2400" dirty="0"/>
              <a:t> </a:t>
            </a:r>
            <a:r>
              <a:rPr lang="en-US" sz="2400" b="1" dirty="0" smtClean="0"/>
              <a:t>= </a:t>
            </a:r>
            <a:r>
              <a:rPr lang="en-US" sz="2400" b="1" dirty="0"/>
              <a:t>Fuel Mass Flow Rate (kg/s)</a:t>
            </a:r>
          </a:p>
          <a:p>
            <a:r>
              <a:rPr lang="en-US" sz="2400" dirty="0"/>
              <a:t>Rate at which fuel is consumed</a:t>
            </a:r>
          </a:p>
          <a:p>
            <a:r>
              <a:rPr lang="en-US" sz="2400" dirty="0"/>
              <a:t>Measured in kg/s</a:t>
            </a:r>
          </a:p>
          <a:p>
            <a:pPr marL="0" indent="0">
              <a:buNone/>
            </a:pPr>
            <a:r>
              <a:rPr lang="en-US" sz="2400" b="1" dirty="0"/>
              <a:t>LHV = Lower Heating Value (J/kg)</a:t>
            </a:r>
          </a:p>
          <a:p>
            <a:r>
              <a:rPr lang="en-US" sz="2400" dirty="0"/>
              <a:t>Energy released per kg of fuel during combustion</a:t>
            </a:r>
          </a:p>
          <a:p>
            <a:r>
              <a:rPr lang="en-US" sz="2400" dirty="0"/>
              <a:t>Does NOT include latent heat of vaporization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400" dirty="0" smtClean="0"/>
              <a:t>Typical </a:t>
            </a:r>
            <a:r>
              <a:rPr sz="2400" dirty="0"/>
              <a:t>range: 0.30–0.38 for gasoline engines.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t>4. Generator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b="1" dirty="0" err="1"/>
              <a:t>η_g</a:t>
            </a:r>
            <a:r>
              <a:rPr sz="2800" b="1" dirty="0"/>
              <a:t> = Electrical Output / Mechanical Input.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b="1" dirty="0" err="1"/>
              <a:t>η_g</a:t>
            </a:r>
            <a:r>
              <a:rPr sz="2800" b="1" dirty="0"/>
              <a:t> = </a:t>
            </a:r>
            <a:r>
              <a:rPr sz="2800" b="1" dirty="0" err="1"/>
              <a:t>P_electric</a:t>
            </a:r>
            <a:r>
              <a:rPr sz="2800" b="1" dirty="0"/>
              <a:t> / </a:t>
            </a:r>
            <a:r>
              <a:rPr sz="2800" b="1" dirty="0" err="1"/>
              <a:t>P_engine_shaft</a:t>
            </a:r>
            <a:r>
              <a:rPr sz="2800" b="1" dirty="0"/>
              <a:t>.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IN" sz="2800" dirty="0" smtClean="0"/>
              <a:t>      </a:t>
            </a:r>
            <a:r>
              <a:rPr sz="2800" dirty="0" smtClean="0"/>
              <a:t>Typical </a:t>
            </a:r>
            <a:r>
              <a:rPr sz="2800" dirty="0"/>
              <a:t>efficiency ≈ 0.90–0.95.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04800" y="29568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5. Motor Efficiency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8800" y="4099878"/>
            <a:ext cx="8128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b="1" dirty="0" err="1"/>
              <a:t>η_m</a:t>
            </a:r>
            <a:r>
              <a:rPr lang="en-US" sz="2800" b="1" dirty="0"/>
              <a:t> = Mechanical Output / Electrical Input.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b="1" dirty="0" err="1"/>
              <a:t>η_m</a:t>
            </a:r>
            <a:r>
              <a:rPr lang="en-US" sz="2800" b="1" dirty="0"/>
              <a:t> = </a:t>
            </a:r>
            <a:r>
              <a:rPr lang="en-US" sz="2800" b="1" dirty="0" err="1"/>
              <a:t>P_wheel</a:t>
            </a:r>
            <a:r>
              <a:rPr lang="en-US" sz="2800" b="1" dirty="0"/>
              <a:t> / </a:t>
            </a:r>
            <a:r>
              <a:rPr lang="en-US" sz="2800" b="1" dirty="0" err="1"/>
              <a:t>P_dc</a:t>
            </a:r>
            <a:r>
              <a:rPr lang="en-US" sz="2800" b="1" dirty="0"/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/>
              <a:t>Motor and inverter losses considered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6. Cascaded </a:t>
            </a:r>
            <a:r>
              <a:rPr dirty="0" smtClean="0"/>
              <a:t>Efficiency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Let fuel power = </a:t>
            </a:r>
            <a:r>
              <a:rPr sz="2800" dirty="0" err="1"/>
              <a:t>P_f</a:t>
            </a:r>
            <a:r>
              <a:rPr sz="2800" dirty="0"/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Engine output = </a:t>
            </a:r>
            <a:r>
              <a:rPr sz="2800" dirty="0" err="1"/>
              <a:t>η_e</a:t>
            </a:r>
            <a:r>
              <a:rPr sz="2800" dirty="0"/>
              <a:t> </a:t>
            </a:r>
            <a:r>
              <a:rPr lang="en-IN" sz="2800" dirty="0" smtClean="0"/>
              <a:t>x </a:t>
            </a:r>
            <a:r>
              <a:rPr sz="2800" dirty="0" err="1" smtClean="0"/>
              <a:t>P_f</a:t>
            </a:r>
            <a:r>
              <a:rPr sz="2800" dirty="0"/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Generator output = </a:t>
            </a:r>
            <a:r>
              <a:rPr sz="2800" dirty="0" err="1" smtClean="0"/>
              <a:t>η_g</a:t>
            </a:r>
            <a:r>
              <a:rPr lang="en-IN" sz="2800" dirty="0" smtClean="0"/>
              <a:t> x </a:t>
            </a:r>
            <a:r>
              <a:rPr sz="2800" dirty="0" smtClean="0"/>
              <a:t> </a:t>
            </a:r>
            <a:r>
              <a:rPr sz="2800" dirty="0" err="1" smtClean="0"/>
              <a:t>η_e</a:t>
            </a:r>
            <a:r>
              <a:rPr lang="en-IN" sz="2800" dirty="0" smtClean="0"/>
              <a:t> x</a:t>
            </a:r>
            <a:r>
              <a:rPr sz="2800" dirty="0" smtClean="0"/>
              <a:t> </a:t>
            </a:r>
            <a:r>
              <a:rPr sz="2800" dirty="0" err="1"/>
              <a:t>P_f</a:t>
            </a:r>
            <a:r>
              <a:rPr sz="2800" dirty="0"/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Wheel output = </a:t>
            </a:r>
            <a:r>
              <a:rPr sz="2800" dirty="0" err="1" smtClean="0"/>
              <a:t>η_m</a:t>
            </a:r>
            <a:r>
              <a:rPr lang="en-IN" sz="2800" dirty="0" smtClean="0"/>
              <a:t> x </a:t>
            </a:r>
            <a:r>
              <a:rPr sz="2800" dirty="0" smtClean="0"/>
              <a:t> </a:t>
            </a:r>
            <a:r>
              <a:rPr sz="2800" dirty="0" err="1"/>
              <a:t>η_g</a:t>
            </a:r>
            <a:r>
              <a:rPr sz="2800" dirty="0"/>
              <a:t> </a:t>
            </a:r>
            <a:r>
              <a:rPr lang="en-IN" sz="2800" dirty="0" smtClean="0"/>
              <a:t>x </a:t>
            </a:r>
            <a:r>
              <a:rPr sz="2800" dirty="0" err="1" smtClean="0"/>
              <a:t>η_e</a:t>
            </a:r>
            <a:r>
              <a:rPr sz="2800" dirty="0" smtClean="0"/>
              <a:t> </a:t>
            </a:r>
            <a:r>
              <a:rPr lang="en-IN" sz="2800" dirty="0" smtClean="0"/>
              <a:t>x </a:t>
            </a:r>
            <a:r>
              <a:rPr sz="2800" dirty="0" err="1" smtClean="0"/>
              <a:t>P_f</a:t>
            </a:r>
            <a:r>
              <a:rPr sz="2800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36172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7. Overall System Efficiency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696936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l-GR" sz="2800" dirty="0" smtClean="0">
                <a:solidFill>
                  <a:srgbClr val="000000"/>
                </a:solidFill>
              </a:rPr>
              <a:t>η_total = P_wheel / P_fuel.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l-GR" sz="2800" dirty="0" smtClean="0">
                <a:solidFill>
                  <a:srgbClr val="000000"/>
                </a:solidFill>
              </a:rPr>
              <a:t>η_total = η_e × η_g × η_m.</a:t>
            </a:r>
            <a:endParaRPr lang="el-GR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9. Interpretation of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Approximately 71% of fuel energy lost as heat and conversion losses.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Major loss occurs in combustion stage.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31397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10. Wheel–Fuel Power Relation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465320"/>
            <a:ext cx="8229600" cy="147828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From </a:t>
            </a:r>
            <a:r>
              <a:rPr lang="en-US" sz="2800" dirty="0" err="1" smtClean="0">
                <a:solidFill>
                  <a:srgbClr val="000000"/>
                </a:solidFill>
              </a:rPr>
              <a:t>η_total</a:t>
            </a:r>
            <a:r>
              <a:rPr lang="en-US" sz="2800" dirty="0" smtClean="0">
                <a:solidFill>
                  <a:srgbClr val="000000"/>
                </a:solidFill>
              </a:rPr>
              <a:t> = </a:t>
            </a:r>
            <a:r>
              <a:rPr lang="en-US" sz="2800" dirty="0" err="1" smtClean="0">
                <a:solidFill>
                  <a:srgbClr val="000000"/>
                </a:solidFill>
              </a:rPr>
              <a:t>P_w</a:t>
            </a:r>
            <a:r>
              <a:rPr lang="en-US" sz="2800" dirty="0" smtClean="0">
                <a:solidFill>
                  <a:srgbClr val="000000"/>
                </a:solidFill>
              </a:rPr>
              <a:t> / </a:t>
            </a:r>
            <a:r>
              <a:rPr lang="en-US" sz="2800" dirty="0" err="1" smtClean="0">
                <a:solidFill>
                  <a:srgbClr val="000000"/>
                </a:solidFill>
              </a:rPr>
              <a:t>P_f</a:t>
            </a:r>
            <a:r>
              <a:rPr lang="en-US" sz="2800" dirty="0" smtClean="0">
                <a:solidFill>
                  <a:srgbClr val="000000"/>
                </a:solidFill>
              </a:rPr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Fuel power required: </a:t>
            </a:r>
            <a:r>
              <a:rPr lang="en-US" sz="2800" dirty="0" err="1" smtClean="0">
                <a:solidFill>
                  <a:srgbClr val="000000"/>
                </a:solidFill>
              </a:rPr>
              <a:t>P_f</a:t>
            </a:r>
            <a:r>
              <a:rPr lang="en-US" sz="2800" dirty="0" smtClean="0">
                <a:solidFill>
                  <a:srgbClr val="000000"/>
                </a:solidFill>
              </a:rPr>
              <a:t> = </a:t>
            </a:r>
            <a:r>
              <a:rPr lang="en-US" sz="2800" dirty="0" err="1" smtClean="0">
                <a:solidFill>
                  <a:srgbClr val="000000"/>
                </a:solidFill>
              </a:rPr>
              <a:t>P_w</a:t>
            </a:r>
            <a:r>
              <a:rPr lang="en-US" sz="2800" dirty="0" smtClean="0">
                <a:solidFill>
                  <a:srgbClr val="000000"/>
                </a:solidFill>
              </a:rPr>
              <a:t> / </a:t>
            </a:r>
            <a:r>
              <a:rPr lang="en-US" sz="2800" dirty="0" err="1" smtClean="0">
                <a:solidFill>
                  <a:srgbClr val="000000"/>
                </a:solidFill>
              </a:rPr>
              <a:t>η_total</a:t>
            </a:r>
            <a:r>
              <a:rPr lang="en-US" sz="2800" dirty="0" smtClean="0">
                <a:solidFill>
                  <a:srgbClr val="000000"/>
                </a:solidFill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11. Numerical – Fuel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If </a:t>
            </a:r>
            <a:r>
              <a:rPr sz="2800" dirty="0" err="1"/>
              <a:t>P_w</a:t>
            </a:r>
            <a:r>
              <a:rPr sz="2800" dirty="0"/>
              <a:t> = 60 kW and </a:t>
            </a:r>
            <a:r>
              <a:rPr sz="2800" dirty="0" err="1"/>
              <a:t>η_total</a:t>
            </a:r>
            <a:r>
              <a:rPr sz="2800" dirty="0"/>
              <a:t> = 0.29,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err="1"/>
              <a:t>P_f</a:t>
            </a:r>
            <a:r>
              <a:rPr sz="2800" dirty="0"/>
              <a:t> = 60 / 0.29 ≈ 206.9 kW.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2720" y="3716287"/>
            <a:ext cx="8331200" cy="29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12. DC Bus Power Requirement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5600" y="4343401"/>
            <a:ext cx="8331200" cy="11633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  <a:latin typeface="+mj-lt"/>
              </a:rPr>
              <a:t>Motor electrical power: </a:t>
            </a:r>
            <a:r>
              <a:rPr lang="en-US" sz="2800" dirty="0" err="1" smtClean="0">
                <a:solidFill>
                  <a:srgbClr val="000000"/>
                </a:solidFill>
                <a:latin typeface="+mj-lt"/>
              </a:rPr>
              <a:t>P_dc</a:t>
            </a:r>
            <a:r>
              <a:rPr lang="en-US" sz="2800" dirty="0" smtClean="0">
                <a:solidFill>
                  <a:srgbClr val="000000"/>
                </a:solidFill>
                <a:latin typeface="+mj-lt"/>
              </a:rPr>
              <a:t> = </a:t>
            </a:r>
            <a:r>
              <a:rPr lang="en-US" sz="2800" dirty="0" err="1" smtClean="0">
                <a:solidFill>
                  <a:srgbClr val="000000"/>
                </a:solidFill>
                <a:latin typeface="+mj-lt"/>
              </a:rPr>
              <a:t>P_w</a:t>
            </a:r>
            <a:r>
              <a:rPr lang="en-US" sz="2800" dirty="0" smtClean="0">
                <a:solidFill>
                  <a:srgbClr val="000000"/>
                </a:solidFill>
                <a:latin typeface="+mj-lt"/>
              </a:rPr>
              <a:t> / </a:t>
            </a:r>
            <a:r>
              <a:rPr lang="en-US" sz="2800" dirty="0" err="1" smtClean="0">
                <a:solidFill>
                  <a:srgbClr val="000000"/>
                </a:solidFill>
                <a:latin typeface="+mj-lt"/>
              </a:rPr>
              <a:t>η_m</a:t>
            </a:r>
            <a:r>
              <a:rPr lang="en-US" sz="2800" dirty="0" smtClean="0">
                <a:solidFill>
                  <a:srgbClr val="000000"/>
                </a:solidFill>
                <a:latin typeface="+mj-lt"/>
              </a:rPr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  <a:latin typeface="+mj-lt"/>
              </a:rPr>
              <a:t>Accounts for inverter and motor losses.</a:t>
            </a:r>
            <a:endParaRPr lang="en-US" sz="28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13. Power Balance on DC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2748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err="1"/>
              <a:t>P_dc</a:t>
            </a:r>
            <a:r>
              <a:rPr sz="2800" dirty="0"/>
              <a:t> = </a:t>
            </a:r>
            <a:r>
              <a:rPr sz="2800" dirty="0" err="1"/>
              <a:t>P_gen</a:t>
            </a:r>
            <a:r>
              <a:rPr sz="2800" dirty="0"/>
              <a:t> + </a:t>
            </a:r>
            <a:r>
              <a:rPr sz="2800" dirty="0" err="1"/>
              <a:t>P_bat</a:t>
            </a:r>
            <a:r>
              <a:rPr sz="2800" dirty="0"/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Battery assists when generator output insufficient.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38480" y="3190242"/>
            <a:ext cx="8229600" cy="675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14. Numerical – Battery Assist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8480" y="4048763"/>
            <a:ext cx="8229600" cy="15494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IN" sz="2800" dirty="0" smtClean="0">
                <a:solidFill>
                  <a:srgbClr val="000000"/>
                </a:solidFill>
              </a:rPr>
              <a:t>If </a:t>
            </a:r>
            <a:r>
              <a:rPr lang="en-IN" sz="2800" dirty="0" err="1" smtClean="0">
                <a:solidFill>
                  <a:srgbClr val="000000"/>
                </a:solidFill>
              </a:rPr>
              <a:t>P_w</a:t>
            </a:r>
            <a:r>
              <a:rPr lang="en-IN" sz="2800" dirty="0" smtClean="0">
                <a:solidFill>
                  <a:srgbClr val="000000"/>
                </a:solidFill>
              </a:rPr>
              <a:t> = 70 kW, </a:t>
            </a:r>
            <a:r>
              <a:rPr lang="el-GR" sz="2800" dirty="0" smtClean="0">
                <a:solidFill>
                  <a:srgbClr val="000000"/>
                </a:solidFill>
              </a:rPr>
              <a:t>η_</a:t>
            </a:r>
            <a:r>
              <a:rPr lang="en-IN" sz="2800" dirty="0" smtClean="0">
                <a:solidFill>
                  <a:srgbClr val="000000"/>
                </a:solidFill>
              </a:rPr>
              <a:t>m = 0.90 → </a:t>
            </a:r>
            <a:r>
              <a:rPr lang="en-IN" sz="2800" dirty="0" err="1" smtClean="0">
                <a:solidFill>
                  <a:srgbClr val="000000"/>
                </a:solidFill>
              </a:rPr>
              <a:t>P_dc</a:t>
            </a:r>
            <a:r>
              <a:rPr lang="en-IN" sz="2800" dirty="0" smtClean="0">
                <a:solidFill>
                  <a:srgbClr val="000000"/>
                </a:solidFill>
              </a:rPr>
              <a:t> = 77.8 kW.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IN" sz="2800" dirty="0" smtClean="0">
                <a:solidFill>
                  <a:srgbClr val="000000"/>
                </a:solidFill>
              </a:rPr>
              <a:t>If generator supplies 50 kW, battery supplies 27.8 kW.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15. Battery Charging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188401"/>
            <a:ext cx="8940800" cy="1666718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If generator power exceeds </a:t>
            </a:r>
            <a:r>
              <a:rPr sz="2800" dirty="0" err="1"/>
              <a:t>P_dc</a:t>
            </a:r>
            <a:r>
              <a:rPr sz="2800" dirty="0"/>
              <a:t> demand</a:t>
            </a:r>
            <a:r>
              <a:rPr sz="2800" dirty="0" smtClean="0"/>
              <a:t>,</a:t>
            </a:r>
            <a:r>
              <a:rPr lang="en-IN" sz="2800" dirty="0" smtClean="0"/>
              <a:t> </a:t>
            </a:r>
            <a:r>
              <a:rPr sz="2800" dirty="0" smtClean="0"/>
              <a:t>Excess </a:t>
            </a:r>
            <a:r>
              <a:rPr sz="2800" dirty="0"/>
              <a:t>energy charges battery.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err="1"/>
              <a:t>P_bat</a:t>
            </a:r>
            <a:r>
              <a:rPr sz="2800" dirty="0"/>
              <a:t> becomes negative (charging mode).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1600" y="2802018"/>
            <a:ext cx="8229600" cy="771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16. SOC Dynamic Equation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9760" y="3568781"/>
            <a:ext cx="8229600" cy="11938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SOC(t) = </a:t>
            </a:r>
            <a:r>
              <a:rPr lang="en-US" sz="2800" dirty="0" err="1" smtClean="0">
                <a:solidFill>
                  <a:srgbClr val="000000"/>
                </a:solidFill>
              </a:rPr>
              <a:t>SOC_initial</a:t>
            </a:r>
            <a:r>
              <a:rPr lang="en-US" sz="2800" dirty="0" smtClean="0">
                <a:solidFill>
                  <a:srgbClr val="000000"/>
                </a:solidFill>
              </a:rPr>
              <a:t> − (1/C) ∫ </a:t>
            </a:r>
            <a:r>
              <a:rPr lang="en-US" sz="2800" dirty="0" err="1" smtClean="0">
                <a:solidFill>
                  <a:srgbClr val="000000"/>
                </a:solidFill>
              </a:rPr>
              <a:t>I_bat</a:t>
            </a:r>
            <a:r>
              <a:rPr lang="en-US" sz="2800" dirty="0" smtClean="0">
                <a:solidFill>
                  <a:srgbClr val="000000"/>
                </a:solidFill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</a:rPr>
              <a:t>dt.</a:t>
            </a:r>
            <a:endParaRPr lang="en-US" sz="2800" dirty="0" smtClean="0"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SOC maintained typically between 40–80%.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9760" y="5476243"/>
            <a:ext cx="8229600" cy="122428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Energy stored E = V × Ah.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Example: 300 V × 40 Ah = 12 kWh battery pack.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1600" y="4847473"/>
            <a:ext cx="8229600" cy="543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17. Battery Energy Calculation</a:t>
            </a:r>
            <a:endParaRPr lang="en-IN" sz="3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" y="650717"/>
            <a:ext cx="8229600" cy="745647"/>
          </a:xfrm>
        </p:spPr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18. Acceleration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During acceleration, peak power &gt; engine rated power.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Battery provides transient support.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b="1" dirty="0"/>
              <a:t>Allows engine downsizing.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920" y="3794761"/>
            <a:ext cx="8229600" cy="7108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19. Engine Downsizing Principle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709479"/>
            <a:ext cx="8229600" cy="16205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Engine sized for average power demand.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Battery supplies peak demand.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Improves fuel economy and reduces weight.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9122"/>
          </a:xfrm>
        </p:spPr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20. Regenerative Braking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6621"/>
            <a:ext cx="8229600" cy="1407160"/>
          </a:xfrm>
        </p:spPr>
        <p:txBody>
          <a:bodyPr wrap="square">
            <a:normAutofit lnSpcReduction="10000"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Kinetic energy: E = 1/2 m v².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Recovered energy depends on regeneration efficiency.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266762"/>
            <a:ext cx="8229600" cy="130556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pt-BR" sz="2800" dirty="0" smtClean="0">
                <a:solidFill>
                  <a:srgbClr val="000000"/>
                </a:solidFill>
              </a:rPr>
              <a:t>For m = 1500 kg, v = 25 m/s,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pt-BR" sz="2800" dirty="0" smtClean="0">
                <a:solidFill>
                  <a:srgbClr val="000000"/>
                </a:solidFill>
              </a:rPr>
              <a:t>E = 0.5 × 1500 × 625 = 468,750 J (468.75 kJ).</a:t>
            </a:r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1760" y="2387920"/>
            <a:ext cx="8229600" cy="670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21. Numerical – Kinetic Energy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54000" y="4419918"/>
            <a:ext cx="8229600" cy="670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22. Energy Recovery Calculation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75920" y="5158741"/>
            <a:ext cx="8229600" cy="117348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If regeneration efficiency = 60%,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Recovered energy = 0.6 × 468.75 = 281.25 kJ.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23. Regenerative Power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132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err="1"/>
              <a:t>P_regen</a:t>
            </a:r>
            <a:r>
              <a:rPr sz="2800" dirty="0"/>
              <a:t> = T × ω.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Limited by motor current and battery acceptance rate.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99440" y="3190558"/>
            <a:ext cx="8229600" cy="660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24. Regeneration Constraints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1520" y="3723641"/>
            <a:ext cx="8229600" cy="1722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Battery current limit.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High SOC condition.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Low-speed inefficiency.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3122"/>
          </a:xfrm>
        </p:spPr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25. Thermal Efficiency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64480"/>
          </a:xfrm>
        </p:spPr>
        <p:txBody>
          <a:bodyPr wrap="square">
            <a:normAutofit lnSpcReduction="10000"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Operate engine at optimal BSFC region</a:t>
            </a:r>
            <a:r>
              <a:rPr sz="2800" dirty="0" smtClean="0"/>
              <a:t>.</a:t>
            </a:r>
            <a:endParaRPr lang="en-IN" sz="2800" dirty="0" smtClean="0"/>
          </a:p>
          <a:p>
            <a:pPr marL="0" indent="0">
              <a:buNone/>
            </a:pPr>
            <a:r>
              <a:rPr lang="en-US" sz="2800" b="1" dirty="0"/>
              <a:t>BSFC = Brake Specific Fuel Consumption</a:t>
            </a:r>
            <a:endParaRPr lang="en-US" sz="2800" dirty="0"/>
          </a:p>
          <a:p>
            <a:r>
              <a:rPr lang="en-US" sz="2800" dirty="0"/>
              <a:t>It is a measure of </a:t>
            </a:r>
            <a:r>
              <a:rPr lang="en-US" sz="2800" b="1" dirty="0"/>
              <a:t>how efficiently an engine uses fuel to produce useful power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IN" sz="2800" dirty="0" smtClean="0"/>
              <a:t>On </a:t>
            </a:r>
            <a:r>
              <a:rPr lang="en-IN" sz="2800" dirty="0"/>
              <a:t>a typical engine map (BSFC contour map):</a:t>
            </a:r>
          </a:p>
          <a:p>
            <a:r>
              <a:rPr lang="en-IN" sz="2800" dirty="0"/>
              <a:t>X-axis → Engine Speed (RPM)</a:t>
            </a:r>
          </a:p>
          <a:p>
            <a:r>
              <a:rPr lang="en-IN" sz="2800" dirty="0"/>
              <a:t>Y-axis → Engine Torque (Nm)</a:t>
            </a:r>
          </a:p>
          <a:p>
            <a:r>
              <a:rPr lang="en-IN" sz="2800" dirty="0"/>
              <a:t>Contour lines → BSFC values (g/kWh)</a:t>
            </a:r>
          </a:p>
          <a:p>
            <a:pPr marL="0" indent="0">
              <a:buNone/>
            </a:pPr>
            <a:r>
              <a:rPr lang="en-IN" sz="2800" dirty="0"/>
              <a:t>The </a:t>
            </a:r>
            <a:r>
              <a:rPr lang="en-IN" sz="2800" b="1" dirty="0"/>
              <a:t>lowest BSFC contour (smallest number)</a:t>
            </a:r>
            <a:r>
              <a:rPr lang="en-IN" sz="2800" dirty="0"/>
              <a:t> forms a “sweet spot” island.</a:t>
            </a:r>
          </a:p>
          <a:p>
            <a:r>
              <a:rPr lang="en-IN" sz="2800" dirty="0"/>
              <a:t>This is the </a:t>
            </a:r>
            <a:r>
              <a:rPr lang="en-IN" sz="2800" b="1" dirty="0"/>
              <a:t>optimal BSFC island</a:t>
            </a:r>
            <a:r>
              <a:rPr lang="en-IN" sz="2800" dirty="0"/>
              <a:t>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1999"/>
            <a:ext cx="9144000" cy="5225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4939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208280"/>
            <a:ext cx="8615680" cy="63449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Why Does BSFC Change With RPM &amp; Load?</a:t>
            </a:r>
          </a:p>
          <a:p>
            <a:r>
              <a:rPr lang="en-IN" dirty="0"/>
              <a:t>Engine efficiency depends on:</a:t>
            </a:r>
          </a:p>
          <a:p>
            <a:pPr marL="0" indent="0">
              <a:buNone/>
            </a:pPr>
            <a:r>
              <a:rPr lang="en-IN" b="1" dirty="0" smtClean="0"/>
              <a:t>Low </a:t>
            </a:r>
            <a:r>
              <a:rPr lang="en-IN" b="1" dirty="0"/>
              <a:t>Load (Bad Efficiency)</a:t>
            </a:r>
          </a:p>
          <a:p>
            <a:r>
              <a:rPr lang="en-IN" dirty="0"/>
              <a:t>Throttle losses</a:t>
            </a:r>
          </a:p>
          <a:p>
            <a:r>
              <a:rPr lang="en-IN" dirty="0"/>
              <a:t>Pumping losses</a:t>
            </a:r>
          </a:p>
          <a:p>
            <a:r>
              <a:rPr lang="en-IN" dirty="0"/>
              <a:t>Friction dominant</a:t>
            </a:r>
          </a:p>
          <a:p>
            <a:r>
              <a:rPr lang="en-IN" dirty="0"/>
              <a:t>BSFC high</a:t>
            </a:r>
          </a:p>
          <a:p>
            <a:pPr marL="0" indent="0">
              <a:buNone/>
            </a:pPr>
            <a:r>
              <a:rPr lang="en-IN" b="1" dirty="0" smtClean="0"/>
              <a:t>Very </a:t>
            </a:r>
            <a:r>
              <a:rPr lang="en-IN" b="1" dirty="0"/>
              <a:t>High RPM (Bad Efficiency)</a:t>
            </a:r>
          </a:p>
          <a:p>
            <a:r>
              <a:rPr lang="en-IN" dirty="0"/>
              <a:t>Friction losses increase</a:t>
            </a:r>
          </a:p>
          <a:p>
            <a:r>
              <a:rPr lang="en-IN" dirty="0"/>
              <a:t>Combustion not ideal</a:t>
            </a:r>
          </a:p>
          <a:p>
            <a:r>
              <a:rPr lang="en-IN" dirty="0"/>
              <a:t>BSFC increases</a:t>
            </a:r>
          </a:p>
          <a:p>
            <a:pPr marL="0" indent="0">
              <a:buNone/>
            </a:pPr>
            <a:r>
              <a:rPr lang="en-IN" b="1" dirty="0" smtClean="0"/>
              <a:t>Medium </a:t>
            </a:r>
            <a:r>
              <a:rPr lang="en-IN" b="1" dirty="0"/>
              <a:t>RPM + High Load (Best Efficiency)</a:t>
            </a:r>
          </a:p>
          <a:p>
            <a:r>
              <a:rPr lang="en-IN" dirty="0"/>
              <a:t>Reduced throttling</a:t>
            </a:r>
          </a:p>
          <a:p>
            <a:r>
              <a:rPr lang="en-IN" dirty="0"/>
              <a:t>Better combustion pressure</a:t>
            </a:r>
          </a:p>
          <a:p>
            <a:r>
              <a:rPr lang="en-IN" dirty="0"/>
              <a:t>Lower relative losses</a:t>
            </a:r>
          </a:p>
          <a:p>
            <a:r>
              <a:rPr lang="en-IN" dirty="0"/>
              <a:t>Minimum BSFC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This </a:t>
            </a:r>
            <a:r>
              <a:rPr lang="en-IN" dirty="0"/>
              <a:t>region is called</a:t>
            </a:r>
            <a:r>
              <a:rPr lang="en-IN" dirty="0" smtClean="0"/>
              <a:t>: </a:t>
            </a:r>
            <a:r>
              <a:rPr lang="en-IN" b="1" dirty="0" smtClean="0"/>
              <a:t>Optimal </a:t>
            </a:r>
            <a:r>
              <a:rPr lang="en-IN" b="1" dirty="0"/>
              <a:t>BSFC region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7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431800"/>
            <a:ext cx="8463280" cy="6080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Optimal BSFC Region Is Very Important in Series Hybrid?</a:t>
            </a:r>
          </a:p>
          <a:p>
            <a:r>
              <a:rPr lang="en-US" dirty="0"/>
              <a:t>In a conventional car:</a:t>
            </a:r>
          </a:p>
          <a:p>
            <a:pPr marL="400050" lvl="1" indent="0">
              <a:buNone/>
            </a:pPr>
            <a:r>
              <a:rPr lang="en-US" dirty="0"/>
              <a:t>Engine speed depends on vehicle speed.</a:t>
            </a:r>
          </a:p>
          <a:p>
            <a:pPr marL="400050" lvl="1" indent="0">
              <a:buNone/>
            </a:pPr>
            <a:r>
              <a:rPr lang="en-US" dirty="0"/>
              <a:t>Cannot stay in optimal region continuously.</a:t>
            </a:r>
          </a:p>
          <a:p>
            <a:r>
              <a:rPr lang="en-US" dirty="0"/>
              <a:t>In a </a:t>
            </a:r>
            <a:r>
              <a:rPr lang="en-US" b="1" dirty="0"/>
              <a:t>Series Hybrid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dirty="0" smtClean="0"/>
              <a:t>Engine </a:t>
            </a:r>
            <a:r>
              <a:rPr lang="en-US" dirty="0"/>
              <a:t>is decoupled from wheels</a:t>
            </a:r>
            <a:br>
              <a:rPr lang="en-US" dirty="0"/>
            </a:br>
            <a:r>
              <a:rPr lang="en-US" dirty="0" smtClean="0"/>
              <a:t>Engine </a:t>
            </a:r>
            <a:r>
              <a:rPr lang="en-US" dirty="0"/>
              <a:t>can run at fixed RPM</a:t>
            </a:r>
            <a:br>
              <a:rPr lang="en-US" dirty="0"/>
            </a:br>
            <a:r>
              <a:rPr lang="en-US" dirty="0" smtClean="0"/>
              <a:t>Operates </a:t>
            </a:r>
            <a:r>
              <a:rPr lang="en-US" dirty="0"/>
              <a:t>near optimal BSFC island</a:t>
            </a:r>
          </a:p>
          <a:p>
            <a:r>
              <a:rPr lang="en-US" dirty="0"/>
              <a:t>This is a major advantage.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47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26. Urban Drive Cycle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Frequent braking improves energy recovery.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Series hybrid performs best in stop–go traffic.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25120" y="29467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US" sz="3000" dirty="0" smtClean="0">
                <a:solidFill>
                  <a:srgbClr val="000000"/>
                </a:solidFill>
              </a:rPr>
              <a:t>27. Highway Drive Cycle Limitation</a:t>
            </a:r>
            <a:endParaRPr lang="en-US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5120" y="3939381"/>
            <a:ext cx="8229600" cy="116332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Multiple conversion losses reduce highway efficiency.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Parallel systems better at constant high speed.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1440" y="775659"/>
            <a:ext cx="8229600" cy="665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28. Loss Distribution Analysis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07720" y="1700537"/>
            <a:ext cx="8229600" cy="12649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IN" sz="2800" dirty="0" smtClean="0">
                <a:solidFill>
                  <a:srgbClr val="000000"/>
                </a:solidFill>
              </a:rPr>
              <a:t>Largest Engine combustion losses.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IN" sz="2800" dirty="0" smtClean="0">
                <a:solidFill>
                  <a:srgbClr val="000000"/>
                </a:solidFill>
              </a:rPr>
              <a:t>Electrical losses smaller but cumulative.</a:t>
            </a:r>
            <a:endParaRPr lang="en-IN" sz="2800" dirty="0">
              <a:solidFill>
                <a:srgbClr val="00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2560" y="2983637"/>
            <a:ext cx="8229600" cy="665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>
                <a:solidFill>
                  <a:srgbClr val="000000"/>
                </a:solidFill>
              </a:defRPr>
            </a:pPr>
            <a:r>
              <a:rPr lang="en-IN" sz="3000" dirty="0" smtClean="0">
                <a:solidFill>
                  <a:srgbClr val="000000"/>
                </a:solidFill>
              </a:rPr>
              <a:t>29. Design Trade-Off Analysis</a:t>
            </a:r>
            <a:endParaRPr lang="en-IN" sz="3000" dirty="0">
              <a:solidFill>
                <a:srgbClr val="00000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99440" y="3904698"/>
            <a:ext cx="8229600" cy="178308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Large motor required.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Higher cost due to generator and power electronics.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dirty="0" smtClean="0">
                <a:solidFill>
                  <a:srgbClr val="000000"/>
                </a:solidFill>
              </a:rPr>
              <a:t>Improved urban fuel economy.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</a:defRPr>
            </a:pPr>
            <a:r>
              <a:rPr dirty="0"/>
              <a:t>30. </a:t>
            </a:r>
            <a:r>
              <a:rPr dirty="0" smtClean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 err="1"/>
              <a:t>η_total</a:t>
            </a:r>
            <a:r>
              <a:rPr sz="2800" dirty="0"/>
              <a:t> = </a:t>
            </a:r>
            <a:r>
              <a:rPr sz="2800" dirty="0" err="1" smtClean="0"/>
              <a:t>η_e</a:t>
            </a:r>
            <a:r>
              <a:rPr lang="en-IN" sz="2800" dirty="0" smtClean="0"/>
              <a:t> x</a:t>
            </a:r>
            <a:r>
              <a:rPr sz="2800" dirty="0" smtClean="0"/>
              <a:t> </a:t>
            </a:r>
            <a:r>
              <a:rPr sz="2800" dirty="0" err="1"/>
              <a:t>η_g</a:t>
            </a:r>
            <a:r>
              <a:rPr sz="2800" dirty="0"/>
              <a:t> </a:t>
            </a:r>
            <a:r>
              <a:rPr lang="en-IN" sz="2800" dirty="0" smtClean="0"/>
              <a:t>x </a:t>
            </a:r>
            <a:r>
              <a:rPr sz="2800" dirty="0" err="1" smtClean="0"/>
              <a:t>η_m</a:t>
            </a:r>
            <a:r>
              <a:rPr sz="2800" dirty="0" smtClean="0"/>
              <a:t> </a:t>
            </a:r>
            <a:r>
              <a:rPr sz="2800" dirty="0"/>
              <a:t>governs performance.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Battery enables transient power and regeneration.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Series hybrid ideal for city conditions like Pune.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1349</Words>
  <Application>Microsoft Office PowerPoint</Application>
  <PresentationFormat>On-screen Show (4:3)</PresentationFormat>
  <Paragraphs>183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Office Theme</vt:lpstr>
      <vt:lpstr>Series Hybrid Drive Train</vt:lpstr>
      <vt:lpstr>Basic architecture of hybrid drive train </vt:lpstr>
      <vt:lpstr>Basic architecture of hybrid drive train </vt:lpstr>
      <vt:lpstr>PowerPoint Presentation</vt:lpstr>
      <vt:lpstr>PowerPoint Presentation</vt:lpstr>
      <vt:lpstr>Hybrid Power Train </vt:lpstr>
      <vt:lpstr>Series Hybrid mode </vt:lpstr>
      <vt:lpstr>Parallel Hybrid Mode </vt:lpstr>
      <vt:lpstr>Series Parallel Hybrid </vt:lpstr>
      <vt:lpstr>Complex Hybrid Mode </vt:lpstr>
      <vt:lpstr>1. Definition of Series Hybrid</vt:lpstr>
      <vt:lpstr>PowerPoint Presentation</vt:lpstr>
      <vt:lpstr>2. Energy Conversion Stages</vt:lpstr>
      <vt:lpstr>3. Engine Efficiency Equation</vt:lpstr>
      <vt:lpstr>4. Generator Efficiency</vt:lpstr>
      <vt:lpstr>6. Cascaded Efficiency</vt:lpstr>
      <vt:lpstr>9. Interpretation of Losses</vt:lpstr>
      <vt:lpstr>11. Numerical – Fuel Requirement</vt:lpstr>
      <vt:lpstr>13. Power Balance on DC Bus</vt:lpstr>
      <vt:lpstr>15. Battery Charging Condition</vt:lpstr>
      <vt:lpstr>18. Acceleration Analysis</vt:lpstr>
      <vt:lpstr>20. Regenerative Braking Energy</vt:lpstr>
      <vt:lpstr>23. Regenerative Power Equation</vt:lpstr>
      <vt:lpstr>25. Thermal Efficiency Optimization</vt:lpstr>
      <vt:lpstr>PowerPoint Presentation</vt:lpstr>
      <vt:lpstr>PowerPoint Presentation</vt:lpstr>
      <vt:lpstr>PowerPoint Presentation</vt:lpstr>
      <vt:lpstr>26. Urban Drive Cycle Analysis</vt:lpstr>
      <vt:lpstr>PowerPoint Presentation</vt:lpstr>
      <vt:lpstr>30.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Dive: Series Hybrid Drive Train Analysis</dc:title>
  <dc:subject/>
  <dc:creator>Sachin Argade</dc:creator>
  <cp:keywords/>
  <dc:description>generated using python-pptx</dc:description>
  <cp:lastModifiedBy>Sachin Argade</cp:lastModifiedBy>
  <cp:revision>47</cp:revision>
  <dcterms:created xsi:type="dcterms:W3CDTF">2013-01-27T09:14:16Z</dcterms:created>
  <dcterms:modified xsi:type="dcterms:W3CDTF">2026-03-02T08:42:02Z</dcterms:modified>
  <cp:category/>
</cp:coreProperties>
</file>