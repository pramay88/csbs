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302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0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937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What is a Power Diode?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222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A two-terminal semiconductor device that allows current flow in one direction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Designed to handle high voltages (up to several kV) and high currents (up to several kA)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Used for rectification, freewheeling, and voltage clamping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Key difference from signal diodes: Thicker drift region for high voltage blocking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Diode Structure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0" y="1370600"/>
            <a:ext cx="8849960" cy="32103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Diode Symbol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341" y="1763392"/>
            <a:ext cx="4686954" cy="2467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Doping Levels in Power Diodes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P+ layer (Anode): ~10 cm, thickness ~10 μm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 drift layer: ~10 cm, thickness 50-250 μm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 layer (Cathode): ~10 cm, thickness ~250 μm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layer thickness determines breakdown voltage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V-I Characteristics of Power Diode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54" y="1417568"/>
            <a:ext cx="6988125" cy="3469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Forward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4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Diode conducts when anode is positive with respect to cathode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Threshold voltage V: ~0.7V for Si, ~0.3V for Schottky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Forward voltage drop: V = V + r × I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On-state resistance r causes power dissipation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Reverse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1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Diode blocks </a:t>
            </a: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cathode is positive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reverse leakage current I flows (μA to mA range)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breakdown occurs at voltage V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voltage depends on drift layer width and doping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24000"/>
            <a:ext cx="7924800" cy="597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Diode Equation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2005" y="1638300"/>
            <a:ext cx="7578090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I = I [e - 1]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135224"/>
            <a:ext cx="7772400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Where: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81050" y="2578695"/>
            <a:ext cx="7620000" cy="2436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I = Reverse saturation current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q = Electron charge (1.6 × 10 C)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V = Applied voltage across diode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k = Boltzmann constant (1.38 × 10 J/K)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 = Absolute temperature (K)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7924800" cy="5593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35798"/>
            <a:ext cx="7924800" cy="597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Dissipation in Diodes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2005" y="1485900"/>
            <a:ext cx="7578090" cy="33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P = V × I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2005" y="2350098"/>
            <a:ext cx="7578090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P = V × I + r × I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214292"/>
            <a:ext cx="7620000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Higher current increases power loss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Requires proper heat sinking for thermal management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Diode Turn-On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1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Forward voltage initially overshoots to V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Forward recovery time t: Time to reach steady-state V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Overshoot depends on current rise rate di/dt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Minority carriers gradually accumulate across junction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Diode Turn-Off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4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Reverse recovery occurs when diode switches from forward to reverse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Reverse recovery time t: Time for stored charge to dissipate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Peak reverse current I flows during recovery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Reverse recovery charge Q determines switching loss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7924800" cy="5593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Reverse Recovery Time Equation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2005" y="1485900"/>
            <a:ext cx="7578090" cy="33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t = √[2Q / (di/dt)]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388198"/>
            <a:ext cx="7620000" cy="194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Q = Reverse recovery charge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di/dt = Rate of change of current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Fast recovery diodes have lower t (few ns to μs)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Standard diodes have t in μs range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Types of Power Diodes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7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Standard Recovery Diodes: t &gt; 5 μs (line frequency applications)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Fast Recovery Diodes: t = 1-5 μs (DC-DC converters)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Schottky Diodes: Very low V, fast switching, low voltage rating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SiC Diodes: High voltage, high temperature, near-zero t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1882" y="1823677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Electronics Switches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60704" y="2463373"/>
            <a:ext cx="8083296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Controllable semiconductor devices used for switching in power converters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Types of Power Switches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MOSFET (Metal-Oxide-Semiconductor Field-Effect Transistor)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IGBT (Insulated Gate Bipolar Transistor)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Thyristor/SCR (Silicon Controlled Rectifier)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GTO (Gate Turn-Off Thyristor)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MOSFET Structure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1" y="1404510"/>
            <a:ext cx="7324124" cy="33427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MOSFET Symbol (N-Channel)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962" y="1253170"/>
            <a:ext cx="4372585" cy="36295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MOSFET Operating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1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Voltage-controlled device: Gate voltage controls drain current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When V &gt; V: Channel forms, device conducts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When V &lt; V: No channel, device blocks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Unipolar device: Only majority carriers (electrons) conduct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MOSFET Key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81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Very fast switching speed (nanoseconds)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High input impedance (low gate drive power)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Positive temperature coefficient (prevents thermal runaway)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On-state resistance R causes conduction loss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598"/>
            <a:ext cx="7924800" cy="597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3240286"/>
            <a:ext cx="7924800" cy="597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MOSFET Equations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219200"/>
            <a:ext cx="8083296" cy="33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Linear Region (V &lt; V - V):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2005" y="1892898"/>
            <a:ext cx="7578090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I = K × [(V - V)V - V/2]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680897"/>
            <a:ext cx="8083296" cy="33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Saturation Region (V &gt; V - V):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2005" y="3354586"/>
            <a:ext cx="7578090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I = (K/2) × (V - V)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7924800" cy="597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MOSFET Conduction Loss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02005" y="1485900"/>
            <a:ext cx="7578090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P = I × R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273898"/>
            <a:ext cx="7620000" cy="144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 increases with temperature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 R MOSFETs reduce power loss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Trade-off: Lower R means higher gate charge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IGBT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8083296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Combines MOSFET input with BJT output</a:t>
            </a:r>
            <a:endParaRPr lang="en-US" sz="16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11404"/>
            <a:ext cx="5805376" cy="298203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IGBT Symbol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155" y="1604856"/>
            <a:ext cx="3156836" cy="29293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IGBT Operating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Input stage: MOSFET controls gate (voltage-controlled)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Output stage: Bipolar transistor conducts collector current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Combines low gate drive power of MOSFET with low on-state loss of BJT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Bipolar conduction enables high current density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IGBT Key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Lower on-state voltage drop than MOSFET (1.5-3V typical)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Moderate switching speed (microseconds)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Tail current during turn-off increases switching loss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High voltage rating (600V to several kV)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95400"/>
            <a:ext cx="3848100" cy="2562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86300" y="1295400"/>
            <a:ext cx="3848100" cy="2562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MOSFET vs IGBT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200" y="1524000"/>
            <a:ext cx="3458718" cy="25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MOSFET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0" y="1889727"/>
            <a:ext cx="3162300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Fast switching (ns)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Higher 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Low-medium voltage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 frequency apps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14900" y="1524000"/>
            <a:ext cx="3458718" cy="25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IGBT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43500" y="1889727"/>
            <a:ext cx="3162300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Moderate speed (μs)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 V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 voltage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 power apps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Thyristor (SCR)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8083296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Four-layer P-N-P-N structure</a:t>
            </a:r>
            <a:endParaRPr lang="en-US" sz="16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887" y="2055417"/>
            <a:ext cx="5776787" cy="27352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Thyristor (SCR) Symbol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23" y="1453116"/>
            <a:ext cx="2759165" cy="32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62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Thyristor Operating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Turn-on: Positive gate current triggers device when anode is positive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Latching: Once on, gate loses control (regenerative action)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Turn-off: Requires anode current to drop below holding current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Cannot be turned off by gate signal alone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Thyristor Key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91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Latching current I: Minimum to maintain conduction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Holding current I: Minimum to keep device on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Very high voltage and current ratings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Low on-state voltage drop (~1-2V)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Gate Turn-Off Thyristor (GTO)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Similar four-layer structure to SCR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Modified gate design enables turn-off capability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Turn-on: Positive gate pulse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Turn-off: Negative gate current pulse extracts stored charge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GTO Key Characteristics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Full gate control (turn-on and turn-off)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Turn-off gain: 3-5 (negative gate current = 20-30% of anode current)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High voltage and current capability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Used in high-power inverters and motor drives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Silicon Carbide (SiC) Devices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Wide bandgap semiconductor material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10× higher breakdown field than silicon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Operates at higher temperatures (up to 200°C)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Near-zero reverse recovery time for diodes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SiC Device Advantages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5× higher current density than silicon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Much faster switching under high voltage/temperature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Lower conduction and switching losses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Enables smaller passive components (inductors, capacitors)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01" y="2120317"/>
            <a:ext cx="6998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Electronics in Electric Vehicles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65930" y="2729917"/>
            <a:ext cx="3612041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Key Applications and Implementations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Traction Inverter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Converts DC from battery to 3-phase AC for motor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Uses IGBT or SiC MOSFET switches in 3-phase bridge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Controls motor speed and torque via PWM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Handles regenerative braking (motor acts as generator)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Devices in Traction Inverter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IGBTs: Traditional choice for 400V systems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SiC MOSFETs: Preferred for 800V systems (higher efficiency)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Freewheeling diodes: Handle reverse current during switching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SiC diodes reduce reverse recovery loss significantly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DC-DC Converters in EVs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Buck converter: Steps down high voltage battery to 12V/48V auxiliary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Boost converter: Steps up voltage for certain motor topologies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Bidirectional converter: Enables energy flow in both directions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switches: MOSFETs for lower voltages, IGBTs for high power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Buck Converter Configuration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192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MOSFET as main switch (high-side)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Freewheeling diode conducts when MOSFET is off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Fast recovery diode reduces switching loss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Synchronous buck replaces diode with MOSFET for higher efficiency</a:t>
            </a:r>
            <a:endParaRPr lang="en-US" sz="1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Onboard Charger (OBC)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Converts AC from grid to DC for battery charging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AC-DC rectifier: Uses power diodes or active rectification (MOSFETs)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DC-DC stage: Controls charging current and voltage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SiC devices improve efficiency and reduce size/weight</a:t>
            </a:r>
            <a:endParaRPr lang="en-US" sz="1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BMS Power Electronics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Precharge circuit: Uses power resistor and relay/contactor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diodes prevent reverse current flow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Cell balancing circuits: Use MOSFETs to discharge/charge cells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Isolation monitoring: Protects against ground faults</a:t>
            </a:r>
            <a:endParaRPr lang="en-US" sz="1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Device Selection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762000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Voltage rating: Must exceed maximum system voltage (safety margin)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 rating: Based on peak and continuous current requirements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Switching frequency: MOSFETs for &gt;20kHz, IGBTs for &lt;20kHz</a:t>
            </a:r>
            <a:endParaRPr lang="en-US" sz="16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Thermal management: Junction temperature and cooling requirements</a:t>
            </a:r>
            <a:endParaRPr lang="en-US" sz="1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6479" y="335087"/>
            <a:ext cx="17712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97480" y="1082360"/>
            <a:ext cx="6893699" cy="234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diodes enable rectification and freewheeling</a:t>
            </a:r>
            <a:endParaRPr lang="en-US" sz="1650" dirty="0"/>
          </a:p>
          <a:p>
            <a:pPr marL="342900" indent="-342900" algn="l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MOSFETs excel at high-frequency switching</a:t>
            </a:r>
            <a:endParaRPr lang="en-US" sz="1650" dirty="0"/>
          </a:p>
          <a:p>
            <a:pPr marL="342900" indent="-342900" algn="l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IGBTs handle high voltage and high power efficiently</a:t>
            </a:r>
            <a:endParaRPr lang="en-US" sz="1650" dirty="0"/>
          </a:p>
          <a:p>
            <a:pPr marL="342900" indent="-342900" algn="l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SiC devices revolutionize EV power electronics</a:t>
            </a:r>
            <a:endParaRPr lang="en-US" sz="1650" dirty="0"/>
          </a:p>
          <a:p>
            <a:pPr marL="342900" indent="-342900" algn="l">
              <a:lnSpc>
                <a:spcPts val="2970"/>
              </a:lnSpc>
              <a:buSzPct val="100000"/>
              <a:buChar char="•"/>
            </a:pPr>
            <a:r>
              <a:rPr lang="en-US" sz="1650" dirty="0">
                <a:latin typeface="Arial" pitchFamily="34" charset="0"/>
                <a:ea typeface="Arial" pitchFamily="34" charset="-122"/>
                <a:cs typeface="Arial" pitchFamily="34" charset="-120"/>
              </a:rPr>
              <a:t>Proper device selection is critical for EV performance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1328</Words>
  <Application>Microsoft Office PowerPoint</Application>
  <PresentationFormat>On-screen Show (16:9)</PresentationFormat>
  <Paragraphs>229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Sachin Argade</cp:lastModifiedBy>
  <cp:revision>9</cp:revision>
  <dcterms:created xsi:type="dcterms:W3CDTF">2026-03-11T01:25:55Z</dcterms:created>
  <dcterms:modified xsi:type="dcterms:W3CDTF">2026-03-11T04:26:36Z</dcterms:modified>
</cp:coreProperties>
</file>