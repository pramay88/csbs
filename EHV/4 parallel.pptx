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68" r:id="rId2"/>
    <p:sldId id="256" r:id="rId3"/>
    <p:sldId id="333" r:id="rId4"/>
    <p:sldId id="258" r:id="rId5"/>
    <p:sldId id="259" r:id="rId6"/>
    <p:sldId id="261" r:id="rId7"/>
    <p:sldId id="262" r:id="rId8"/>
    <p:sldId id="264" r:id="rId9"/>
    <p:sldId id="266" r:id="rId10"/>
    <p:sldId id="268" r:id="rId11"/>
    <p:sldId id="270" r:id="rId12"/>
    <p:sldId id="272" r:id="rId13"/>
    <p:sldId id="274" r:id="rId14"/>
    <p:sldId id="337" r:id="rId15"/>
    <p:sldId id="338" r:id="rId16"/>
    <p:sldId id="339" r:id="rId17"/>
    <p:sldId id="340" r:id="rId18"/>
    <p:sldId id="341" r:id="rId19"/>
    <p:sldId id="342" r:id="rId20"/>
    <p:sldId id="345" r:id="rId21"/>
    <p:sldId id="346" r:id="rId22"/>
    <p:sldId id="347" r:id="rId23"/>
    <p:sldId id="352" r:id="rId24"/>
    <p:sldId id="351" r:id="rId25"/>
    <p:sldId id="353" r:id="rId26"/>
    <p:sldId id="354" r:id="rId27"/>
    <p:sldId id="355" r:id="rId28"/>
    <p:sldId id="356" r:id="rId29"/>
    <p:sldId id="357" r:id="rId30"/>
    <p:sldId id="358" r:id="rId31"/>
    <p:sldId id="359" r:id="rId32"/>
    <p:sldId id="360" r:id="rId33"/>
    <p:sldId id="361" r:id="rId34"/>
    <p:sldId id="362" r:id="rId35"/>
    <p:sldId id="363" r:id="rId36"/>
    <p:sldId id="364" r:id="rId37"/>
    <p:sldId id="365" r:id="rId38"/>
    <p:sldId id="366" r:id="rId39"/>
    <p:sldId id="367" r:id="rId40"/>
    <p:sldId id="343" r:id="rId41"/>
    <p:sldId id="344" r:id="rId42"/>
    <p:sldId id="282" r:id="rId43"/>
    <p:sldId id="289" r:id="rId44"/>
    <p:sldId id="312" r:id="rId45"/>
    <p:sldId id="314" r:id="rId46"/>
    <p:sldId id="313" r:id="rId47"/>
    <p:sldId id="315" r:id="rId48"/>
    <p:sldId id="316" r:id="rId49"/>
    <p:sldId id="317" r:id="rId50"/>
    <p:sldId id="318" r:id="rId51"/>
    <p:sldId id="295" r:id="rId5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824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 smtClean="0"/>
              <a:t>Parallel_Hybrid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err="1" smtClean="0"/>
              <a:t>Dr.</a:t>
            </a:r>
            <a:r>
              <a:rPr lang="en-IN" dirty="0" smtClean="0"/>
              <a:t> Sachin Argade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393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dirty="0"/>
              <a:t>Introduction to Parallel Hybrid Drive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800" dirty="0"/>
              <a:t>Parallel hybrid vehicles use both an internal combustion engine and an electric motor to drive the wheels.</a:t>
            </a:r>
          </a:p>
          <a:p>
            <a:pPr>
              <a:defRPr sz="2000"/>
            </a:pPr>
            <a:r>
              <a:rPr sz="2800" dirty="0"/>
              <a:t>Both sources can operate individually or simultaneously depending on power demand.</a:t>
            </a:r>
          </a:p>
          <a:p>
            <a:pPr>
              <a:defRPr sz="2000"/>
            </a:pPr>
            <a:r>
              <a:rPr sz="2800" dirty="0"/>
              <a:t>This architecture improves efficiency and performance.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Parallel Hybrid Mode </a:t>
            </a:r>
            <a:endParaRPr lang="en-US" dirty="0"/>
          </a:p>
        </p:txBody>
      </p:sp>
      <p:pic>
        <p:nvPicPr>
          <p:cNvPr id="317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38200" y="1447799"/>
            <a:ext cx="6324600" cy="3586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9200" y="5410200"/>
            <a:ext cx="3352801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952475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Definition of Parallel Hybrid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800" dirty="0"/>
              <a:t>In a parallel hybrid system the engine and motor are mechanically connected to the drivetrain.</a:t>
            </a:r>
          </a:p>
          <a:p>
            <a:pPr>
              <a:defRPr sz="2000"/>
            </a:pPr>
            <a:r>
              <a:rPr sz="2800" dirty="0"/>
              <a:t>Both can supply torque to the wheels.</a:t>
            </a:r>
          </a:p>
          <a:p>
            <a:pPr>
              <a:defRPr sz="2000"/>
            </a:pPr>
            <a:r>
              <a:rPr sz="2800" dirty="0"/>
              <a:t>This differs from series hybrids where only the motor drives the wheels.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Basic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800" dirty="0"/>
              <a:t>Engine</a:t>
            </a:r>
          </a:p>
          <a:p>
            <a:pPr>
              <a:defRPr sz="2000"/>
            </a:pPr>
            <a:r>
              <a:rPr sz="2800" dirty="0"/>
              <a:t>Electric Motor</a:t>
            </a:r>
          </a:p>
          <a:p>
            <a:pPr>
              <a:defRPr sz="2000"/>
            </a:pPr>
            <a:r>
              <a:rPr sz="2800" dirty="0"/>
              <a:t>Battery Pack</a:t>
            </a:r>
          </a:p>
          <a:p>
            <a:pPr>
              <a:defRPr sz="2000"/>
            </a:pPr>
            <a:r>
              <a:rPr sz="2800" dirty="0"/>
              <a:t>Power Electronics</a:t>
            </a:r>
          </a:p>
          <a:p>
            <a:pPr>
              <a:defRPr sz="2000"/>
            </a:pPr>
            <a:r>
              <a:rPr sz="2800" dirty="0"/>
              <a:t>Transmission and Differential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Power Flow in Parallel Hybrid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800" dirty="0"/>
              <a:t>Mechanical power from engine flows directly to wheels.</a:t>
            </a:r>
          </a:p>
          <a:p>
            <a:pPr>
              <a:defRPr sz="2000"/>
            </a:pPr>
            <a:r>
              <a:rPr sz="2800" dirty="0"/>
              <a:t>Motor can add torque or absorb energy during braking.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Torque Equation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183640"/>
          </a:xfrm>
        </p:spPr>
        <p:txBody>
          <a:bodyPr>
            <a:noAutofit/>
          </a:bodyPr>
          <a:lstStyle/>
          <a:p>
            <a:pPr>
              <a:defRPr sz="2000"/>
            </a:pPr>
            <a:r>
              <a:rPr sz="2800" dirty="0"/>
              <a:t>Total torque at wheels is sum of engine torque and motor torque.</a:t>
            </a:r>
          </a:p>
          <a:p>
            <a:pPr>
              <a:defRPr sz="2000"/>
            </a:pPr>
            <a:r>
              <a:rPr sz="2800" dirty="0" err="1"/>
              <a:t>T_total</a:t>
            </a:r>
            <a:r>
              <a:rPr sz="2800" dirty="0"/>
              <a:t> = </a:t>
            </a:r>
            <a:r>
              <a:rPr sz="2800" dirty="0" err="1"/>
              <a:t>T_engine</a:t>
            </a:r>
            <a:r>
              <a:rPr sz="2800" dirty="0"/>
              <a:t> + </a:t>
            </a:r>
            <a:r>
              <a:rPr sz="2800" dirty="0" err="1"/>
              <a:t>T_motor</a:t>
            </a:r>
            <a:r>
              <a:rPr sz="2800" dirty="0"/>
              <a:t>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64160" y="3618932"/>
            <a:ext cx="8229600" cy="2373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3200"/>
            </a:pPr>
            <a:r>
              <a:rPr lang="en-IN" sz="12800" dirty="0" smtClean="0"/>
              <a:t>Power Equation</a:t>
            </a:r>
            <a:endParaRPr lang="en-IN" sz="128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52400" y="4023828"/>
            <a:ext cx="8229600" cy="939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/>
            </a:pPr>
            <a:r>
              <a:rPr lang="en-US" sz="2800" dirty="0" smtClean="0">
                <a:latin typeface="+mj-lt"/>
              </a:rPr>
              <a:t>Total power delivered to wheels:</a:t>
            </a:r>
          </a:p>
          <a:p>
            <a:pPr>
              <a:defRPr sz="2000"/>
            </a:pPr>
            <a:r>
              <a:rPr lang="en-US" sz="2800" dirty="0" err="1" smtClean="0">
                <a:latin typeface="+mj-lt"/>
              </a:rPr>
              <a:t>P_total</a:t>
            </a:r>
            <a:r>
              <a:rPr lang="en-US" sz="2800" dirty="0" smtClean="0">
                <a:latin typeface="+mj-lt"/>
              </a:rPr>
              <a:t> = </a:t>
            </a:r>
            <a:r>
              <a:rPr lang="en-US" sz="2800" dirty="0" err="1" smtClean="0">
                <a:latin typeface="+mj-lt"/>
              </a:rPr>
              <a:t>P_engine</a:t>
            </a:r>
            <a:r>
              <a:rPr lang="en-US" sz="2800" dirty="0" smtClean="0">
                <a:latin typeface="+mj-lt"/>
              </a:rPr>
              <a:t> + </a:t>
            </a:r>
            <a:r>
              <a:rPr lang="en-US" sz="2800" dirty="0" err="1" smtClean="0">
                <a:latin typeface="+mj-lt"/>
              </a:rPr>
              <a:t>P_motor</a:t>
            </a:r>
            <a:r>
              <a:rPr lang="en-US" sz="2800" dirty="0" smtClean="0">
                <a:latin typeface="+mj-lt"/>
              </a:rPr>
              <a:t>.</a:t>
            </a:r>
            <a:endParaRPr lang="en-US" sz="28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Energy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336040"/>
          </a:xfrm>
        </p:spPr>
        <p:txBody>
          <a:bodyPr>
            <a:noAutofit/>
          </a:bodyPr>
          <a:lstStyle/>
          <a:p>
            <a:pPr>
              <a:defRPr sz="2000"/>
            </a:pPr>
            <a:r>
              <a:rPr sz="2800" dirty="0"/>
              <a:t>Fuel energy is converted to mechanical energy by engine.</a:t>
            </a:r>
          </a:p>
          <a:p>
            <a:pPr>
              <a:defRPr sz="2000"/>
            </a:pPr>
            <a:r>
              <a:rPr sz="2800" dirty="0"/>
              <a:t>Battery energy is converted to mechanical energy by motor.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3207861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3200"/>
            </a:pPr>
            <a:r>
              <a:rPr lang="en-IN" sz="3200" dirty="0" smtClean="0"/>
              <a:t>Acceleration Mode</a:t>
            </a:r>
            <a:endParaRPr lang="en-IN" sz="32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19760" y="4622481"/>
            <a:ext cx="8229600" cy="13766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/>
            </a:pPr>
            <a:r>
              <a:rPr lang="en-US" sz="2800" dirty="0" smtClean="0"/>
              <a:t>During acceleration both engine and motor provide torque.</a:t>
            </a:r>
          </a:p>
          <a:p>
            <a:pPr>
              <a:defRPr sz="2000"/>
            </a:pPr>
            <a:r>
              <a:rPr lang="en-US" sz="2800" dirty="0" smtClean="0"/>
              <a:t>This improves vehicle performance.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Cruise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275080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sz="2800" dirty="0"/>
              <a:t>At steady speed engine alone may provide power.</a:t>
            </a:r>
          </a:p>
          <a:p>
            <a:pPr>
              <a:defRPr sz="2000"/>
            </a:pPr>
            <a:r>
              <a:rPr sz="2800" dirty="0"/>
              <a:t>Motor may remain idle or charge battery.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75920" y="3038158"/>
            <a:ext cx="8229600" cy="6194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3200"/>
            </a:pPr>
            <a:r>
              <a:rPr lang="en-IN" sz="3200" smtClean="0"/>
              <a:t>Electric Mode</a:t>
            </a:r>
            <a:endParaRPr lang="en-IN" sz="32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3924142"/>
            <a:ext cx="8229600" cy="104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/>
            </a:pPr>
            <a:r>
              <a:rPr lang="en-US" sz="2800" dirty="0" smtClean="0"/>
              <a:t>At low speed motor alone may drive the vehicle.</a:t>
            </a:r>
          </a:p>
          <a:p>
            <a:pPr>
              <a:defRPr sz="2000"/>
            </a:pPr>
            <a:r>
              <a:rPr lang="en-US" sz="2800" dirty="0" smtClean="0"/>
              <a:t>This reduces fuel consumption.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Regenerative Braking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514159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sz="2800" dirty="0"/>
              <a:t>Motor acts as generator during braking.</a:t>
            </a:r>
          </a:p>
          <a:p>
            <a:pPr>
              <a:defRPr sz="2000"/>
            </a:pPr>
            <a:r>
              <a:rPr sz="2800" dirty="0"/>
              <a:t>Kinetic energy is converted into electrical energy.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4475481"/>
            <a:ext cx="8229600" cy="1203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/>
            </a:pPr>
            <a:r>
              <a:rPr lang="en-US" sz="2800" dirty="0" smtClean="0"/>
              <a:t>Vehicle kinetic </a:t>
            </a:r>
            <a:r>
              <a:rPr lang="en-US" sz="2800" dirty="0"/>
              <a:t>energy : E = 1/2 m v².</a:t>
            </a:r>
          </a:p>
          <a:p>
            <a:pPr>
              <a:defRPr sz="2000"/>
            </a:pPr>
            <a:endParaRPr lang="en-US" sz="2800" dirty="0" smtClean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23520" y="311435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3200"/>
            </a:pPr>
            <a:r>
              <a:rPr lang="en-IN" sz="3200" smtClean="0"/>
              <a:t>Energy Equation for Regeneration</a:t>
            </a:r>
            <a:endParaRPr lang="en-IN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Battery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031240"/>
          </a:xfrm>
        </p:spPr>
        <p:txBody>
          <a:bodyPr>
            <a:noAutofit/>
          </a:bodyPr>
          <a:lstStyle/>
          <a:p>
            <a:pPr>
              <a:defRPr sz="2000"/>
            </a:pPr>
            <a:r>
              <a:rPr sz="2800" dirty="0"/>
              <a:t>Battery stores recovered energy from regenerative braking.</a:t>
            </a:r>
          </a:p>
          <a:p>
            <a:pPr>
              <a:defRPr sz="2000"/>
            </a:pPr>
            <a:r>
              <a:rPr sz="2800" dirty="0"/>
              <a:t>It supplies energy to motor during electric drive mode.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3581559"/>
            <a:ext cx="8229600" cy="6194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3200"/>
            </a:pPr>
            <a:r>
              <a:rPr lang="en-IN" sz="3200" smtClean="0"/>
              <a:t>SOC Concept</a:t>
            </a:r>
            <a:endParaRPr lang="en-IN" sz="32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4521042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/>
            </a:pPr>
            <a:r>
              <a:rPr lang="en-US" sz="2800" dirty="0" smtClean="0"/>
              <a:t>State of Charge represents remaining battery capacity.</a:t>
            </a:r>
          </a:p>
          <a:p>
            <a:pPr>
              <a:defRPr sz="2000"/>
            </a:pPr>
            <a:r>
              <a:rPr lang="en-US" sz="2800" dirty="0" smtClean="0"/>
              <a:t>Control system maintains SOC within safe limits.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Motor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214279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sz="2800" dirty="0"/>
              <a:t>Motor provides high torque at low speed.</a:t>
            </a:r>
          </a:p>
          <a:p>
            <a:pPr>
              <a:defRPr sz="2000"/>
            </a:pPr>
            <a:r>
              <a:rPr sz="2800" dirty="0"/>
              <a:t>This is useful during vehicle start.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538480" y="2814479"/>
            <a:ext cx="8229600" cy="6092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3200"/>
            </a:pPr>
            <a:r>
              <a:rPr lang="en-IN" sz="3200" smtClean="0"/>
              <a:t>Engine Characteristics</a:t>
            </a:r>
            <a:endParaRPr lang="en-IN" sz="32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38480" y="3652838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/>
            </a:pPr>
            <a:r>
              <a:rPr lang="en-US" sz="2800" dirty="0" smtClean="0"/>
              <a:t>Engines are efficient at moderate to high loads.</a:t>
            </a:r>
          </a:p>
          <a:p>
            <a:pPr>
              <a:defRPr sz="2000"/>
            </a:pPr>
            <a:r>
              <a:rPr lang="en-US" sz="2800" dirty="0" smtClean="0"/>
              <a:t>Parallel hybrid allows engine to operate efficiently.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600" y="507999"/>
            <a:ext cx="8229600" cy="680402"/>
          </a:xfrm>
        </p:spPr>
        <p:txBody>
          <a:bodyPr/>
          <a:lstStyle/>
          <a:p>
            <a:pPr>
              <a:defRPr sz="3200"/>
            </a:pPr>
            <a:r>
              <a:rPr dirty="0"/>
              <a:t>Engine and Motor Cooperation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96684"/>
            <a:ext cx="8229600" cy="1071880"/>
          </a:xfrm>
        </p:spPr>
        <p:txBody>
          <a:bodyPr>
            <a:noAutofit/>
          </a:bodyPr>
          <a:lstStyle/>
          <a:p>
            <a:pPr>
              <a:defRPr sz="2000"/>
            </a:pPr>
            <a:r>
              <a:rPr sz="2800" dirty="0"/>
              <a:t>Motor assists engine when high power demand occurs.</a:t>
            </a:r>
          </a:p>
          <a:p>
            <a:pPr>
              <a:defRPr sz="2000"/>
            </a:pPr>
            <a:r>
              <a:rPr sz="2800" dirty="0"/>
              <a:t>Engine supplies base power.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1440" y="2920685"/>
            <a:ext cx="8229600" cy="6092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3200"/>
            </a:pPr>
            <a:r>
              <a:rPr lang="en-IN" sz="3200" dirty="0" smtClean="0"/>
              <a:t>Driver Demand Analysis</a:t>
            </a:r>
            <a:endParaRPr lang="en-IN" sz="32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21360" y="3758252"/>
            <a:ext cx="8229600" cy="11125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/>
            </a:pPr>
            <a:r>
              <a:rPr lang="en-IN" sz="2800" dirty="0" smtClean="0"/>
              <a:t>Acceleration request determines torque requirement.</a:t>
            </a:r>
          </a:p>
          <a:p>
            <a:pPr>
              <a:defRPr sz="2000"/>
            </a:pPr>
            <a:r>
              <a:rPr lang="en-IN" sz="2800" dirty="0" smtClean="0"/>
              <a:t>Controller decides motor assist level.</a:t>
            </a:r>
            <a:endParaRPr lang="en-IN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Motor Torque-Speed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800" dirty="0"/>
              <a:t>Electric motors deliver high torque at low speeds.</a:t>
            </a:r>
          </a:p>
          <a:p>
            <a:pPr>
              <a:defRPr sz="2000"/>
            </a:pPr>
            <a:r>
              <a:rPr sz="2800" dirty="0"/>
              <a:t>Torque decreases as speed increases due to voltage limits.</a:t>
            </a:r>
          </a:p>
          <a:p>
            <a:pPr>
              <a:defRPr sz="2000"/>
            </a:pPr>
            <a:r>
              <a:rPr sz="2800" dirty="0"/>
              <a:t>This characteristic allows motors to assist during vehicle start and acceleration.</a:t>
            </a:r>
          </a:p>
          <a:p>
            <a:pPr>
              <a:defRPr sz="2000"/>
            </a:pPr>
            <a:r>
              <a:rPr sz="2800" dirty="0"/>
              <a:t>Torque-speed map helps in selecting motor size for hybrid systems.</a:t>
            </a:r>
          </a:p>
        </p:txBody>
      </p:sp>
    </p:spTree>
    <p:extLst>
      <p:ext uri="{BB962C8B-B14F-4D97-AF65-F5344CB8AC3E}">
        <p14:creationId xmlns:p14="http://schemas.microsoft.com/office/powerpoint/2010/main" val="2157034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3200"/>
            </a:pPr>
            <a:r>
              <a:rPr sz="3200" dirty="0"/>
              <a:t>Engine Torque-Speed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800" dirty="0"/>
              <a:t>Internal combustion engines produce maximum torque in mid RPM range.</a:t>
            </a:r>
          </a:p>
          <a:p>
            <a:pPr>
              <a:defRPr sz="2000"/>
            </a:pPr>
            <a:r>
              <a:rPr sz="2800" dirty="0"/>
              <a:t>Torque decreases at very high RPM due to breathing limitations.</a:t>
            </a:r>
          </a:p>
          <a:p>
            <a:pPr>
              <a:defRPr sz="2000"/>
            </a:pPr>
            <a:r>
              <a:rPr sz="2800" dirty="0"/>
              <a:t>Hybrid control system combines engine torque curve with motor torque curve.</a:t>
            </a:r>
          </a:p>
          <a:p>
            <a:pPr>
              <a:defRPr sz="2000"/>
            </a:pPr>
            <a:r>
              <a:rPr sz="2800" dirty="0"/>
              <a:t>This provides a wider effective torque-speed operating region.</a:t>
            </a:r>
          </a:p>
        </p:txBody>
      </p:sp>
    </p:spTree>
    <p:extLst>
      <p:ext uri="{BB962C8B-B14F-4D97-AF65-F5344CB8AC3E}">
        <p14:creationId xmlns:p14="http://schemas.microsoft.com/office/powerpoint/2010/main" val="1501020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Flow – Electric Mode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rPr sz="2000" dirty="0"/>
              <a:t>Battery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1899920" y="273304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rPr sz="2000"/>
              <a:t>Inverter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799840" y="273304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rPr sz="2000" dirty="0"/>
              <a:t>Motor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99760" y="27432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rPr sz="2000"/>
              <a:t>Transmission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599680" y="2733040"/>
            <a:ext cx="154432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rPr sz="2000"/>
              <a:t>Wheels</a:t>
            </a:r>
          </a:p>
        </p:txBody>
      </p:sp>
    </p:spTree>
    <p:extLst>
      <p:ext uri="{BB962C8B-B14F-4D97-AF65-F5344CB8AC3E}">
        <p14:creationId xmlns:p14="http://schemas.microsoft.com/office/powerpoint/2010/main" val="2984316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Flow – Engine Mode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7432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rPr sz="2000"/>
              <a:t>Fuel Tank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0320" y="27432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rPr sz="2000"/>
              <a:t>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27432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rPr sz="2000"/>
              <a:t>Transmission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0" y="27432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rPr sz="2000"/>
              <a:t>Wheels</a:t>
            </a:r>
          </a:p>
        </p:txBody>
      </p:sp>
    </p:spTree>
    <p:extLst>
      <p:ext uri="{BB962C8B-B14F-4D97-AF65-F5344CB8AC3E}">
        <p14:creationId xmlns:p14="http://schemas.microsoft.com/office/powerpoint/2010/main" val="1566855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Flow – Hybrid Assist Mode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2441099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rPr sz="2000"/>
              <a:t>Fuel</a:t>
            </a:r>
          </a:p>
        </p:txBody>
      </p:sp>
      <p:sp>
        <p:nvSpPr>
          <p:cNvPr id="4" name="Rectangle 3"/>
          <p:cNvSpPr/>
          <p:nvPr/>
        </p:nvSpPr>
        <p:spPr>
          <a:xfrm>
            <a:off x="3728720" y="2446179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rPr sz="2000"/>
              <a:t>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4960" y="3631882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rPr sz="2000"/>
              <a:t>Transmission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3631882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rPr sz="2000"/>
              <a:t>Wheels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600" y="483616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rPr sz="2000" dirty="0"/>
              <a:t>Battery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2001520" y="48260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rPr sz="2000"/>
              <a:t>Inverter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901440" y="48260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rPr sz="2000"/>
              <a:t>Motor</a:t>
            </a:r>
          </a:p>
        </p:txBody>
      </p:sp>
    </p:spTree>
    <p:extLst>
      <p:ext uri="{BB962C8B-B14F-4D97-AF65-F5344CB8AC3E}">
        <p14:creationId xmlns:p14="http://schemas.microsoft.com/office/powerpoint/2010/main" val="2496286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Energy Flow During Regenerative Braking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7432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Wheels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0320" y="27432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Motor (Generator)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27432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Inverter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0" y="27432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Battery</a:t>
            </a:r>
          </a:p>
        </p:txBody>
      </p:sp>
    </p:spTree>
    <p:extLst>
      <p:ext uri="{BB962C8B-B14F-4D97-AF65-F5344CB8AC3E}">
        <p14:creationId xmlns:p14="http://schemas.microsoft.com/office/powerpoint/2010/main" val="3558022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How Parallel Hybrid Decides Engine vs Motor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800" dirty="0"/>
              <a:t>Hybrid Control Unit (HCU) monitors driver power demand, vehicle speed, battery SOC, and engine efficiency region.</a:t>
            </a:r>
          </a:p>
          <a:p>
            <a:pPr>
              <a:defRPr sz="2000"/>
            </a:pPr>
            <a:r>
              <a:rPr sz="2800" dirty="0"/>
              <a:t>If power demand is small and battery SOC is sufficient, motor-only operation is selected.</a:t>
            </a:r>
          </a:p>
          <a:p>
            <a:pPr>
              <a:defRPr sz="2000"/>
            </a:pPr>
            <a:r>
              <a:rPr sz="2800" dirty="0"/>
              <a:t>If vehicle speed is high or battery SOC is low, engine operation is selected.</a:t>
            </a:r>
          </a:p>
          <a:p>
            <a:pPr>
              <a:defRPr sz="2000"/>
            </a:pPr>
            <a:r>
              <a:rPr sz="2800" dirty="0"/>
              <a:t>For high torque demand (acceleration), both motor and engine operate together.</a:t>
            </a:r>
          </a:p>
        </p:txBody>
      </p:sp>
    </p:spTree>
    <p:extLst>
      <p:ext uri="{BB962C8B-B14F-4D97-AF65-F5344CB8AC3E}">
        <p14:creationId xmlns:p14="http://schemas.microsoft.com/office/powerpoint/2010/main" val="3767258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Typical Mode Selection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800" dirty="0"/>
              <a:t>Low speed + light load → Motor drive (electric mode).</a:t>
            </a:r>
          </a:p>
          <a:p>
            <a:pPr>
              <a:defRPr sz="2000"/>
            </a:pPr>
            <a:r>
              <a:rPr sz="2800" dirty="0"/>
              <a:t>Medium speed + moderate load → Engine dominant mode.</a:t>
            </a:r>
          </a:p>
          <a:p>
            <a:pPr>
              <a:defRPr sz="2000"/>
            </a:pPr>
            <a:r>
              <a:rPr sz="2800" dirty="0"/>
              <a:t>High acceleration demand → Hybrid assist mode (engine + motor).</a:t>
            </a:r>
          </a:p>
          <a:p>
            <a:pPr>
              <a:defRPr sz="2000"/>
            </a:pPr>
            <a:r>
              <a:rPr sz="2800" dirty="0"/>
              <a:t>Braking → Regenerative braking mode where motor acts as generator.</a:t>
            </a:r>
          </a:p>
        </p:txBody>
      </p:sp>
    </p:spTree>
    <p:extLst>
      <p:ext uri="{BB962C8B-B14F-4D97-AF65-F5344CB8AC3E}">
        <p14:creationId xmlns:p14="http://schemas.microsoft.com/office/powerpoint/2010/main" val="1795043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Parallel Hybrid Mode Decision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3184635" y="1278869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r>
              <a:rPr dirty="0"/>
              <a:t>Driver Power Demand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3184635" y="2560638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r>
              <a:t>Check Battery SOC</a:t>
            </a:r>
          </a:p>
        </p:txBody>
      </p:sp>
      <p:sp>
        <p:nvSpPr>
          <p:cNvPr id="5" name="Rectangle 4"/>
          <p:cNvSpPr/>
          <p:nvPr/>
        </p:nvSpPr>
        <p:spPr>
          <a:xfrm>
            <a:off x="532875" y="3745679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r>
              <a:t>Low Power?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532875" y="4951741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r>
              <a:t>Motor Mode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3184635" y="3756189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r>
              <a:t>High Power?</a:t>
            </a:r>
          </a:p>
        </p:txBody>
      </p:sp>
      <p:sp>
        <p:nvSpPr>
          <p:cNvPr id="8" name="Rectangle 7"/>
          <p:cNvSpPr/>
          <p:nvPr/>
        </p:nvSpPr>
        <p:spPr>
          <a:xfrm>
            <a:off x="3184635" y="4951741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r>
              <a:t>Hybrid Assist</a:t>
            </a:r>
          </a:p>
        </p:txBody>
      </p:sp>
      <p:sp>
        <p:nvSpPr>
          <p:cNvPr id="9" name="Rectangle 8"/>
          <p:cNvSpPr/>
          <p:nvPr/>
        </p:nvSpPr>
        <p:spPr>
          <a:xfrm>
            <a:off x="6002458" y="3745679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r>
              <a:t>Cruise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02458" y="4962251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r>
              <a:t>Engine Mode</a:t>
            </a:r>
          </a:p>
        </p:txBody>
      </p:sp>
    </p:spTree>
    <p:extLst>
      <p:ext uri="{BB962C8B-B14F-4D97-AF65-F5344CB8AC3E}">
        <p14:creationId xmlns:p14="http://schemas.microsoft.com/office/powerpoint/2010/main" val="659374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Torque Combination in Parallel Hybrid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800" dirty="0"/>
              <a:t>In a parallel hybrid both the engine and motor deliver torque to the same drivetrain.</a:t>
            </a:r>
          </a:p>
          <a:p>
            <a:pPr>
              <a:defRPr sz="2000"/>
            </a:pPr>
            <a:r>
              <a:rPr sz="2800" dirty="0"/>
              <a:t>The gearbox combines torque from both sources before it reaches the wheels.</a:t>
            </a:r>
          </a:p>
          <a:p>
            <a:pPr>
              <a:defRPr sz="2000"/>
            </a:pPr>
            <a:r>
              <a:rPr sz="2800" dirty="0"/>
              <a:t>Total torque delivered to wheels is:  </a:t>
            </a:r>
            <a:r>
              <a:rPr sz="2800" dirty="0" err="1"/>
              <a:t>T_total</a:t>
            </a:r>
            <a:r>
              <a:rPr sz="2800" dirty="0"/>
              <a:t> = </a:t>
            </a:r>
            <a:r>
              <a:rPr sz="2800" dirty="0" err="1"/>
              <a:t>T_engine</a:t>
            </a:r>
            <a:r>
              <a:rPr sz="2800" dirty="0"/>
              <a:t> + </a:t>
            </a:r>
            <a:r>
              <a:rPr sz="2800" dirty="0" err="1"/>
              <a:t>T_motor</a:t>
            </a:r>
            <a:r>
              <a:rPr sz="2800" dirty="0"/>
              <a:t>.</a:t>
            </a:r>
          </a:p>
          <a:p>
            <a:pPr>
              <a:defRPr sz="2000"/>
            </a:pPr>
            <a:r>
              <a:rPr sz="2800" dirty="0"/>
              <a:t>This allows the vehicle to achieve higher acceleration compared to a conventional engine vehicle.</a:t>
            </a:r>
          </a:p>
        </p:txBody>
      </p:sp>
    </p:spTree>
    <p:extLst>
      <p:ext uri="{BB962C8B-B14F-4D97-AF65-F5344CB8AC3E}">
        <p14:creationId xmlns:p14="http://schemas.microsoft.com/office/powerpoint/2010/main" val="4204632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Complete Parallel Hybrid Drivetrain (Torque Flow)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767841"/>
            <a:ext cx="2306320" cy="151145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rPr sz="2000" dirty="0"/>
              <a:t>Fuel Tank → Internal Combustion Engine</a:t>
            </a:r>
          </a:p>
          <a:p>
            <a:r>
              <a:rPr sz="2000" dirty="0"/>
              <a:t>Produces Engine Torque (</a:t>
            </a:r>
            <a:r>
              <a:rPr sz="2000" dirty="0" err="1"/>
              <a:t>T_engine</a:t>
            </a:r>
            <a:r>
              <a:rPr sz="2000" dirty="0"/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612640"/>
            <a:ext cx="2306320" cy="1341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rPr sz="2000" dirty="0"/>
              <a:t>Electric Motor</a:t>
            </a:r>
          </a:p>
          <a:p>
            <a:r>
              <a:rPr sz="2000" dirty="0"/>
              <a:t>Produces Motor Torque (</a:t>
            </a:r>
            <a:r>
              <a:rPr sz="2000" dirty="0" err="1"/>
              <a:t>T_motor</a:t>
            </a:r>
            <a:r>
              <a:rPr sz="2000" dirty="0"/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2306320" y="3545839"/>
            <a:ext cx="201168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rPr sz="2000" dirty="0"/>
              <a:t>Transmission / Gearbox</a:t>
            </a:r>
          </a:p>
          <a:p>
            <a:r>
              <a:rPr sz="2000" dirty="0"/>
              <a:t>Combines Torque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4429760" y="3566160"/>
            <a:ext cx="201168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rPr sz="2000" dirty="0"/>
              <a:t>Differential</a:t>
            </a:r>
          </a:p>
          <a:p>
            <a:r>
              <a:rPr sz="2000" dirty="0"/>
              <a:t>Distributes Torque to Wheels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53200" y="3159760"/>
            <a:ext cx="2438400" cy="1747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rPr sz="2000" dirty="0"/>
              <a:t>Drive Wheels</a:t>
            </a:r>
          </a:p>
          <a:p>
            <a:r>
              <a:rPr sz="2000" dirty="0"/>
              <a:t>Receive Total Torque</a:t>
            </a:r>
          </a:p>
          <a:p>
            <a:r>
              <a:rPr sz="2000" dirty="0" err="1"/>
              <a:t>T_total</a:t>
            </a:r>
            <a:r>
              <a:rPr sz="2000" dirty="0"/>
              <a:t> = </a:t>
            </a:r>
            <a:r>
              <a:rPr sz="2000" dirty="0" err="1"/>
              <a:t>T_engine</a:t>
            </a:r>
            <a:r>
              <a:rPr sz="2000" dirty="0"/>
              <a:t> + </a:t>
            </a:r>
            <a:r>
              <a:rPr sz="2000" dirty="0" err="1"/>
              <a:t>T_motor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2151172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Combined Power-Speed Operating Map (Engine + Motor)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800" dirty="0"/>
              <a:t>Electric motors provide high torque at low speed and gradually reduce torque at higher speed.</a:t>
            </a:r>
          </a:p>
          <a:p>
            <a:pPr>
              <a:defRPr sz="2000"/>
            </a:pPr>
            <a:r>
              <a:rPr sz="2800" dirty="0"/>
              <a:t>Internal combustion engines produce peak torque at medium RPM ranges.</a:t>
            </a:r>
          </a:p>
          <a:p>
            <a:pPr>
              <a:defRPr sz="2000"/>
            </a:pPr>
            <a:r>
              <a:rPr sz="2800" dirty="0"/>
              <a:t>When both systems are combined, the hybrid drivetrain provides a wide torque-speed operating region.</a:t>
            </a:r>
          </a:p>
          <a:p>
            <a:pPr>
              <a:defRPr sz="2000"/>
            </a:pPr>
            <a:r>
              <a:rPr sz="2800" dirty="0"/>
              <a:t>Motor supports the engine at low speeds while the engine dominates at higher speeds.</a:t>
            </a:r>
          </a:p>
        </p:txBody>
      </p:sp>
    </p:spTree>
    <p:extLst>
      <p:ext uri="{BB962C8B-B14F-4D97-AF65-F5344CB8AC3E}">
        <p14:creationId xmlns:p14="http://schemas.microsoft.com/office/powerpoint/2010/main" val="3978876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Power-Speed Operating Regions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656840"/>
            <a:ext cx="2164080" cy="14122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rPr sz="2000" dirty="0"/>
              <a:t>Low Speed Region</a:t>
            </a:r>
          </a:p>
          <a:p>
            <a:r>
              <a:rPr sz="2000" dirty="0"/>
              <a:t>Motor Dominant Operation</a:t>
            </a:r>
          </a:p>
          <a:p>
            <a:r>
              <a:rPr sz="2000" dirty="0"/>
              <a:t>High Starting Torque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3408680" y="2641600"/>
            <a:ext cx="2011680" cy="14122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rPr sz="2000" dirty="0"/>
              <a:t>Medium Speed Region</a:t>
            </a:r>
          </a:p>
          <a:p>
            <a:r>
              <a:rPr sz="2000" dirty="0"/>
              <a:t>Engine + Motor Hybrid Assist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75680" y="2641600"/>
            <a:ext cx="2387600" cy="14122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rPr sz="2000" dirty="0"/>
              <a:t>High Speed Region</a:t>
            </a:r>
          </a:p>
          <a:p>
            <a:r>
              <a:rPr sz="2000" dirty="0"/>
              <a:t>Engine Dominant Operation</a:t>
            </a:r>
          </a:p>
          <a:p>
            <a:r>
              <a:rPr sz="2000" dirty="0"/>
              <a:t>Motor Minimal Assist</a:t>
            </a:r>
          </a:p>
        </p:txBody>
      </p:sp>
    </p:spTree>
    <p:extLst>
      <p:ext uri="{BB962C8B-B14F-4D97-AF65-F5344CB8AC3E}">
        <p14:creationId xmlns:p14="http://schemas.microsoft.com/office/powerpoint/2010/main" val="2659746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Hybrid Controller Mode Switching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800" dirty="0"/>
              <a:t>The Hybrid Control Unit (HCU) decides operating mode based on vehicle conditions.</a:t>
            </a:r>
          </a:p>
          <a:p>
            <a:pPr>
              <a:defRPr sz="2000"/>
            </a:pPr>
            <a:r>
              <a:rPr sz="2800" dirty="0"/>
              <a:t>Inputs include vehicle speed, driver power demand, battery state of charge (SOC), and engine efficiency region.</a:t>
            </a:r>
          </a:p>
          <a:p>
            <a:pPr>
              <a:defRPr sz="2000"/>
            </a:pPr>
            <a:r>
              <a:rPr sz="2800" dirty="0"/>
              <a:t>Controller continuously evaluates these parameters and switches operating modes.</a:t>
            </a:r>
          </a:p>
          <a:p>
            <a:pPr>
              <a:defRPr sz="2000"/>
            </a:pPr>
            <a:r>
              <a:rPr sz="2800" dirty="0"/>
              <a:t>Goal: maximize efficiency while maintaining performance.</a:t>
            </a:r>
          </a:p>
        </p:txBody>
      </p:sp>
    </p:spTree>
    <p:extLst>
      <p:ext uri="{BB962C8B-B14F-4D97-AF65-F5344CB8AC3E}">
        <p14:creationId xmlns:p14="http://schemas.microsoft.com/office/powerpoint/2010/main" val="892694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Real Hybrid Mode Switching Logic</a:t>
            </a:r>
          </a:p>
        </p:txBody>
      </p:sp>
      <p:sp>
        <p:nvSpPr>
          <p:cNvPr id="3" name="Rectangle 2"/>
          <p:cNvSpPr/>
          <p:nvPr/>
        </p:nvSpPr>
        <p:spPr>
          <a:xfrm>
            <a:off x="2865120" y="1417638"/>
            <a:ext cx="201168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rPr sz="2000" dirty="0"/>
              <a:t>Driver Power Demand Detected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2865120" y="2753360"/>
            <a:ext cx="201168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rPr sz="2000" dirty="0"/>
              <a:t>Check Battery State of Charge (SOC)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954303"/>
            <a:ext cx="2011680" cy="152939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rPr sz="2000" dirty="0"/>
              <a:t>Low Power Demand → Electric Motor Mode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2865120" y="3949541"/>
            <a:ext cx="2011680" cy="152939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rPr sz="2000" dirty="0"/>
              <a:t>High Power Demand → Hybrid Assist Mode (Engine + Motor)</a:t>
            </a:r>
          </a:p>
        </p:txBody>
      </p:sp>
      <p:sp>
        <p:nvSpPr>
          <p:cNvPr id="7" name="Rectangle 6"/>
          <p:cNvSpPr/>
          <p:nvPr/>
        </p:nvSpPr>
        <p:spPr>
          <a:xfrm>
            <a:off x="5273040" y="3954303"/>
            <a:ext cx="2011680" cy="152463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rPr sz="2000" dirty="0"/>
              <a:t>Steady Highway Speed → Engine Dominant Mode</a:t>
            </a:r>
          </a:p>
        </p:txBody>
      </p:sp>
    </p:spTree>
    <p:extLst>
      <p:ext uri="{BB962C8B-B14F-4D97-AF65-F5344CB8AC3E}">
        <p14:creationId xmlns:p14="http://schemas.microsoft.com/office/powerpoint/2010/main" val="763040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Gears in Parallel Hybrid Drivetrain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800" dirty="0"/>
              <a:t>Gears are used in parallel hybrids to combine torque from both the engine and electric motor.</a:t>
            </a:r>
          </a:p>
          <a:p>
            <a:pPr>
              <a:defRPr sz="2000"/>
            </a:pPr>
            <a:r>
              <a:rPr sz="2800" dirty="0"/>
              <a:t>The gearbox allows both power sources to transmit torque to the wheels through a common drivetrain.</a:t>
            </a:r>
          </a:p>
          <a:p>
            <a:pPr>
              <a:defRPr sz="2000"/>
            </a:pPr>
            <a:r>
              <a:rPr sz="2800" dirty="0"/>
              <a:t>This mechanical combination enables </a:t>
            </a:r>
            <a:r>
              <a:rPr sz="2800" dirty="0" err="1"/>
              <a:t>T_total</a:t>
            </a:r>
            <a:r>
              <a:rPr sz="2800" dirty="0"/>
              <a:t> = </a:t>
            </a:r>
            <a:r>
              <a:rPr sz="2800" dirty="0" err="1"/>
              <a:t>T_engine</a:t>
            </a:r>
            <a:r>
              <a:rPr sz="2800" dirty="0"/>
              <a:t> + </a:t>
            </a:r>
            <a:r>
              <a:rPr sz="2800" dirty="0" err="1"/>
              <a:t>T_motor</a:t>
            </a:r>
            <a:r>
              <a:rPr sz="2800" dirty="0"/>
              <a:t>.</a:t>
            </a:r>
          </a:p>
          <a:p>
            <a:pPr>
              <a:defRPr sz="2000"/>
            </a:pPr>
            <a:r>
              <a:rPr sz="2800" dirty="0"/>
              <a:t>Gears also allow proper speed matching between engine RPM, motor speed, and wheel speed.</a:t>
            </a:r>
          </a:p>
        </p:txBody>
      </p:sp>
    </p:spTree>
    <p:extLst>
      <p:ext uri="{BB962C8B-B14F-4D97-AF65-F5344CB8AC3E}">
        <p14:creationId xmlns:p14="http://schemas.microsoft.com/office/powerpoint/2010/main" val="560985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Typical Gear Arrangement in Parallel Hybrid</a:t>
            </a:r>
          </a:p>
        </p:txBody>
      </p:sp>
      <p:sp>
        <p:nvSpPr>
          <p:cNvPr id="3" name="Rectangle 2"/>
          <p:cNvSpPr/>
          <p:nvPr/>
        </p:nvSpPr>
        <p:spPr>
          <a:xfrm>
            <a:off x="259080" y="1242219"/>
            <a:ext cx="2011680" cy="17373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 sz="2000" dirty="0"/>
              <a:t>Internal Combustion Engine</a:t>
            </a:r>
          </a:p>
          <a:p>
            <a:r>
              <a:rPr sz="2000" dirty="0"/>
              <a:t>Produces Engine Torque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254000" y="4013200"/>
            <a:ext cx="2011680" cy="12598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 sz="2000" dirty="0"/>
              <a:t>Electric Motor</a:t>
            </a:r>
          </a:p>
          <a:p>
            <a:r>
              <a:rPr sz="2000" dirty="0"/>
              <a:t>Produces Motor Torque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2423160" y="2804160"/>
            <a:ext cx="2174240" cy="12090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 sz="2000" dirty="0"/>
              <a:t>Clutch / Coupling Gear</a:t>
            </a:r>
          </a:p>
          <a:p>
            <a:r>
              <a:rPr sz="2000" dirty="0"/>
              <a:t>Allows Torque Combination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4400" y="2804160"/>
            <a:ext cx="2011680" cy="12090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 sz="2000" dirty="0"/>
              <a:t>Transmission Gearbox</a:t>
            </a:r>
          </a:p>
          <a:p>
            <a:r>
              <a:rPr sz="2000" dirty="0"/>
              <a:t>Speed &amp; Torque Adjustment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8480" y="2804160"/>
            <a:ext cx="2082800" cy="12090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 sz="2000" dirty="0"/>
              <a:t>Differential</a:t>
            </a:r>
          </a:p>
          <a:p>
            <a:r>
              <a:rPr sz="2000" dirty="0"/>
              <a:t>Transfers Torque to Wheels</a:t>
            </a:r>
          </a:p>
        </p:txBody>
      </p:sp>
    </p:spTree>
    <p:extLst>
      <p:ext uri="{BB962C8B-B14F-4D97-AF65-F5344CB8AC3E}">
        <p14:creationId xmlns:p14="http://schemas.microsoft.com/office/powerpoint/2010/main" val="2434337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Types of Gear Systems Used in Parallel Hybrids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800" dirty="0"/>
              <a:t>Parallel hybrid systems commonly use conventional automotive gearboxes.</a:t>
            </a:r>
          </a:p>
          <a:p>
            <a:pPr>
              <a:defRPr sz="2000"/>
            </a:pPr>
            <a:r>
              <a:rPr sz="2800" dirty="0"/>
              <a:t>Manual transmission, automated manual transmission, and dual clutch transmission can be used.</a:t>
            </a:r>
          </a:p>
          <a:p>
            <a:pPr>
              <a:defRPr sz="2000"/>
            </a:pPr>
            <a:r>
              <a:rPr sz="2800" dirty="0"/>
              <a:t>Planetary gear systems are sometimes used in more advanced hybrids.</a:t>
            </a:r>
          </a:p>
          <a:p>
            <a:pPr>
              <a:defRPr sz="2000"/>
            </a:pPr>
            <a:r>
              <a:rPr sz="2800" dirty="0"/>
              <a:t>Gear systems must withstand combined torque from engine and electric motor.</a:t>
            </a:r>
          </a:p>
        </p:txBody>
      </p:sp>
    </p:spTree>
    <p:extLst>
      <p:ext uri="{BB962C8B-B14F-4D97-AF65-F5344CB8AC3E}">
        <p14:creationId xmlns:p14="http://schemas.microsoft.com/office/powerpoint/2010/main" val="3295479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Torque Flow Through Hybrid Gear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800" dirty="0"/>
              <a:t>Engine torque enters the transmission through the crankshaft.</a:t>
            </a:r>
          </a:p>
          <a:p>
            <a:pPr>
              <a:defRPr sz="2000"/>
            </a:pPr>
            <a:r>
              <a:rPr sz="2800" dirty="0"/>
              <a:t>Motor torque is injected through the motor shaft or integrated starter generator.</a:t>
            </a:r>
          </a:p>
          <a:p>
            <a:pPr>
              <a:defRPr sz="2000"/>
            </a:pPr>
            <a:r>
              <a:rPr sz="2800" dirty="0"/>
              <a:t>The gearbox combines these torques before transmitting power to the differential.</a:t>
            </a:r>
          </a:p>
          <a:p>
            <a:pPr>
              <a:defRPr sz="2000"/>
            </a:pPr>
            <a:r>
              <a:rPr sz="2800" dirty="0"/>
              <a:t>The differential distributes torque between left and right drive wheels.</a:t>
            </a:r>
          </a:p>
        </p:txBody>
      </p:sp>
    </p:spTree>
    <p:extLst>
      <p:ext uri="{BB962C8B-B14F-4D97-AF65-F5344CB8AC3E}">
        <p14:creationId xmlns:p14="http://schemas.microsoft.com/office/powerpoint/2010/main" val="4056103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Gear Design Considerations in Parallel Hybrids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800" dirty="0"/>
              <a:t>Gears must handle higher combined torque loads compared to conventional vehicles.</a:t>
            </a:r>
          </a:p>
          <a:p>
            <a:pPr>
              <a:defRPr sz="2000"/>
            </a:pPr>
            <a:r>
              <a:rPr sz="2800" dirty="0"/>
              <a:t>Proper gear ratios are required to match engine and motor operating speeds.</a:t>
            </a:r>
          </a:p>
          <a:p>
            <a:pPr>
              <a:defRPr sz="2000"/>
            </a:pPr>
            <a:r>
              <a:rPr sz="2800" dirty="0"/>
              <a:t>Transmission efficiency directly affects hybrid system efficiency.</a:t>
            </a:r>
          </a:p>
          <a:p>
            <a:pPr>
              <a:defRPr sz="2000"/>
            </a:pPr>
            <a:r>
              <a:rPr sz="2800" dirty="0"/>
              <a:t>Robust clutch systems are required to smoothly engage engine and motor torque.</a:t>
            </a:r>
          </a:p>
        </p:txBody>
      </p:sp>
    </p:spTree>
    <p:extLst>
      <p:ext uri="{BB962C8B-B14F-4D97-AF65-F5344CB8AC3E}">
        <p14:creationId xmlns:p14="http://schemas.microsoft.com/office/powerpoint/2010/main" val="3535165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Planetary Gear Set in Hybrid Drivetrains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defRPr sz="2000"/>
            </a:pPr>
            <a:r>
              <a:rPr sz="2800" dirty="0"/>
              <a:t>A planetary gear set is a compact gear mechanism used to combine or split power between multiple sources.</a:t>
            </a:r>
          </a:p>
          <a:p>
            <a:pPr>
              <a:defRPr sz="2000"/>
            </a:pPr>
            <a:r>
              <a:rPr sz="2800" dirty="0"/>
              <a:t>It consists of three main elements: Sun gear, Planet gears with carrier, and Ring gear.</a:t>
            </a:r>
          </a:p>
          <a:p>
            <a:pPr>
              <a:defRPr sz="2000"/>
            </a:pPr>
            <a:r>
              <a:rPr sz="2800" dirty="0"/>
              <a:t>In hybrid vehicles these gears allow engine torque and motor torque to be transmitted through the same drivetrain.</a:t>
            </a:r>
          </a:p>
          <a:p>
            <a:pPr>
              <a:defRPr sz="2000"/>
            </a:pPr>
            <a:r>
              <a:rPr sz="2800" dirty="0"/>
              <a:t>They are widely used in advanced hybrid systems because they allow flexible power flow.</a:t>
            </a:r>
          </a:p>
        </p:txBody>
      </p:sp>
    </p:spTree>
    <p:extLst>
      <p:ext uri="{BB962C8B-B14F-4D97-AF65-F5344CB8AC3E}">
        <p14:creationId xmlns:p14="http://schemas.microsoft.com/office/powerpoint/2010/main" val="2730661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Planetary Gear Elements Used in Hybrid Systems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111760" y="1704499"/>
            <a:ext cx="267208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 sz="2000" dirty="0"/>
              <a:t>Sun Gear</a:t>
            </a:r>
          </a:p>
          <a:p>
            <a:r>
              <a:rPr sz="2000" dirty="0"/>
              <a:t>Connected to Motor or Generator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2184400" y="2743200"/>
            <a:ext cx="267208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 sz="2000" dirty="0"/>
              <a:t>Planet Gears + Carrier</a:t>
            </a:r>
          </a:p>
          <a:p>
            <a:r>
              <a:rPr sz="2000" dirty="0"/>
              <a:t>Transmit and Combine Torque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4064000" y="3781901"/>
            <a:ext cx="267208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 sz="2000" dirty="0"/>
              <a:t>Ring Gear</a:t>
            </a:r>
          </a:p>
          <a:p>
            <a:r>
              <a:rPr sz="2000" dirty="0"/>
              <a:t>Connected to Engine or Transmission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187440" y="4832507"/>
            <a:ext cx="267208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 sz="2000" dirty="0"/>
              <a:t>Output Shaft</a:t>
            </a:r>
          </a:p>
          <a:p>
            <a:r>
              <a:rPr sz="2000" dirty="0"/>
              <a:t>Power Delivered to Wheels</a:t>
            </a:r>
          </a:p>
        </p:txBody>
      </p:sp>
    </p:spTree>
    <p:extLst>
      <p:ext uri="{BB962C8B-B14F-4D97-AF65-F5344CB8AC3E}">
        <p14:creationId xmlns:p14="http://schemas.microsoft.com/office/powerpoint/2010/main" val="2084032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Role of Planetary Gears in Hybrid Power Transmission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800" dirty="0"/>
              <a:t>Planetary gears allow multiple power sources to be connected to the drivetrain simultaneously.</a:t>
            </a:r>
          </a:p>
          <a:p>
            <a:pPr>
              <a:defRPr sz="2000"/>
            </a:pPr>
            <a:r>
              <a:rPr sz="2800" dirty="0"/>
              <a:t>In many hybrids the engine connects to the ring gear while the motor connects to the sun gear.</a:t>
            </a:r>
          </a:p>
          <a:p>
            <a:pPr>
              <a:defRPr sz="2000"/>
            </a:pPr>
            <a:r>
              <a:rPr sz="2800" dirty="0"/>
              <a:t>The carrier transmits combined torque to the wheels.</a:t>
            </a:r>
          </a:p>
          <a:p>
            <a:pPr>
              <a:defRPr sz="2000"/>
            </a:pPr>
            <a:r>
              <a:rPr sz="2800" dirty="0"/>
              <a:t>This arrangement allows smooth blending of engine power and motor power without conventional gear shifting.</a:t>
            </a:r>
          </a:p>
        </p:txBody>
      </p:sp>
    </p:spTree>
    <p:extLst>
      <p:ext uri="{BB962C8B-B14F-4D97-AF65-F5344CB8AC3E}">
        <p14:creationId xmlns:p14="http://schemas.microsoft.com/office/powerpoint/2010/main" val="3930073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dirty="0" smtClean="0"/>
              <a:t>Torque </a:t>
            </a:r>
            <a:r>
              <a:rPr dirty="0"/>
              <a:t>Split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800" dirty="0"/>
              <a:t>Vehicle requires wheel torque of 350 Nm.</a:t>
            </a:r>
          </a:p>
          <a:p>
            <a:pPr>
              <a:defRPr sz="2000"/>
            </a:pPr>
            <a:r>
              <a:rPr sz="2800" dirty="0"/>
              <a:t>If engine provides 220 Nm and motor provides 130 Nm verify torque equation.</a:t>
            </a:r>
          </a:p>
          <a:p>
            <a:pPr>
              <a:defRPr sz="2000"/>
            </a:pPr>
            <a:r>
              <a:rPr sz="2800" dirty="0" err="1"/>
              <a:t>T_total</a:t>
            </a:r>
            <a:r>
              <a:rPr sz="2800" dirty="0"/>
              <a:t> = </a:t>
            </a:r>
            <a:r>
              <a:rPr sz="2800" dirty="0" err="1"/>
              <a:t>T_engine</a:t>
            </a:r>
            <a:r>
              <a:rPr sz="2800" dirty="0"/>
              <a:t> + </a:t>
            </a:r>
            <a:r>
              <a:rPr sz="2800" dirty="0" err="1"/>
              <a:t>T_motor</a:t>
            </a:r>
            <a:r>
              <a:rPr sz="2800" dirty="0"/>
              <a:t> = 350 Nm.</a:t>
            </a:r>
          </a:p>
          <a:p>
            <a:pPr>
              <a:defRPr sz="2000"/>
            </a:pPr>
            <a:r>
              <a:rPr sz="2800" dirty="0"/>
              <a:t>This demonstrates torque sharing in parallel hybrid systems.</a:t>
            </a:r>
          </a:p>
        </p:txBody>
      </p:sp>
    </p:spTree>
    <p:extLst>
      <p:ext uri="{BB962C8B-B14F-4D97-AF65-F5344CB8AC3E}">
        <p14:creationId xmlns:p14="http://schemas.microsoft.com/office/powerpoint/2010/main" val="1225304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dirty="0" smtClean="0"/>
              <a:t>Power </a:t>
            </a:r>
            <a:r>
              <a:rPr dirty="0"/>
              <a:t>Split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800" dirty="0"/>
              <a:t>Required wheel power = 90 kW.</a:t>
            </a:r>
          </a:p>
          <a:p>
            <a:pPr>
              <a:defRPr sz="2000"/>
            </a:pPr>
            <a:r>
              <a:rPr sz="2800" dirty="0"/>
              <a:t>Engine supplies 60 kW and motor supplies 30 kW.</a:t>
            </a:r>
          </a:p>
          <a:p>
            <a:pPr>
              <a:defRPr sz="2000"/>
            </a:pPr>
            <a:r>
              <a:rPr sz="2800" dirty="0"/>
              <a:t>Verify: </a:t>
            </a:r>
            <a:r>
              <a:rPr sz="2800" dirty="0" err="1"/>
              <a:t>P_total</a:t>
            </a:r>
            <a:r>
              <a:rPr sz="2800" dirty="0"/>
              <a:t> = </a:t>
            </a:r>
            <a:r>
              <a:rPr sz="2800" dirty="0" err="1"/>
              <a:t>P_engine</a:t>
            </a:r>
            <a:r>
              <a:rPr sz="2800" dirty="0"/>
              <a:t> + </a:t>
            </a:r>
            <a:r>
              <a:rPr sz="2800" dirty="0" err="1"/>
              <a:t>P_motor</a:t>
            </a:r>
            <a:r>
              <a:rPr sz="2800" dirty="0"/>
              <a:t> = 90 kW.</a:t>
            </a:r>
          </a:p>
          <a:p>
            <a:pPr>
              <a:defRPr sz="2000"/>
            </a:pPr>
            <a:r>
              <a:rPr sz="2800" dirty="0"/>
              <a:t>This demonstrates power balance in hybrid operation.</a:t>
            </a:r>
          </a:p>
        </p:txBody>
      </p:sp>
    </p:spTree>
    <p:extLst>
      <p:ext uri="{BB962C8B-B14F-4D97-AF65-F5344CB8AC3E}">
        <p14:creationId xmlns:p14="http://schemas.microsoft.com/office/powerpoint/2010/main" val="843553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dirty="0" smtClean="0"/>
              <a:t>Regenerative </a:t>
            </a:r>
            <a:r>
              <a:rPr dirty="0"/>
              <a:t>Energy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800" dirty="0"/>
              <a:t>Vehicle mass = 1600 kg and speed = 22 m/s.</a:t>
            </a:r>
          </a:p>
          <a:p>
            <a:pPr>
              <a:defRPr sz="2000"/>
            </a:pPr>
            <a:r>
              <a:rPr sz="2800" dirty="0"/>
              <a:t>Kinetic energy = ½ m v² = 0.5 × 1600 × 484 = 387 kJ.</a:t>
            </a:r>
          </a:p>
          <a:p>
            <a:pPr>
              <a:defRPr sz="2000"/>
            </a:pPr>
            <a:r>
              <a:rPr sz="2800" dirty="0"/>
              <a:t>If regeneration efficiency = 60%, recovered energy = 232 kJ.</a:t>
            </a:r>
          </a:p>
        </p:txBody>
      </p:sp>
    </p:spTree>
    <p:extLst>
      <p:ext uri="{BB962C8B-B14F-4D97-AF65-F5344CB8AC3E}">
        <p14:creationId xmlns:p14="http://schemas.microsoft.com/office/powerpoint/2010/main" val="2753054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3198"/>
            <a:ext cx="8229600" cy="599122"/>
          </a:xfrm>
        </p:spPr>
        <p:txBody>
          <a:bodyPr/>
          <a:lstStyle/>
          <a:p>
            <a:pPr>
              <a:defRPr sz="3200"/>
            </a:pPr>
            <a:r>
              <a:rPr dirty="0"/>
              <a:t>BSFC Contour Map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82320"/>
            <a:ext cx="8229600" cy="2123061"/>
          </a:xfrm>
        </p:spPr>
        <p:txBody>
          <a:bodyPr>
            <a:noAutofit/>
          </a:bodyPr>
          <a:lstStyle/>
          <a:p>
            <a:pPr>
              <a:defRPr sz="2000"/>
            </a:pPr>
            <a:r>
              <a:rPr sz="2800" dirty="0"/>
              <a:t>Brake Specific Fuel Consumption (BSFC) maps show engine efficiency across speed and load.</a:t>
            </a:r>
          </a:p>
          <a:p>
            <a:pPr>
              <a:defRPr sz="2000"/>
            </a:pPr>
            <a:r>
              <a:rPr sz="2800" dirty="0"/>
              <a:t>Contours represent constant fuel consumption values in g/kWh.</a:t>
            </a:r>
          </a:p>
          <a:p>
            <a:pPr>
              <a:defRPr sz="2000"/>
            </a:pPr>
            <a:r>
              <a:rPr sz="2800" dirty="0"/>
              <a:t>Lowest BSFC region indicates most efficient engine operation.</a:t>
            </a:r>
          </a:p>
          <a:p>
            <a:pPr>
              <a:defRPr sz="2000"/>
            </a:pPr>
            <a:r>
              <a:rPr sz="2800" dirty="0"/>
              <a:t>Hybrid controllers attempt to operate engine near this region.</a:t>
            </a:r>
          </a:p>
        </p:txBody>
      </p:sp>
    </p:spTree>
    <p:extLst>
      <p:ext uri="{BB962C8B-B14F-4D97-AF65-F5344CB8AC3E}">
        <p14:creationId xmlns:p14="http://schemas.microsoft.com/office/powerpoint/2010/main" val="1966663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>
          <a:xfrm>
            <a:off x="508000" y="2112583"/>
            <a:ext cx="8229600" cy="12242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/>
            </a:pPr>
            <a:r>
              <a:rPr lang="en-IN" sz="2800" dirty="0" smtClean="0"/>
              <a:t>Hybrid vehicles maintain engine operation near minimum BSFC region.</a:t>
            </a:r>
          </a:p>
          <a:p>
            <a:pPr>
              <a:defRPr sz="2000"/>
            </a:pPr>
            <a:r>
              <a:rPr lang="en-IN" sz="2800" dirty="0" smtClean="0"/>
              <a:t>This reduces fuel consumption and emissions.</a:t>
            </a:r>
          </a:p>
          <a:p>
            <a:pPr>
              <a:defRPr sz="2000"/>
            </a:pPr>
            <a:r>
              <a:rPr lang="en-IN" sz="2800" dirty="0" smtClean="0"/>
              <a:t>Electric motor handles transient load changes so engine remains efficient.</a:t>
            </a:r>
            <a:endParaRPr lang="en-IN" sz="2800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14960" y="1213741"/>
            <a:ext cx="8229600" cy="5439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3200"/>
            </a:pPr>
            <a:r>
              <a:rPr lang="en-IN" sz="3200" dirty="0" smtClean="0"/>
              <a:t>Optimal Engine Operating Region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841396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1"/>
            <a:ext cx="8229600" cy="406400"/>
          </a:xfrm>
        </p:spPr>
        <p:txBody>
          <a:bodyPr>
            <a:noAutofit/>
          </a:bodyPr>
          <a:lstStyle/>
          <a:p>
            <a:pPr>
              <a:defRPr sz="3200"/>
            </a:pPr>
            <a:r>
              <a:rPr lang="en-IN" sz="3200" dirty="0" smtClean="0"/>
              <a:t>Driving Performance </a:t>
            </a:r>
            <a:br>
              <a:rPr lang="en-IN" sz="3200" dirty="0" smtClean="0"/>
            </a:b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99442"/>
            <a:ext cx="8229600" cy="6085838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 sz="2000"/>
            </a:pPr>
            <a:r>
              <a:rPr lang="en-IN" sz="2800" dirty="0" smtClean="0"/>
              <a:t>City </a:t>
            </a:r>
          </a:p>
          <a:p>
            <a:pPr>
              <a:defRPr sz="2000"/>
            </a:pPr>
            <a:r>
              <a:rPr sz="2400" dirty="0" smtClean="0"/>
              <a:t>Frequent </a:t>
            </a:r>
            <a:r>
              <a:rPr sz="2400" dirty="0"/>
              <a:t>acceleration allows motor assist.</a:t>
            </a:r>
          </a:p>
          <a:p>
            <a:pPr>
              <a:defRPr sz="2000"/>
            </a:pPr>
            <a:r>
              <a:rPr sz="2400" dirty="0"/>
              <a:t>Regenerative </a:t>
            </a:r>
            <a:r>
              <a:rPr sz="2400" dirty="0" smtClean="0"/>
              <a:t>braking </a:t>
            </a:r>
            <a:r>
              <a:rPr sz="2400" dirty="0"/>
              <a:t>recovers energy</a:t>
            </a:r>
            <a:r>
              <a:rPr sz="2400" dirty="0" smtClean="0"/>
              <a:t>.</a:t>
            </a:r>
            <a:endParaRPr lang="en-IN" sz="2400" dirty="0" smtClean="0"/>
          </a:p>
          <a:p>
            <a:pPr marL="0" indent="0">
              <a:buNone/>
              <a:defRPr sz="2000"/>
            </a:pPr>
            <a:r>
              <a:rPr lang="en-IN" sz="2800" dirty="0" smtClean="0"/>
              <a:t>Highway </a:t>
            </a:r>
          </a:p>
          <a:p>
            <a:pPr>
              <a:defRPr sz="2000"/>
            </a:pPr>
            <a:r>
              <a:rPr lang="en-US" sz="2400" dirty="0"/>
              <a:t>Engine provides most of the power.</a:t>
            </a:r>
          </a:p>
          <a:p>
            <a:pPr>
              <a:defRPr sz="2000"/>
            </a:pPr>
            <a:r>
              <a:rPr lang="en-US" sz="2400" dirty="0"/>
              <a:t>Direct mechanical path improves efficiency</a:t>
            </a:r>
            <a:r>
              <a:rPr lang="en-US" sz="2400" dirty="0" smtClean="0"/>
              <a:t>.</a:t>
            </a:r>
          </a:p>
          <a:p>
            <a:pPr marL="0" indent="0">
              <a:buNone/>
              <a:defRPr sz="2000"/>
            </a:pPr>
            <a:r>
              <a:rPr lang="en-US" sz="2800" dirty="0"/>
              <a:t>Why Parallel Hybrid is Good for </a:t>
            </a:r>
            <a:r>
              <a:rPr lang="en-US" sz="2800" dirty="0" smtClean="0"/>
              <a:t>Highway?</a:t>
            </a:r>
          </a:p>
          <a:p>
            <a:pPr>
              <a:defRPr sz="2000"/>
            </a:pPr>
            <a:r>
              <a:rPr lang="en-US" sz="2400" dirty="0"/>
              <a:t>Minimal energy conversion losses.</a:t>
            </a:r>
          </a:p>
          <a:p>
            <a:pPr>
              <a:defRPr sz="2000"/>
            </a:pPr>
            <a:r>
              <a:rPr lang="en-US" sz="2400" dirty="0"/>
              <a:t>Engine directly drives wheels</a:t>
            </a:r>
            <a:r>
              <a:rPr lang="en-US" sz="2400" dirty="0" smtClean="0"/>
              <a:t>.</a:t>
            </a:r>
          </a:p>
          <a:p>
            <a:pPr marL="0" indent="0">
              <a:buNone/>
              <a:defRPr sz="2000"/>
            </a:pPr>
            <a:r>
              <a:rPr lang="en-IN" sz="2800" dirty="0"/>
              <a:t>Comparison with Series </a:t>
            </a:r>
            <a:r>
              <a:rPr lang="en-IN" sz="2800" dirty="0" smtClean="0"/>
              <a:t>Hybrid</a:t>
            </a:r>
          </a:p>
          <a:p>
            <a:pPr>
              <a:defRPr sz="2000"/>
            </a:pPr>
            <a:r>
              <a:rPr lang="en-IN" sz="2400" dirty="0"/>
              <a:t>Series hybrid requires multiple energy conversions.</a:t>
            </a:r>
          </a:p>
          <a:p>
            <a:pPr>
              <a:defRPr sz="2000"/>
            </a:pPr>
            <a:r>
              <a:rPr lang="en-IN" sz="2400" dirty="0"/>
              <a:t>Parallel hybrid avoids electrical conversion losses</a:t>
            </a:r>
            <a:r>
              <a:rPr lang="en-IN" sz="2400" dirty="0" smtClean="0"/>
              <a:t>.</a:t>
            </a:r>
          </a:p>
          <a:p>
            <a:pPr>
              <a:defRPr sz="2000"/>
            </a:pPr>
            <a:r>
              <a:rPr lang="en-US" sz="2400" dirty="0"/>
              <a:t>Series hybrid experiences generator and inverter losses.</a:t>
            </a:r>
          </a:p>
          <a:p>
            <a:pPr>
              <a:defRPr sz="2000"/>
            </a:pPr>
            <a:r>
              <a:rPr lang="en-US" sz="2400" dirty="0"/>
              <a:t>Parallel hybrid avoids these losses.</a:t>
            </a:r>
          </a:p>
          <a:p>
            <a:pPr>
              <a:defRPr sz="2000"/>
            </a:pPr>
            <a:endParaRPr lang="en-IN" sz="2400" dirty="0"/>
          </a:p>
          <a:p>
            <a:pPr>
              <a:defRPr sz="2000"/>
            </a:pPr>
            <a:endParaRPr lang="en-US" sz="2400" dirty="0"/>
          </a:p>
          <a:p>
            <a:pPr>
              <a:defRPr sz="2000"/>
            </a:pPr>
            <a:endParaRPr lang="en-US" dirty="0" smtClean="0"/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endParaRPr lang="en-IN" dirty="0" smtClean="0"/>
          </a:p>
          <a:p>
            <a:pPr>
              <a:defRPr sz="2000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Applications of Parallel Hybrid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800" dirty="0"/>
              <a:t>Passenger vehicles</a:t>
            </a:r>
          </a:p>
          <a:p>
            <a:pPr>
              <a:defRPr sz="2000"/>
            </a:pPr>
            <a:r>
              <a:rPr sz="2800" dirty="0"/>
              <a:t>Highway vehicles</a:t>
            </a:r>
          </a:p>
          <a:p>
            <a:pPr>
              <a:defRPr sz="2000"/>
            </a:pPr>
            <a:r>
              <a:rPr lang="en-IN" sz="2800" dirty="0" smtClean="0"/>
              <a:t>Honda </a:t>
            </a:r>
            <a:r>
              <a:rPr lang="en-IN" sz="2800" dirty="0"/>
              <a:t>Insight</a:t>
            </a:r>
          </a:p>
          <a:p>
            <a:pPr>
              <a:defRPr sz="2000"/>
            </a:pPr>
            <a:endParaRPr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Series Hybrid Power Equation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800" dirty="0"/>
              <a:t>In a series hybrid the engine does not drive the wheels mechanically.</a:t>
            </a:r>
          </a:p>
          <a:p>
            <a:pPr>
              <a:defRPr sz="2000"/>
            </a:pPr>
            <a:r>
              <a:rPr sz="2800" dirty="0"/>
              <a:t>Fuel power is converted to electrical power through generator before reaching wheels.</a:t>
            </a:r>
          </a:p>
          <a:p>
            <a:pPr>
              <a:defRPr sz="2000"/>
            </a:pPr>
            <a:r>
              <a:rPr sz="2800" dirty="0"/>
              <a:t>Power equation: </a:t>
            </a:r>
            <a:r>
              <a:rPr sz="2800" dirty="0" err="1"/>
              <a:t>P_wheel</a:t>
            </a:r>
            <a:r>
              <a:rPr sz="2800" dirty="0"/>
              <a:t> = </a:t>
            </a:r>
            <a:r>
              <a:rPr sz="2800" dirty="0" err="1"/>
              <a:t>η_m</a:t>
            </a:r>
            <a:r>
              <a:rPr sz="2800" dirty="0"/>
              <a:t> × </a:t>
            </a:r>
            <a:r>
              <a:rPr sz="2800" dirty="0" err="1"/>
              <a:t>η_g</a:t>
            </a:r>
            <a:r>
              <a:rPr sz="2800" dirty="0"/>
              <a:t> × </a:t>
            </a:r>
            <a:r>
              <a:rPr sz="2800" dirty="0" err="1"/>
              <a:t>η_e</a:t>
            </a:r>
            <a:r>
              <a:rPr sz="2800" dirty="0"/>
              <a:t> × </a:t>
            </a:r>
            <a:r>
              <a:rPr sz="2800" dirty="0" err="1"/>
              <a:t>P_fuel</a:t>
            </a:r>
            <a:r>
              <a:rPr sz="2800" dirty="0"/>
              <a:t>.</a:t>
            </a:r>
          </a:p>
          <a:p>
            <a:pPr>
              <a:defRPr sz="2000"/>
            </a:pPr>
            <a:r>
              <a:rPr sz="2800" dirty="0"/>
              <a:t>This means energy passes through multiple conversion stages.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Parallel Hybrid Power Equation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800" dirty="0"/>
              <a:t>In a parallel hybrid both engine and motor supply power directly to the drivetrain.</a:t>
            </a:r>
          </a:p>
          <a:p>
            <a:pPr>
              <a:defRPr sz="2000"/>
            </a:pPr>
            <a:r>
              <a:rPr sz="2800" dirty="0"/>
              <a:t>Power equation: </a:t>
            </a:r>
            <a:r>
              <a:rPr sz="2800" dirty="0" err="1"/>
              <a:t>P_total</a:t>
            </a:r>
            <a:r>
              <a:rPr sz="2800" dirty="0"/>
              <a:t> = </a:t>
            </a:r>
            <a:r>
              <a:rPr sz="2800" dirty="0" err="1"/>
              <a:t>P_engine</a:t>
            </a:r>
            <a:r>
              <a:rPr sz="2800" dirty="0"/>
              <a:t> + </a:t>
            </a:r>
            <a:r>
              <a:rPr sz="2800" dirty="0" err="1"/>
              <a:t>P_motor</a:t>
            </a:r>
            <a:r>
              <a:rPr sz="2800" dirty="0"/>
              <a:t>.</a:t>
            </a:r>
          </a:p>
          <a:p>
            <a:pPr>
              <a:defRPr sz="2000"/>
            </a:pPr>
            <a:r>
              <a:rPr sz="2800" dirty="0"/>
              <a:t>Torque equation: </a:t>
            </a:r>
            <a:r>
              <a:rPr sz="2800" dirty="0" err="1"/>
              <a:t>T_total</a:t>
            </a:r>
            <a:r>
              <a:rPr sz="2800" dirty="0"/>
              <a:t> = </a:t>
            </a:r>
            <a:r>
              <a:rPr sz="2800" dirty="0" err="1"/>
              <a:t>T_engine</a:t>
            </a:r>
            <a:r>
              <a:rPr sz="2800" dirty="0"/>
              <a:t> + </a:t>
            </a:r>
            <a:r>
              <a:rPr sz="2800" dirty="0" err="1"/>
              <a:t>T_motor</a:t>
            </a:r>
            <a:r>
              <a:rPr sz="2800" dirty="0"/>
              <a:t>.</a:t>
            </a:r>
          </a:p>
          <a:p>
            <a:pPr>
              <a:defRPr sz="2000"/>
            </a:pPr>
            <a:r>
              <a:rPr sz="2800" dirty="0"/>
              <a:t>This reduces electrical conversion losses compared with series architecture.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Series Hybrid Energy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985520" y="1417638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r>
              <a:rPr sz="2000"/>
              <a:t>Fuel</a:t>
            </a:r>
          </a:p>
        </p:txBody>
      </p:sp>
      <p:sp>
        <p:nvSpPr>
          <p:cNvPr id="4" name="Rectangle 3"/>
          <p:cNvSpPr/>
          <p:nvPr/>
        </p:nvSpPr>
        <p:spPr>
          <a:xfrm>
            <a:off x="2072640" y="2540318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r>
              <a:rPr sz="2000"/>
              <a:t>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545840" y="3662998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r>
              <a:rPr sz="2000"/>
              <a:t>Generator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765040" y="4785678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r>
              <a:rPr sz="2000"/>
              <a:t>Motor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8400" y="5890896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r>
              <a:rPr sz="2000"/>
              <a:t>Wheels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Parallel Hybrid Energy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853440" y="1417638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r>
              <a:rPr sz="2000"/>
              <a:t>Fuel</a:t>
            </a:r>
          </a:p>
        </p:txBody>
      </p:sp>
      <p:sp>
        <p:nvSpPr>
          <p:cNvPr id="4" name="Rectangle 3"/>
          <p:cNvSpPr/>
          <p:nvPr/>
        </p:nvSpPr>
        <p:spPr>
          <a:xfrm>
            <a:off x="2174240" y="251968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r>
              <a:rPr sz="2000"/>
              <a:t>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77920" y="3621722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r>
              <a:rPr sz="2000"/>
              <a:t>Transmission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90160" y="4723764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r>
              <a:rPr sz="2000"/>
              <a:t>Wheels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6685280" y="5825806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r>
              <a:rPr sz="2000"/>
              <a:t>Motor Assist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Applications of Series Hybrid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800" dirty="0"/>
              <a:t>Series hybrids are ideal for stop‑and‑go city driving.</a:t>
            </a:r>
          </a:p>
          <a:p>
            <a:pPr>
              <a:defRPr sz="2000"/>
            </a:pPr>
            <a:r>
              <a:rPr sz="2800" dirty="0"/>
              <a:t>Examples include buses, range‑extended electric vehicles, and urban delivery vehicles.</a:t>
            </a:r>
          </a:p>
          <a:p>
            <a:pPr>
              <a:defRPr sz="2000"/>
            </a:pPr>
            <a:r>
              <a:rPr sz="2800" dirty="0"/>
              <a:t>Reason: frequent braking allows regenerative energy recovery.</a:t>
            </a:r>
          </a:p>
          <a:p>
            <a:pPr>
              <a:defRPr sz="2000"/>
            </a:pPr>
            <a:r>
              <a:rPr sz="2800" dirty="0"/>
              <a:t>Electric motor handles propulsion smoothly at low speeds.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Applications of Parallel Hybrid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800" dirty="0"/>
              <a:t>Parallel hybrids are widely used in passenger cars and highway vehicles.</a:t>
            </a:r>
          </a:p>
          <a:p>
            <a:pPr>
              <a:defRPr sz="2000"/>
            </a:pPr>
            <a:r>
              <a:rPr sz="2800" dirty="0"/>
              <a:t>Examples include mild hybrids and full hybrids with direct drivetrain connection.</a:t>
            </a:r>
          </a:p>
          <a:p>
            <a:pPr>
              <a:defRPr sz="2000"/>
            </a:pPr>
            <a:r>
              <a:rPr sz="2800" dirty="0"/>
              <a:t>Reason: mechanical power path from engine to wheels provides higher highway efficiency.</a:t>
            </a:r>
          </a:p>
          <a:p>
            <a:pPr>
              <a:defRPr sz="2000"/>
            </a:pPr>
            <a:r>
              <a:rPr sz="2800" dirty="0"/>
              <a:t>Motor assists during acceleration and regenerative braking.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Series vs Parallel Hybrid – Key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800" dirty="0"/>
              <a:t>Series hybrid: engine never drives wheels directly; all propulsion through motor.</a:t>
            </a:r>
          </a:p>
          <a:p>
            <a:pPr>
              <a:defRPr sz="2000"/>
            </a:pPr>
            <a:r>
              <a:rPr sz="2800" dirty="0"/>
              <a:t>Parallel hybrid: engine and motor both connected to drivetrain.</a:t>
            </a:r>
          </a:p>
          <a:p>
            <a:pPr>
              <a:defRPr sz="2000"/>
            </a:pPr>
            <a:r>
              <a:rPr sz="2800" dirty="0"/>
              <a:t>Series hybrid better for city cycles with frequent braking.</a:t>
            </a:r>
          </a:p>
          <a:p>
            <a:pPr>
              <a:defRPr sz="2000"/>
            </a:pPr>
            <a:r>
              <a:rPr sz="2800" dirty="0"/>
              <a:t>Parallel hybrid better for highway driving because mechanical power path reduces losses.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520" y="1148080"/>
            <a:ext cx="8717280" cy="5435600"/>
          </a:xfrm>
        </p:spPr>
        <p:txBody>
          <a:bodyPr/>
          <a:lstStyle/>
          <a:p>
            <a:pPr>
              <a:defRPr sz="2000"/>
            </a:pPr>
            <a:r>
              <a:rPr lang="en-US" sz="2400" dirty="0"/>
              <a:t>Better highway efficiency</a:t>
            </a:r>
          </a:p>
          <a:p>
            <a:pPr>
              <a:defRPr sz="2000"/>
            </a:pPr>
            <a:r>
              <a:rPr lang="en-US" sz="2400" dirty="0"/>
              <a:t>Improved acceleration</a:t>
            </a:r>
          </a:p>
          <a:p>
            <a:pPr>
              <a:defRPr sz="2000"/>
            </a:pPr>
            <a:r>
              <a:rPr lang="en-US" sz="2400" dirty="0"/>
              <a:t>Reduced fuel consumption</a:t>
            </a:r>
          </a:p>
          <a:p>
            <a:pPr>
              <a:defRPr sz="2000"/>
            </a:pPr>
            <a:r>
              <a:rPr sz="2400" dirty="0" smtClean="0"/>
              <a:t>Parallel </a:t>
            </a:r>
            <a:r>
              <a:rPr sz="2400" dirty="0"/>
              <a:t>hybrid combines engine and motor power.</a:t>
            </a:r>
          </a:p>
          <a:p>
            <a:pPr>
              <a:defRPr sz="2000"/>
            </a:pPr>
            <a:r>
              <a:rPr sz="2400" dirty="0"/>
              <a:t>Efficient for highway driving and moderate city driving.</a:t>
            </a:r>
          </a:p>
          <a:p>
            <a:pPr>
              <a:defRPr sz="2000"/>
            </a:pPr>
            <a:r>
              <a:rPr sz="2400" dirty="0"/>
              <a:t>Control strategies determine optimal operation</a:t>
            </a:r>
            <a:r>
              <a:rPr sz="2400" dirty="0" smtClean="0"/>
              <a:t>.</a:t>
            </a:r>
            <a:endParaRPr lang="en-IN" sz="2400" dirty="0" smtClean="0"/>
          </a:p>
          <a:p>
            <a:pPr>
              <a:defRPr sz="2000"/>
            </a:pPr>
            <a:r>
              <a:rPr lang="en-US" sz="2400" dirty="0"/>
              <a:t>Improved batteries and power electronics will enhance hybrid performance</a:t>
            </a:r>
            <a:r>
              <a:rPr lang="en-US" sz="2400" dirty="0" smtClean="0"/>
              <a:t>.</a:t>
            </a:r>
          </a:p>
          <a:p>
            <a:pPr>
              <a:defRPr sz="2000"/>
            </a:pPr>
            <a:r>
              <a:rPr lang="en-US" sz="2400" dirty="0"/>
              <a:t>More complex mechanical system.</a:t>
            </a:r>
          </a:p>
          <a:p>
            <a:pPr>
              <a:defRPr sz="2000"/>
            </a:pPr>
            <a:r>
              <a:rPr lang="en-US" sz="2400" dirty="0"/>
              <a:t>Control strategy complexity.</a:t>
            </a:r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2012</Words>
  <Application>Microsoft Office PowerPoint</Application>
  <PresentationFormat>On-screen Show (4:3)</PresentationFormat>
  <Paragraphs>299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Parallel_Hybrid</vt:lpstr>
      <vt:lpstr>Introduction to Parallel Hybrid Drive</vt:lpstr>
      <vt:lpstr>Parallel Hybrid Mode </vt:lpstr>
      <vt:lpstr>Definition of Parallel Hybrid</vt:lpstr>
      <vt:lpstr>Basic Components</vt:lpstr>
      <vt:lpstr>Power Flow in Parallel Hybrid</vt:lpstr>
      <vt:lpstr>Torque Equation</vt:lpstr>
      <vt:lpstr>Energy Flow</vt:lpstr>
      <vt:lpstr>Cruise Mode</vt:lpstr>
      <vt:lpstr>Regenerative Braking</vt:lpstr>
      <vt:lpstr>Battery Role</vt:lpstr>
      <vt:lpstr>Motor Characteristics</vt:lpstr>
      <vt:lpstr>Engine and Motor Cooperation</vt:lpstr>
      <vt:lpstr>Motor Torque-Speed Map</vt:lpstr>
      <vt:lpstr>Engine Torque-Speed Characteristics</vt:lpstr>
      <vt:lpstr>Power Flow – Electric Mode</vt:lpstr>
      <vt:lpstr>Power Flow – Engine Mode</vt:lpstr>
      <vt:lpstr>Power Flow – Hybrid Assist Mode</vt:lpstr>
      <vt:lpstr>Energy Flow During Regenerative Braking</vt:lpstr>
      <vt:lpstr>How Parallel Hybrid Decides Engine vs Motor Operation</vt:lpstr>
      <vt:lpstr>Typical Mode Selection Logic</vt:lpstr>
      <vt:lpstr>Parallel Hybrid Mode Decision Flow</vt:lpstr>
      <vt:lpstr>Torque Combination in Parallel Hybrid</vt:lpstr>
      <vt:lpstr>Complete Parallel Hybrid Drivetrain (Torque Flow)</vt:lpstr>
      <vt:lpstr>Combined Power-Speed Operating Map (Engine + Motor)</vt:lpstr>
      <vt:lpstr>Power-Speed Operating Regions</vt:lpstr>
      <vt:lpstr>Hybrid Controller Mode Switching Logic</vt:lpstr>
      <vt:lpstr>Real Hybrid Mode Switching Logic</vt:lpstr>
      <vt:lpstr>Gears in Parallel Hybrid Drivetrain</vt:lpstr>
      <vt:lpstr>Typical Gear Arrangement in Parallel Hybrid</vt:lpstr>
      <vt:lpstr>Types of Gear Systems Used in Parallel Hybrids</vt:lpstr>
      <vt:lpstr>Torque Flow Through Hybrid Gear System</vt:lpstr>
      <vt:lpstr>Gear Design Considerations in Parallel Hybrids</vt:lpstr>
      <vt:lpstr>Planetary Gear Set in Hybrid Drivetrains</vt:lpstr>
      <vt:lpstr>Planetary Gear Elements Used in Hybrid Systems</vt:lpstr>
      <vt:lpstr>Role of Planetary Gears in Hybrid Power Transmission</vt:lpstr>
      <vt:lpstr>Torque Split</vt:lpstr>
      <vt:lpstr>Power Split</vt:lpstr>
      <vt:lpstr>Regenerative Energy</vt:lpstr>
      <vt:lpstr>BSFC Contour Map Explanation</vt:lpstr>
      <vt:lpstr>PowerPoint Presentation</vt:lpstr>
      <vt:lpstr>Driving Performance  </vt:lpstr>
      <vt:lpstr>Applications of Parallel Hybrid</vt:lpstr>
      <vt:lpstr>Series Hybrid Power Equation</vt:lpstr>
      <vt:lpstr>Parallel Hybrid Power Equation</vt:lpstr>
      <vt:lpstr>Series Hybrid Energy Flow</vt:lpstr>
      <vt:lpstr>Parallel Hybrid Energy Flow</vt:lpstr>
      <vt:lpstr>Applications of Series Hybrid</vt:lpstr>
      <vt:lpstr>Applications of Parallel Hybrid</vt:lpstr>
      <vt:lpstr>Series vs Parallel Hybrid – Key Differences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Parallel Hybrid Drive</dc:title>
  <dc:subject/>
  <dc:creator>Sachin Argade</dc:creator>
  <cp:keywords/>
  <dc:description>generated using python-pptx</dc:description>
  <cp:lastModifiedBy>Sachin Argade</cp:lastModifiedBy>
  <cp:revision>50</cp:revision>
  <dcterms:created xsi:type="dcterms:W3CDTF">2013-01-27T09:14:16Z</dcterms:created>
  <dcterms:modified xsi:type="dcterms:W3CDTF">2026-03-05T10:11:35Z</dcterms:modified>
  <cp:category/>
</cp:coreProperties>
</file>