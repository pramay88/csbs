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004B-0874-48AD-8C3B-47C58AFFECC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A1278-1A0E-43D6-87A0-96132FC04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391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004B-0874-48AD-8C3B-47C58AFFECC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A1278-1A0E-43D6-87A0-96132FC04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9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004B-0874-48AD-8C3B-47C58AFFECC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A1278-1A0E-43D6-87A0-96132FC04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02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004B-0874-48AD-8C3B-47C58AFFECC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A1278-1A0E-43D6-87A0-96132FC04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943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004B-0874-48AD-8C3B-47C58AFFECC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A1278-1A0E-43D6-87A0-96132FC04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646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004B-0874-48AD-8C3B-47C58AFFECC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A1278-1A0E-43D6-87A0-96132FC04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67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004B-0874-48AD-8C3B-47C58AFFECC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A1278-1A0E-43D6-87A0-96132FC04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417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004B-0874-48AD-8C3B-47C58AFFECC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A1278-1A0E-43D6-87A0-96132FC04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755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004B-0874-48AD-8C3B-47C58AFFECC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A1278-1A0E-43D6-87A0-96132FC04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82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004B-0874-48AD-8C3B-47C58AFFECC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A1278-1A0E-43D6-87A0-96132FC04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152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004B-0874-48AD-8C3B-47C58AFFECC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A1278-1A0E-43D6-87A0-96132FC04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79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F004B-0874-48AD-8C3B-47C58AFFECC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A1278-1A0E-43D6-87A0-96132FC04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37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Controller Area Network (CAN) Protocol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Sachin Argade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8820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723" y="113812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CAN Protocol Basics</a:t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US" dirty="0" smtClean="0"/>
              <a:t>What is CAN?</a:t>
            </a:r>
            <a:br>
              <a:rPr lang="en-US" dirty="0" smtClean="0"/>
            </a:b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4575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Robust </a:t>
            </a:r>
            <a:r>
              <a:rPr lang="en-US" dirty="0"/>
              <a:t>serial bus standard for automotive and industrial use.</a:t>
            </a:r>
          </a:p>
          <a:p>
            <a:r>
              <a:rPr lang="en-US" dirty="0"/>
              <a:t>Multi‑master, multi‑node communication (up to 30+ nodes).</a:t>
            </a:r>
          </a:p>
          <a:p>
            <a:r>
              <a:rPr lang="en-US" dirty="0"/>
              <a:t>Data rate up to 1 Mbps with strong EMI immunity via differential signaling.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865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advantages for EVs: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Real‑time data exchange between BMS, VCU, charger, motor controller.</a:t>
            </a:r>
          </a:p>
          <a:p>
            <a:r>
              <a:rPr lang="en-US" dirty="0" smtClean="0"/>
              <a:t>Error detection/correction ensures reliable safety‑critical messages.​</a:t>
            </a:r>
          </a:p>
          <a:p>
            <a:r>
              <a:rPr lang="en-US" dirty="0" smtClean="0"/>
              <a:t>Simple twisted‑pair wiring reduces harness complexity.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743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CAN Message Structure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CAN Frame Structure (Simplified</a:t>
            </a:r>
            <a:r>
              <a:rPr lang="en-IN" dirty="0" smtClean="0"/>
              <a:t>)</a:t>
            </a:r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66" y="2597536"/>
            <a:ext cx="8659433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68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BMS uses (example messages):</a:t>
            </a:r>
          </a:p>
          <a:p>
            <a:r>
              <a:rPr lang="en-IN" dirty="0"/>
              <a:t>ID 0x100: SOC (%), SOH (%), Max Charge Current, Max Discharge Current</a:t>
            </a:r>
          </a:p>
          <a:p>
            <a:r>
              <a:rPr lang="en-IN" dirty="0"/>
              <a:t>ID 0x101: Cell voltages, pack voltage, current, temperatures</a:t>
            </a:r>
          </a:p>
          <a:p>
            <a:r>
              <a:rPr lang="en-IN" dirty="0"/>
              <a:t>ID 0x200: Fault codes, isolation resistance, contactor states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Priority</a:t>
            </a:r>
            <a:r>
              <a:rPr lang="en-IN" dirty="0"/>
              <a:t>: Lower ID = higher priority (critical safety messages get low IDs).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5216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Integration in EV Architecture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9666" y="1962091"/>
            <a:ext cx="8621328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86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 flow examples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BMS </a:t>
            </a:r>
            <a:r>
              <a:rPr lang="en-IN" dirty="0"/>
              <a:t>→ VCU: "Max discharge current = 200A" → limits torque</a:t>
            </a:r>
          </a:p>
          <a:p>
            <a:r>
              <a:rPr lang="en-IN" dirty="0"/>
              <a:t>Charger → BMS: "Requested charge voltage/current" → BMS approves/rejects</a:t>
            </a:r>
          </a:p>
          <a:p>
            <a:r>
              <a:rPr lang="en-IN" dirty="0"/>
              <a:t>VCU → BMS: "Crash detected" → BMS opens contactors</a:t>
            </a:r>
          </a:p>
          <a:p>
            <a:r>
              <a:rPr lang="en-IN" dirty="0"/>
              <a:t>Safety features: Timeout detection (no message → assume fault → safe state)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2609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01" y="0"/>
            <a:ext cx="9813303" cy="655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57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2967829"/>
              </p:ext>
            </p:extLst>
          </p:nvPr>
        </p:nvGraphicFramePr>
        <p:xfrm>
          <a:off x="762786" y="1871832"/>
          <a:ext cx="10515600" cy="29768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2341294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382063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840391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18674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Message ID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Period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Data Bytes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effectLst/>
                        </a:rPr>
                        <a:t>Purpose</a:t>
                      </a:r>
                      <a:endParaRPr lang="en-IN" dirty="0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52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0x1806E5F4</a:t>
                      </a:r>
                      <a:endParaRPr lang="en-IN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1000ms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SOC, SOH, Max Chg/Dischg Current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BMS Status to VCU/Charger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1860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0x100</a:t>
                      </a:r>
                      <a:endParaRPr lang="en-IN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100ms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>
                          <a:effectLst/>
                        </a:rPr>
                        <a:t>Pack Voltage, Current, Min/Max Cell V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Real-time monitoring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340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0x101</a:t>
                      </a:r>
                      <a:endParaRPr lang="en-IN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100ms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Cell Voltages (8 cells), Pack Temp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Cell health monitoring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254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0x200</a:t>
                      </a:r>
                      <a:endParaRPr lang="en-IN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Event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Fault Codes, Contactor States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Fault reporting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46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247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BMS-to-VCU Communication Example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ID: 0x100 (Battery Status</a:t>
            </a:r>
            <a:r>
              <a:rPr lang="en-US" dirty="0" smtClean="0"/>
              <a:t>)</a:t>
            </a:r>
          </a:p>
          <a:p>
            <a:r>
              <a:rPr lang="en-IN" dirty="0" smtClean="0"/>
              <a:t>Byte 0-1: SOC (%)     → 85% = 0x0055 </a:t>
            </a:r>
          </a:p>
          <a:p>
            <a:r>
              <a:rPr lang="en-IN" dirty="0" smtClean="0"/>
              <a:t>Byte 2-3: SOH (%)     → 95% = 0x005F</a:t>
            </a:r>
          </a:p>
          <a:p>
            <a:r>
              <a:rPr lang="en-IN" dirty="0" smtClean="0"/>
              <a:t>Byte 4-5: Max </a:t>
            </a:r>
            <a:r>
              <a:rPr lang="en-IN" dirty="0" err="1" smtClean="0"/>
              <a:t>Chg</a:t>
            </a:r>
            <a:r>
              <a:rPr lang="en-IN" dirty="0" smtClean="0"/>
              <a:t> A   → 50A  = 0x0032  </a:t>
            </a:r>
          </a:p>
          <a:p>
            <a:r>
              <a:rPr lang="en-IN" dirty="0" smtClean="0"/>
              <a:t>Byte 6-7: Max </a:t>
            </a:r>
            <a:r>
              <a:rPr lang="en-IN" dirty="0" err="1" smtClean="0"/>
              <a:t>Dischg</a:t>
            </a:r>
            <a:r>
              <a:rPr lang="en-IN" dirty="0" smtClean="0"/>
              <a:t> A→ 200A = 0x00C8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9446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VCU Response: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CAN ID: 0x150 (Torque Request)</a:t>
            </a:r>
          </a:p>
          <a:p>
            <a:r>
              <a:rPr lang="en-IN" dirty="0" smtClean="0"/>
              <a:t>Byte 0-3: Requested Torque (Nm)</a:t>
            </a:r>
          </a:p>
          <a:p>
            <a:r>
              <a:rPr lang="en-IN" dirty="0" smtClean="0"/>
              <a:t>Byte 4-7: Actual Torque Delivered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12742" y="4796135"/>
            <a:ext cx="1099165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 smtClean="0">
                <a:effectLst/>
                <a:latin typeface="fkGroteskNeue"/>
              </a:rPr>
              <a:t>Safety Logic: If no BMS message for 2s → VCU assumes 0A limits → limp mode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4140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BMS-Charger Handshake (DC Fast Charging)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Charger → BMS (ID: 0x18DB33F1</a:t>
            </a:r>
            <a:r>
              <a:rPr lang="en-IN" dirty="0" smtClean="0"/>
              <a:t>)</a:t>
            </a:r>
          </a:p>
          <a:p>
            <a:endParaRPr lang="en-IN" dirty="0"/>
          </a:p>
          <a:p>
            <a:r>
              <a:rPr lang="en-US" dirty="0" smtClean="0"/>
              <a:t>Byte 0-1: Requested Voltage (V)</a:t>
            </a:r>
          </a:p>
          <a:p>
            <a:r>
              <a:rPr lang="en-US" dirty="0" smtClean="0"/>
              <a:t>Byte 2-3: Requested Current (A) </a:t>
            </a:r>
          </a:p>
          <a:p>
            <a:r>
              <a:rPr lang="en-US" dirty="0" smtClean="0"/>
              <a:t>Byte 4:   Charge Mode (CC/CV)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0462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mtClean="0"/>
              <a:t>BMS → Charger (ID: 0x18FF50E1)</a:t>
            </a:r>
          </a:p>
          <a:p>
            <a:endParaRPr lang="en-IN" smtClean="0"/>
          </a:p>
          <a:p>
            <a:r>
              <a:rPr lang="en-US" smtClean="0"/>
              <a:t>Byte 0:   Contactor State (Closed/Open)</a:t>
            </a:r>
          </a:p>
          <a:p>
            <a:r>
              <a:rPr lang="en-US" smtClean="0"/>
              <a:t>Byte 1:   Max Allowed Voltage</a:t>
            </a:r>
          </a:p>
          <a:p>
            <a:r>
              <a:rPr lang="en-US" smtClean="0"/>
              <a:t>Byte 2:   Max Allowed Current</a:t>
            </a:r>
          </a:p>
          <a:p>
            <a:r>
              <a:rPr lang="en-US" smtClean="0"/>
              <a:t>Byte 3:   Fault Status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983530" y="5232671"/>
            <a:ext cx="940480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 smtClean="0">
                <a:effectLst/>
                <a:latin typeface="fkGroteskNeue"/>
              </a:rPr>
              <a:t>Protocol: Charger polls every 100ms, BMS responds within 50ms</a:t>
            </a:r>
          </a:p>
          <a:p>
            <a:r>
              <a:rPr lang="en-US" sz="2800" dirty="0" smtClean="0"/>
              <a:t/>
            </a:r>
            <a:br>
              <a:rPr lang="en-US" sz="2800" dirty="0" smtClean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47832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ID Priority (Lower ID = Higher Priority)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Priority 1 (Critical): 0x080-0x0FF → Contactor commands, Emergency shutdown</a:t>
            </a:r>
          </a:p>
          <a:p>
            <a:r>
              <a:rPr lang="en-IN" dirty="0" smtClean="0"/>
              <a:t>Priority 2 (High):     0x100-0x1FF → SOC/SOH, Cell voltages, Current limits  </a:t>
            </a:r>
          </a:p>
          <a:p>
            <a:r>
              <a:rPr lang="en-IN" dirty="0" smtClean="0"/>
              <a:t>Priority 3 (Medium):   0x200-0x2FF → Temperatures, Balancing status</a:t>
            </a:r>
          </a:p>
          <a:p>
            <a:r>
              <a:rPr lang="en-IN" dirty="0" smtClean="0"/>
              <a:t>Priority 4 (Low):      0x300-0x3FF → Historical data, Statistics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838200" y="5222856"/>
            <a:ext cx="104362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 smtClean="0">
                <a:effectLst/>
                <a:latin typeface="fkGroteskNeue"/>
              </a:rPr>
              <a:t>Collision Resolution: Arbitration field ensures highest priority message wins bus​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02342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416</Words>
  <Application>Microsoft Office PowerPoint</Application>
  <PresentationFormat>Widescreen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fkGroteskNeue</vt:lpstr>
      <vt:lpstr>Office Theme</vt:lpstr>
      <vt:lpstr>Controller Area Network (CAN) Protocol</vt:lpstr>
      <vt:lpstr>CAN Protocol Basics  What is CAN?  </vt:lpstr>
      <vt:lpstr>Key advantages for EVs: </vt:lpstr>
      <vt:lpstr>CAN Message Structure </vt:lpstr>
      <vt:lpstr>PowerPoint Presentation</vt:lpstr>
      <vt:lpstr>CAN Integration in EV Architecture</vt:lpstr>
      <vt:lpstr>Data flow examples </vt:lpstr>
      <vt:lpstr>PowerPoint Presentation</vt:lpstr>
      <vt:lpstr>PowerPoint Presentation</vt:lpstr>
      <vt:lpstr>BMS-to-VCU Communication Example </vt:lpstr>
      <vt:lpstr>VCU Response:</vt:lpstr>
      <vt:lpstr>BMS-Charger Handshake (DC Fast Charging) </vt:lpstr>
      <vt:lpstr>PowerPoint Presentation</vt:lpstr>
      <vt:lpstr>CAN ID Priority (Lower ID = Higher Priority)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Basics</dc:title>
  <dc:creator>Sachin Argade</dc:creator>
  <cp:lastModifiedBy>Sachin Argade</cp:lastModifiedBy>
  <cp:revision>23</cp:revision>
  <dcterms:created xsi:type="dcterms:W3CDTF">2026-02-06T04:59:59Z</dcterms:created>
  <dcterms:modified xsi:type="dcterms:W3CDTF">2026-03-05T10:14:44Z</dcterms:modified>
</cp:coreProperties>
</file>