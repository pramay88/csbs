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319" r:id="rId4"/>
    <p:sldId id="320" r:id="rId5"/>
    <p:sldId id="321" r:id="rId6"/>
    <p:sldId id="322" r:id="rId7"/>
    <p:sldId id="315" r:id="rId8"/>
    <p:sldId id="299" r:id="rId9"/>
    <p:sldId id="300" r:id="rId10"/>
    <p:sldId id="301" r:id="rId11"/>
    <p:sldId id="302" r:id="rId12"/>
    <p:sldId id="280" r:id="rId13"/>
    <p:sldId id="259" r:id="rId14"/>
    <p:sldId id="324" r:id="rId15"/>
    <p:sldId id="323" r:id="rId16"/>
    <p:sldId id="260" r:id="rId17"/>
    <p:sldId id="325" r:id="rId18"/>
    <p:sldId id="326" r:id="rId19"/>
    <p:sldId id="304" r:id="rId20"/>
    <p:sldId id="305" r:id="rId21"/>
    <p:sldId id="303" r:id="rId22"/>
    <p:sldId id="307" r:id="rId23"/>
    <p:sldId id="308" r:id="rId24"/>
    <p:sldId id="309" r:id="rId25"/>
    <p:sldId id="310" r:id="rId26"/>
    <p:sldId id="311" r:id="rId27"/>
    <p:sldId id="312" r:id="rId28"/>
    <p:sldId id="316" r:id="rId29"/>
    <p:sldId id="317" r:id="rId30"/>
    <p:sldId id="313" r:id="rId31"/>
    <p:sldId id="306" r:id="rId32"/>
    <p:sldId id="279" r:id="rId33"/>
    <p:sldId id="283" r:id="rId34"/>
    <p:sldId id="261" r:id="rId35"/>
    <p:sldId id="262" r:id="rId36"/>
    <p:sldId id="263" r:id="rId37"/>
    <p:sldId id="328" r:id="rId38"/>
    <p:sldId id="327" r:id="rId39"/>
    <p:sldId id="264" r:id="rId40"/>
    <p:sldId id="329" r:id="rId41"/>
    <p:sldId id="331" r:id="rId42"/>
    <p:sldId id="265" r:id="rId43"/>
    <p:sldId id="266" r:id="rId44"/>
    <p:sldId id="267" r:id="rId45"/>
    <p:sldId id="268" r:id="rId46"/>
    <p:sldId id="297" r:id="rId47"/>
    <p:sldId id="276" r:id="rId48"/>
    <p:sldId id="273" r:id="rId49"/>
    <p:sldId id="284" r:id="rId50"/>
    <p:sldId id="277" r:id="rId51"/>
    <p:sldId id="269" r:id="rId52"/>
    <p:sldId id="270" r:id="rId53"/>
    <p:sldId id="271" r:id="rId54"/>
    <p:sldId id="272" r:id="rId55"/>
    <p:sldId id="298" r:id="rId56"/>
    <p:sldId id="282" r:id="rId57"/>
    <p:sldId id="318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CB847-1CED-41B6-ACDE-EFA77A5145A2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17966-4CBD-4C54-AB40-8030B256B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617966-4CBD-4C54-AB40-8030B256B1DA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617966-4CBD-4C54-AB40-8030B256B1DA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CA12A-E9F5-45F4-B14C-53AB2CCB7626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11B56-5EDC-4B2E-A4AD-6CF69F0E281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1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Electric and Hybrid Vehicles Technology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Dr. Sachin Argade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Syllabus </a:t>
            </a:r>
          </a:p>
          <a:p>
            <a:r>
              <a:rPr lang="en-US" dirty="0" smtClean="0"/>
              <a:t>Class tests </a:t>
            </a:r>
          </a:p>
          <a:p>
            <a:r>
              <a:rPr lang="en-US" dirty="0" smtClean="0"/>
              <a:t>Class Quizzes </a:t>
            </a:r>
          </a:p>
          <a:p>
            <a:r>
              <a:rPr lang="en-US" dirty="0" smtClean="0"/>
              <a:t>Class Project </a:t>
            </a:r>
          </a:p>
          <a:p>
            <a:r>
              <a:rPr lang="en-US" dirty="0" smtClean="0"/>
              <a:t>Mid Semester exam </a:t>
            </a:r>
          </a:p>
          <a:p>
            <a:r>
              <a:rPr lang="en-US" dirty="0" smtClean="0"/>
              <a:t>End Semester exam 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alt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EEM3202T</a:t>
            </a:r>
            <a:r>
              <a:rPr lang="en-US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Electric and Hybrid Vehicle Technology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0" dirty="0">
                <a:latin typeface="Arial" panose="020B0604020202020204" pitchFamily="34" charset="0"/>
              </a:rPr>
              <a:t/>
            </a:r>
            <a:br>
              <a:rPr lang="en-US" altLang="en-US" sz="6000" dirty="0"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677282"/>
              </p:ext>
            </p:extLst>
          </p:nvPr>
        </p:nvGraphicFramePr>
        <p:xfrm>
          <a:off x="457200" y="1143001"/>
          <a:ext cx="8077200" cy="168719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46506">
                  <a:extLst>
                    <a:ext uri="{9D8B030D-6E8A-4147-A177-3AD203B41FA5}">
                      <a16:colId xmlns:a16="http://schemas.microsoft.com/office/drawing/2014/main" val="3805832982"/>
                    </a:ext>
                  </a:extLst>
                </a:gridCol>
                <a:gridCol w="3530694">
                  <a:extLst>
                    <a:ext uri="{9D8B030D-6E8A-4147-A177-3AD203B41FA5}">
                      <a16:colId xmlns:a16="http://schemas.microsoft.com/office/drawing/2014/main" val="46662698"/>
                    </a:ext>
                  </a:extLst>
                </a:gridCol>
              </a:tblGrid>
              <a:tr h="1219199">
                <a:tc>
                  <a:txBody>
                    <a:bodyPr/>
                    <a:lstStyle/>
                    <a:p>
                      <a:pPr marL="66675" marR="643890"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lang="en-US" sz="3200" b="0" dirty="0">
                          <a:solidFill>
                            <a:schemeClr val="tx1"/>
                          </a:solidFill>
                          <a:effectLst/>
                        </a:rPr>
                        <a:t>Teaching</a:t>
                      </a:r>
                      <a:r>
                        <a:rPr lang="en-US" sz="3200" b="0" spc="4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3200" b="0" dirty="0">
                          <a:solidFill>
                            <a:schemeClr val="tx1"/>
                          </a:solidFill>
                          <a:effectLst/>
                        </a:rPr>
                        <a:t>Scheme:</a:t>
                      </a:r>
                      <a:r>
                        <a:rPr lang="en-US" sz="3200" b="0" spc="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3200" b="0" dirty="0">
                          <a:solidFill>
                            <a:schemeClr val="tx1"/>
                          </a:solidFill>
                          <a:effectLst/>
                        </a:rPr>
                        <a:t>TH:</a:t>
                      </a:r>
                      <a:r>
                        <a:rPr lang="en-US" sz="3200" b="0" spc="7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3200" b="0" dirty="0">
                          <a:solidFill>
                            <a:schemeClr val="tx1"/>
                          </a:solidFill>
                          <a:effectLst/>
                        </a:rPr>
                        <a:t>03</a:t>
                      </a:r>
                      <a:r>
                        <a:rPr lang="en-US" sz="3200" b="0" spc="5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3200" b="0" dirty="0">
                          <a:solidFill>
                            <a:schemeClr val="tx1"/>
                          </a:solidFill>
                          <a:effectLst/>
                        </a:rPr>
                        <a:t>Hours/Week</a:t>
                      </a:r>
                      <a:endParaRPr lang="en-IN" sz="32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66675" marR="294640"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lang="en-US" sz="32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3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1078865"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lang="en-US" sz="3200" b="0" dirty="0">
                          <a:solidFill>
                            <a:schemeClr val="tx1"/>
                          </a:solidFill>
                          <a:effectLst/>
                        </a:rPr>
                        <a:t>Credit</a:t>
                      </a:r>
                      <a:r>
                        <a:rPr lang="en-US" sz="3200" b="0" spc="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3200" b="0" dirty="0">
                          <a:solidFill>
                            <a:schemeClr val="tx1"/>
                          </a:solidFill>
                          <a:effectLst/>
                        </a:rPr>
                        <a:t>TH:</a:t>
                      </a:r>
                      <a:r>
                        <a:rPr lang="en-US" sz="3200" b="0" spc="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3200" b="0" dirty="0">
                          <a:solidFill>
                            <a:schemeClr val="tx1"/>
                          </a:solidFill>
                          <a:effectLst/>
                        </a:rPr>
                        <a:t>03</a:t>
                      </a:r>
                      <a:endParaRPr lang="en-IN" sz="3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28088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1000" y="2438400"/>
            <a:ext cx="8077200" cy="3057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5405" algn="just">
              <a:spcAft>
                <a:spcPts val="0"/>
              </a:spcAft>
            </a:pPr>
            <a:r>
              <a:rPr lang="en-US" sz="3200" dirty="0"/>
              <a:t>Examination</a:t>
            </a:r>
            <a:r>
              <a:rPr lang="en-US" sz="3200" spc="85" dirty="0"/>
              <a:t> </a:t>
            </a:r>
            <a:r>
              <a:rPr lang="en-US" sz="3200" dirty="0"/>
              <a:t>Scheme:</a:t>
            </a:r>
            <a:endParaRPr lang="en-IN" sz="3200" dirty="0"/>
          </a:p>
          <a:p>
            <a:pPr marL="65405" marR="114300" algn="ctr">
              <a:lnSpc>
                <a:spcPct val="117000"/>
              </a:lnSpc>
              <a:spcBef>
                <a:spcPts val="240"/>
              </a:spcBef>
              <a:spcAft>
                <a:spcPts val="0"/>
              </a:spcAft>
            </a:pPr>
            <a:r>
              <a:rPr lang="en-US" sz="3200" dirty="0"/>
              <a:t>In Sem. Evaluation </a:t>
            </a:r>
            <a:r>
              <a:rPr lang="en-US" sz="3200" dirty="0" smtClean="0"/>
              <a:t> :   </a:t>
            </a:r>
            <a:r>
              <a:rPr lang="en-US" sz="3200" dirty="0"/>
              <a:t>20 Marks</a:t>
            </a:r>
            <a:r>
              <a:rPr lang="en-US" sz="3200" spc="5" dirty="0"/>
              <a:t> </a:t>
            </a:r>
            <a:endParaRPr lang="en-IN" sz="3200" dirty="0"/>
          </a:p>
          <a:p>
            <a:pPr marL="65405" marR="114300" algn="ctr">
              <a:lnSpc>
                <a:spcPct val="117000"/>
              </a:lnSpc>
              <a:spcBef>
                <a:spcPts val="240"/>
              </a:spcBef>
              <a:spcAft>
                <a:spcPts val="0"/>
              </a:spcAft>
            </a:pPr>
            <a:r>
              <a:rPr lang="en-US" sz="3200" dirty="0"/>
              <a:t>Mid Sem. Exam</a:t>
            </a:r>
            <a:r>
              <a:rPr lang="en-US" sz="3200" spc="280" dirty="0"/>
              <a:t>   </a:t>
            </a:r>
            <a:r>
              <a:rPr lang="en-US" sz="3200" spc="280" dirty="0" smtClean="0"/>
              <a:t>  </a:t>
            </a:r>
            <a:r>
              <a:rPr lang="en-US" sz="3200" dirty="0" smtClean="0"/>
              <a:t>:    </a:t>
            </a:r>
            <a:r>
              <a:rPr lang="en-US" sz="3200" dirty="0"/>
              <a:t>30 Marks</a:t>
            </a:r>
            <a:r>
              <a:rPr lang="en-US" sz="3200" spc="5" dirty="0"/>
              <a:t> </a:t>
            </a:r>
            <a:endParaRPr lang="en-IN" sz="3200" dirty="0"/>
          </a:p>
          <a:p>
            <a:pPr marL="65405" marR="57150" algn="ctr">
              <a:lnSpc>
                <a:spcPct val="117000"/>
              </a:lnSpc>
              <a:spcBef>
                <a:spcPts val="240"/>
              </a:spcBef>
              <a:spcAft>
                <a:spcPts val="0"/>
              </a:spcAft>
            </a:pPr>
            <a:r>
              <a:rPr lang="en-US" sz="3200" dirty="0"/>
              <a:t>End</a:t>
            </a:r>
            <a:r>
              <a:rPr lang="en-US" sz="3200" spc="10" dirty="0"/>
              <a:t> </a:t>
            </a:r>
            <a:r>
              <a:rPr lang="en-US" sz="3200" dirty="0"/>
              <a:t>Sem.</a:t>
            </a:r>
            <a:r>
              <a:rPr lang="en-US" sz="3200" spc="50" dirty="0"/>
              <a:t> </a:t>
            </a:r>
            <a:r>
              <a:rPr lang="en-US" sz="3200" dirty="0"/>
              <a:t>Exam</a:t>
            </a:r>
            <a:r>
              <a:rPr lang="en-US" sz="3200" spc="195" dirty="0"/>
              <a:t>   </a:t>
            </a:r>
            <a:r>
              <a:rPr lang="en-US" sz="3200" spc="195" dirty="0" smtClean="0"/>
              <a:t>   </a:t>
            </a:r>
            <a:r>
              <a:rPr lang="en-US" sz="3200" dirty="0" smtClean="0"/>
              <a:t>:</a:t>
            </a:r>
            <a:r>
              <a:rPr lang="en-US" sz="3200" spc="35" dirty="0" smtClean="0"/>
              <a:t>    </a:t>
            </a:r>
            <a:r>
              <a:rPr lang="en-US" sz="3200" dirty="0"/>
              <a:t>50</a:t>
            </a:r>
            <a:r>
              <a:rPr lang="en-US" sz="3200" spc="25" dirty="0"/>
              <a:t> </a:t>
            </a:r>
            <a:r>
              <a:rPr lang="en-US" sz="3200" dirty="0"/>
              <a:t>Marks</a:t>
            </a:r>
            <a:endParaRPr lang="en-IN" sz="3200" dirty="0"/>
          </a:p>
          <a:p>
            <a:pPr marL="65405" algn="ctr">
              <a:lnSpc>
                <a:spcPts val="1265"/>
              </a:lnSpc>
              <a:spcAft>
                <a:spcPts val="0"/>
              </a:spcAft>
              <a:tabLst>
                <a:tab pos="1287780" algn="l"/>
              </a:tabLst>
            </a:pPr>
            <a:endParaRPr lang="en-US" sz="3200" dirty="0"/>
          </a:p>
          <a:p>
            <a:pPr marL="65405" algn="ctr">
              <a:lnSpc>
                <a:spcPts val="1265"/>
              </a:lnSpc>
              <a:spcAft>
                <a:spcPts val="0"/>
              </a:spcAft>
              <a:tabLst>
                <a:tab pos="1287780" algn="l"/>
              </a:tabLst>
            </a:pPr>
            <a:endParaRPr lang="en-US" sz="3200" dirty="0" smtClean="0"/>
          </a:p>
          <a:p>
            <a:pPr marL="65405" algn="ctr">
              <a:lnSpc>
                <a:spcPts val="1265"/>
              </a:lnSpc>
              <a:spcAft>
                <a:spcPts val="0"/>
              </a:spcAft>
              <a:tabLst>
                <a:tab pos="1287780" algn="l"/>
              </a:tabLst>
            </a:pPr>
            <a:r>
              <a:rPr lang="en-US" sz="3200" dirty="0" smtClean="0"/>
              <a:t>Total                          :</a:t>
            </a:r>
            <a:r>
              <a:rPr lang="en-US" sz="3200" spc="35" dirty="0" smtClean="0"/>
              <a:t>   100 Marks </a:t>
            </a:r>
            <a:endParaRPr lang="en-US" sz="3200" spc="35" dirty="0"/>
          </a:p>
          <a:p>
            <a:pPr marL="65405" algn="ctr">
              <a:lnSpc>
                <a:spcPts val="1265"/>
              </a:lnSpc>
              <a:spcAft>
                <a:spcPts val="0"/>
              </a:spcAft>
              <a:tabLst>
                <a:tab pos="1287780" algn="l"/>
              </a:tabLst>
            </a:pPr>
            <a:endParaRPr lang="en-IN" sz="3200" dirty="0">
              <a:latin typeface="Times New Roman" panose="02020603050405020304" pitchFamily="18" charset="0"/>
              <a:ea typeface="Times New Roman" panose="02020603050405020304" pitchFamily="18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348496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Course Outcomes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0678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At the end of the semester student should be able to  </a:t>
            </a:r>
          </a:p>
          <a:p>
            <a:r>
              <a:rPr lang="en-IN" dirty="0"/>
              <a:t>CEEM3202T_1: Infer basic architecture of EVs and HEVs, their subsystems </a:t>
            </a:r>
          </a:p>
          <a:p>
            <a:r>
              <a:rPr lang="en-IN" dirty="0"/>
              <a:t>CEEM3202T_2: Interpret performance and selection of energy storage systems in EVs</a:t>
            </a:r>
          </a:p>
          <a:p>
            <a:r>
              <a:rPr lang="en-IN" dirty="0"/>
              <a:t>CEEM3202T_3: Analyze battery management system</a:t>
            </a:r>
          </a:p>
          <a:p>
            <a:r>
              <a:rPr lang="en-IN" dirty="0"/>
              <a:t>CEEM3202T_4: Interpret Power Electronics and Motor Controller subsystem in EVs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45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067800" cy="6705600"/>
          </a:xfrm>
        </p:spPr>
        <p:txBody>
          <a:bodyPr>
            <a:noAutofit/>
          </a:bodyPr>
          <a:lstStyle/>
          <a:p>
            <a:r>
              <a:rPr lang="en-IN" sz="2500" dirty="0" smtClean="0"/>
              <a:t>Before MSE – 2 proctored class Tests (50 Marks each), (4 Marks)  </a:t>
            </a:r>
          </a:p>
          <a:p>
            <a:pPr lvl="1"/>
            <a:r>
              <a:rPr lang="en-IN" sz="2500" dirty="0" smtClean="0"/>
              <a:t>1</a:t>
            </a:r>
            <a:r>
              <a:rPr lang="en-IN" sz="2500" baseline="30000" dirty="0" smtClean="0"/>
              <a:t>st</a:t>
            </a:r>
            <a:r>
              <a:rPr lang="en-IN" sz="2500" dirty="0" smtClean="0"/>
              <a:t> Test after finished 1.5 Units (Unit 1 full and Unit 2 half) Approx.=12 Jan </a:t>
            </a:r>
          </a:p>
          <a:p>
            <a:pPr lvl="1"/>
            <a:r>
              <a:rPr lang="en-IN" sz="2500" dirty="0" smtClean="0"/>
              <a:t>2</a:t>
            </a:r>
            <a:r>
              <a:rPr lang="en-IN" sz="2500" baseline="30000" dirty="0" smtClean="0"/>
              <a:t>nd</a:t>
            </a:r>
            <a:r>
              <a:rPr lang="en-IN" sz="2500" dirty="0" smtClean="0"/>
              <a:t> Test after finishing next 1.5 Units  (Remaining Unit 2 and Unit 3 Complete) Approx.= 11 Feb </a:t>
            </a:r>
          </a:p>
          <a:p>
            <a:r>
              <a:rPr lang="en-IN" sz="2500" dirty="0" smtClean="0"/>
              <a:t>After MSE – 2 </a:t>
            </a:r>
            <a:r>
              <a:rPr lang="en-IN" sz="2500" dirty="0"/>
              <a:t>proctored class </a:t>
            </a:r>
            <a:r>
              <a:rPr lang="en-IN" sz="2500" dirty="0" smtClean="0"/>
              <a:t>Tests (50 Marks each), (4 Marks)</a:t>
            </a:r>
          </a:p>
          <a:p>
            <a:pPr lvl="1"/>
            <a:r>
              <a:rPr lang="en-IN" sz="2500" dirty="0" smtClean="0"/>
              <a:t>3</a:t>
            </a:r>
            <a:r>
              <a:rPr lang="en-IN" sz="2500" baseline="30000" dirty="0" smtClean="0"/>
              <a:t>rd</a:t>
            </a:r>
            <a:r>
              <a:rPr lang="en-IN" sz="2500" dirty="0" smtClean="0"/>
              <a:t> Test </a:t>
            </a:r>
            <a:r>
              <a:rPr lang="en-IN" sz="2500" dirty="0"/>
              <a:t>after finished 1.5 Units </a:t>
            </a:r>
            <a:r>
              <a:rPr lang="en-IN" sz="2500" dirty="0" smtClean="0"/>
              <a:t>(Unit 4 full and Unit 5 Half) </a:t>
            </a:r>
            <a:endParaRPr lang="en-IN" sz="2500" dirty="0"/>
          </a:p>
          <a:p>
            <a:pPr lvl="1"/>
            <a:r>
              <a:rPr lang="en-IN" sz="2500" dirty="0" smtClean="0"/>
              <a:t>4</a:t>
            </a:r>
            <a:r>
              <a:rPr lang="en-IN" sz="2500" baseline="30000" dirty="0" smtClean="0"/>
              <a:t>th</a:t>
            </a:r>
            <a:r>
              <a:rPr lang="en-IN" sz="2500" dirty="0" smtClean="0"/>
              <a:t> Test </a:t>
            </a:r>
            <a:r>
              <a:rPr lang="en-IN" sz="2500" dirty="0"/>
              <a:t>after finishing next 1.5 Units </a:t>
            </a:r>
            <a:r>
              <a:rPr lang="en-IN" sz="2500" dirty="0" smtClean="0"/>
              <a:t> (Remaining Unit 5 and Unit 6 Complete)</a:t>
            </a:r>
            <a:endParaRPr lang="en-IN" sz="2500" dirty="0"/>
          </a:p>
          <a:p>
            <a:r>
              <a:rPr lang="en-IN" sz="2500" dirty="0" smtClean="0"/>
              <a:t>Class Project/ Case Study: </a:t>
            </a:r>
            <a:r>
              <a:rPr lang="en-IN" sz="2500" b="1" dirty="0" smtClean="0"/>
              <a:t>Individual</a:t>
            </a:r>
            <a:r>
              <a:rPr lang="en-IN" sz="2500" dirty="0" smtClean="0"/>
              <a:t>: Presentations and report (typed) will carry marks. (8Marks). </a:t>
            </a:r>
          </a:p>
          <a:p>
            <a:pPr lvl="1"/>
            <a:r>
              <a:rPr lang="en-IN" sz="2500" dirty="0" smtClean="0"/>
              <a:t>It will be declared on 29</a:t>
            </a:r>
            <a:r>
              <a:rPr lang="en-IN" sz="2500" baseline="30000" dirty="0" smtClean="0"/>
              <a:t>th</a:t>
            </a:r>
            <a:r>
              <a:rPr lang="en-IN" sz="2500" dirty="0" smtClean="0"/>
              <a:t> December 2025 </a:t>
            </a:r>
          </a:p>
          <a:p>
            <a:r>
              <a:rPr lang="en-IN" sz="2500" dirty="0" smtClean="0"/>
              <a:t>Continuous in class quizzes, they will be surprise quizzes. (2 Marks)</a:t>
            </a:r>
          </a:p>
          <a:p>
            <a:r>
              <a:rPr lang="en-IN" sz="2500" dirty="0"/>
              <a:t> </a:t>
            </a:r>
            <a:r>
              <a:rPr lang="en-IN" sz="2500" dirty="0" smtClean="0"/>
              <a:t>Total for ISE = 20 Marks 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415988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Make a 100 Pages note book for tests and quizzes. You should have it with you for each and every class. Quizzes can happen any time. </a:t>
            </a:r>
          </a:p>
          <a:p>
            <a:r>
              <a:rPr lang="en-IN" dirty="0" smtClean="0"/>
              <a:t>MSE- first 3 Units – 30 Marks </a:t>
            </a:r>
          </a:p>
          <a:p>
            <a:r>
              <a:rPr lang="en-IN" dirty="0" smtClean="0"/>
              <a:t>ESE- All 6 Units – 50 Marks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208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Types of Vehicles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 smtClean="0"/>
              <a:t>Conventional gasoline vehicle (gasoline fuel and ICE),</a:t>
            </a:r>
          </a:p>
          <a:p>
            <a:r>
              <a:rPr lang="en-US" dirty="0" smtClean="0"/>
              <a:t>Hybrid vehicle (gasoline fuel, electrical drive, and large rechargeable battery),</a:t>
            </a:r>
          </a:p>
          <a:p>
            <a:r>
              <a:rPr lang="en-US" dirty="0" smtClean="0"/>
              <a:t>Electric vehicle (high-capacity electrical battery and electrical drive/generator),</a:t>
            </a:r>
          </a:p>
          <a:p>
            <a:r>
              <a:rPr lang="en-US" dirty="0" smtClean="0"/>
              <a:t>Hydrogen fuel cell vehicle (high-pressure hydrogen fuel tank, fuel cell, electrical drive),</a:t>
            </a:r>
          </a:p>
          <a:p>
            <a:r>
              <a:rPr lang="en-US" dirty="0" smtClean="0"/>
              <a:t>Hydrogen internal combustion vehicle (high-pressure hydrogen fuel tank and ICE),</a:t>
            </a:r>
          </a:p>
          <a:p>
            <a:r>
              <a:rPr lang="en-US" dirty="0" smtClean="0"/>
              <a:t> Ammonia-fueled vehicle (liquid ammonia fuel tank, ammonia thermo-catalytic decomposition and separation unit to generate pure hydrogen, hydrogen-fueled ICE).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57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Electric?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 smtClean="0"/>
              <a:t>The </a:t>
            </a:r>
            <a:r>
              <a:rPr lang="en-IN" b="1" dirty="0"/>
              <a:t>Origin Story:</a:t>
            </a:r>
            <a:r>
              <a:rPr lang="en-IN" dirty="0"/>
              <a:t> Early Electric Vehicles (1830s–1910). </a:t>
            </a:r>
            <a:endParaRPr lang="en-IN" dirty="0" smtClean="0"/>
          </a:p>
          <a:p>
            <a:r>
              <a:rPr lang="en-IN" b="1" dirty="0" smtClean="0"/>
              <a:t>The </a:t>
            </a:r>
            <a:r>
              <a:rPr lang="en-IN" b="1" dirty="0"/>
              <a:t>Great Pause:</a:t>
            </a:r>
            <a:r>
              <a:rPr lang="en-IN" dirty="0"/>
              <a:t> The Rise of the Internal Combustion Engine (ICE). </a:t>
            </a:r>
            <a:endParaRPr lang="en-IN" dirty="0" smtClean="0"/>
          </a:p>
          <a:p>
            <a:r>
              <a:rPr lang="en-IN" b="1" dirty="0" smtClean="0"/>
              <a:t>The </a:t>
            </a:r>
            <a:r>
              <a:rPr lang="en-IN" b="1" dirty="0"/>
              <a:t>Modern Rebirth:</a:t>
            </a:r>
            <a:r>
              <a:rPr lang="en-IN" dirty="0"/>
              <a:t> From Hybrid to High-Performance EVs. </a:t>
            </a:r>
            <a:endParaRPr lang="en-IN" dirty="0" smtClean="0"/>
          </a:p>
          <a:p>
            <a:r>
              <a:rPr lang="en-IN" b="1" dirty="0" smtClean="0"/>
              <a:t>The </a:t>
            </a:r>
            <a:r>
              <a:rPr lang="en-IN" b="1" dirty="0"/>
              <a:t>Imperative:</a:t>
            </a:r>
            <a:r>
              <a:rPr lang="en-IN" dirty="0"/>
              <a:t> Environmental &amp; Climate Impact. </a:t>
            </a:r>
            <a:endParaRPr lang="en-IN" dirty="0" smtClean="0"/>
          </a:p>
          <a:p>
            <a:r>
              <a:rPr lang="en-IN" b="1" dirty="0" smtClean="0"/>
              <a:t>The </a:t>
            </a:r>
            <a:r>
              <a:rPr lang="en-IN" b="1" dirty="0"/>
              <a:t>Benefit:</a:t>
            </a:r>
            <a:r>
              <a:rPr lang="en-IN" dirty="0"/>
              <a:t> Social, Health, and Economic Importance.</a:t>
            </a:r>
          </a:p>
        </p:txBody>
      </p:sp>
    </p:spTree>
    <p:extLst>
      <p:ext uri="{BB962C8B-B14F-4D97-AF65-F5344CB8AC3E}">
        <p14:creationId xmlns:p14="http://schemas.microsoft.com/office/powerpoint/2010/main" val="385152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 History, Part I: Faster Than the Ford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1830s:</a:t>
            </a:r>
            <a:r>
              <a:rPr lang="en-IN" dirty="0"/>
              <a:t> Early prototypes by pioneers like Anderson and Parker. </a:t>
            </a:r>
          </a:p>
          <a:p>
            <a:r>
              <a:rPr lang="en-IN" b="1" dirty="0" smtClean="0"/>
              <a:t>1900</a:t>
            </a:r>
            <a:r>
              <a:rPr lang="en-IN" b="1" dirty="0"/>
              <a:t>:</a:t>
            </a:r>
            <a:r>
              <a:rPr lang="en-IN" dirty="0"/>
              <a:t> Peak Popularity—Nearly </a:t>
            </a:r>
            <a:r>
              <a:rPr lang="en-IN" dirty="0" smtClean="0"/>
              <a:t>1/3 of </a:t>
            </a:r>
            <a:r>
              <a:rPr lang="en-IN" dirty="0"/>
              <a:t>vehicles in the U.S. were electric. </a:t>
            </a:r>
          </a:p>
          <a:p>
            <a:r>
              <a:rPr lang="en-IN" b="1" dirty="0" smtClean="0"/>
              <a:t>Key </a:t>
            </a:r>
            <a:r>
              <a:rPr lang="en-IN" b="1" dirty="0"/>
              <a:t>Advantages:</a:t>
            </a:r>
            <a:r>
              <a:rPr lang="en-IN" dirty="0"/>
              <a:t> Quiet, </a:t>
            </a:r>
            <a:r>
              <a:rPr lang="en-IN" dirty="0" smtClean="0"/>
              <a:t>odourless, </a:t>
            </a:r>
            <a:r>
              <a:rPr lang="en-IN" dirty="0"/>
              <a:t>and easy to operate (no manual cranking). </a:t>
            </a:r>
          </a:p>
          <a:p>
            <a:r>
              <a:rPr lang="en-IN" b="1" dirty="0" smtClean="0"/>
              <a:t>Target </a:t>
            </a:r>
            <a:r>
              <a:rPr lang="en-IN" b="1" dirty="0"/>
              <a:t>Market:</a:t>
            </a:r>
            <a:r>
              <a:rPr lang="en-IN" dirty="0"/>
              <a:t> Highly popular with women and urban drivers.</a:t>
            </a:r>
          </a:p>
        </p:txBody>
      </p:sp>
    </p:spTree>
    <p:extLst>
      <p:ext uri="{BB962C8B-B14F-4D97-AF65-F5344CB8AC3E}">
        <p14:creationId xmlns:p14="http://schemas.microsoft.com/office/powerpoint/2010/main" val="394217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 History, Part II: The End of the First Era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1908</a:t>
            </a:r>
            <a:r>
              <a:rPr lang="en-US" b="1" dirty="0"/>
              <a:t>:</a:t>
            </a:r>
            <a:r>
              <a:rPr lang="en-US" dirty="0"/>
              <a:t> Henry Ford's </a:t>
            </a:r>
            <a:r>
              <a:rPr lang="en-US" b="1" dirty="0"/>
              <a:t>Model T</a:t>
            </a:r>
            <a:r>
              <a:rPr lang="en-US" dirty="0"/>
              <a:t> introduces mass-production, making gasoline cars affordable. 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1912</a:t>
            </a:r>
            <a:r>
              <a:rPr lang="en-US" b="1" dirty="0"/>
              <a:t>:</a:t>
            </a:r>
            <a:r>
              <a:rPr lang="en-US" dirty="0"/>
              <a:t> The invention of the </a:t>
            </a:r>
            <a:r>
              <a:rPr lang="en-US" b="1" dirty="0"/>
              <a:t>Electric Starter</a:t>
            </a:r>
            <a:r>
              <a:rPr lang="en-US" dirty="0"/>
              <a:t> eliminates the dangerous hand-crank for ICE cars. </a:t>
            </a:r>
          </a:p>
          <a:p>
            <a:r>
              <a:rPr lang="en-US" b="1" dirty="0" smtClean="0"/>
              <a:t>Infrastructure</a:t>
            </a:r>
            <a:r>
              <a:rPr lang="en-US" b="1" dirty="0"/>
              <a:t>:</a:t>
            </a:r>
            <a:r>
              <a:rPr lang="en-US" dirty="0"/>
              <a:t> Cheap, abundant oil and better roads favored long-distance ICE travel. 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Outcome</a:t>
            </a:r>
            <a:r>
              <a:rPr lang="en-US" b="1" dirty="0"/>
              <a:t>:</a:t>
            </a:r>
            <a:r>
              <a:rPr lang="en-US" dirty="0"/>
              <a:t> EVs were relegated to niche uses by the 1930s.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86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Modern Revival: The Road to High-Performance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1970s:</a:t>
            </a:r>
            <a:r>
              <a:rPr lang="en-IN" dirty="0"/>
              <a:t> Oil crises spur renewed interest in alternatives (briefly). </a:t>
            </a:r>
          </a:p>
          <a:p>
            <a:r>
              <a:rPr lang="en-IN" b="1" dirty="0" smtClean="0"/>
              <a:t>1997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b="1" dirty="0"/>
              <a:t>Toyota Prius</a:t>
            </a:r>
            <a:r>
              <a:rPr lang="en-IN" dirty="0"/>
              <a:t> popularizes the </a:t>
            </a:r>
            <a:r>
              <a:rPr lang="en-IN" b="1" dirty="0"/>
              <a:t>Hybrid Electric Vehicle (HEV)</a:t>
            </a:r>
            <a:r>
              <a:rPr lang="en-IN" dirty="0"/>
              <a:t> concept. </a:t>
            </a:r>
          </a:p>
          <a:p>
            <a:r>
              <a:rPr lang="en-IN" b="1" dirty="0" smtClean="0"/>
              <a:t>1990s</a:t>
            </a:r>
            <a:r>
              <a:rPr lang="en-IN" b="1" dirty="0"/>
              <a:t>:</a:t>
            </a:r>
            <a:r>
              <a:rPr lang="en-IN" dirty="0"/>
              <a:t> Government mandates (e.g., California ZEV) prompt corporate development (GM EV1). </a:t>
            </a:r>
            <a:endParaRPr lang="en-IN" dirty="0" smtClean="0"/>
          </a:p>
          <a:p>
            <a:r>
              <a:rPr lang="en-IN" b="1" dirty="0" smtClean="0"/>
              <a:t>2008:</a:t>
            </a:r>
            <a:r>
              <a:rPr lang="en-IN" dirty="0" smtClean="0"/>
              <a:t> </a:t>
            </a:r>
            <a:r>
              <a:rPr lang="en-IN" b="1" dirty="0"/>
              <a:t>Tesla</a:t>
            </a:r>
            <a:r>
              <a:rPr lang="en-IN" dirty="0"/>
              <a:t> utilizes </a:t>
            </a:r>
            <a:r>
              <a:rPr lang="en-IN" b="1" dirty="0"/>
              <a:t>Lithium-ion batteries</a:t>
            </a:r>
            <a:r>
              <a:rPr lang="en-IN" dirty="0"/>
              <a:t> to deliver high performance and long range, launching the modern EV era.</a:t>
            </a:r>
          </a:p>
        </p:txBody>
      </p:sp>
    </p:spTree>
    <p:extLst>
      <p:ext uri="{BB962C8B-B14F-4D97-AF65-F5344CB8AC3E}">
        <p14:creationId xmlns:p14="http://schemas.microsoft.com/office/powerpoint/2010/main" val="324707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archive.nptel.ac.in/content/storage2/courses/108103009/module1/lec1/images/3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04800"/>
            <a:ext cx="89154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</a:t>
            </a:r>
            <a:r>
              <a:rPr lang="en-US" smtClean="0"/>
              <a:t>Electric Vehicles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Nitrogen Oxides</a:t>
            </a:r>
          </a:p>
          <a:p>
            <a:r>
              <a:rPr lang="en-US" dirty="0" smtClean="0"/>
              <a:t>Carbon Monoxide</a:t>
            </a:r>
          </a:p>
          <a:p>
            <a:r>
              <a:rPr lang="en-US" dirty="0" smtClean="0"/>
              <a:t>Unburned Hydrocarbons</a:t>
            </a:r>
          </a:p>
          <a:p>
            <a:r>
              <a:rPr lang="en-US" dirty="0" smtClean="0"/>
              <a:t>Other Pollutants</a:t>
            </a:r>
          </a:p>
          <a:p>
            <a:r>
              <a:rPr lang="en-US" dirty="0" smtClean="0"/>
              <a:t>Global Warming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981200"/>
            <a:ext cx="7091990" cy="4171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3365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838200"/>
            <a:ext cx="8190619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3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Petroleum resources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933" y="2373840"/>
            <a:ext cx="8509591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2399"/>
            <a:ext cx="5257800" cy="667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76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080"/>
            <a:ext cx="8695280" cy="660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4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Societal Benefits: Quieter, Healthier Communities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Public Health:</a:t>
            </a:r>
            <a:r>
              <a:rPr lang="en-US" dirty="0"/>
              <a:t> Reduced air pollution leads to fewer respiratory illnesses and early deaths in cities. </a:t>
            </a:r>
          </a:p>
          <a:p>
            <a:r>
              <a:rPr lang="en-US" b="1" dirty="0" smtClean="0"/>
              <a:t>Noise </a:t>
            </a:r>
            <a:r>
              <a:rPr lang="en-US" b="1" dirty="0"/>
              <a:t>Reduction:</a:t>
            </a:r>
            <a:r>
              <a:rPr lang="en-US" dirty="0"/>
              <a:t> Significantly quieter motors reduce noise pollution, improving urban tranquility. </a:t>
            </a:r>
          </a:p>
          <a:p>
            <a:r>
              <a:rPr lang="en-US" b="1" dirty="0" smtClean="0"/>
              <a:t>Energy </a:t>
            </a:r>
            <a:r>
              <a:rPr lang="en-US" b="1" dirty="0"/>
              <a:t>Security:</a:t>
            </a:r>
            <a:r>
              <a:rPr lang="en-US" dirty="0"/>
              <a:t> Reduces reliance on volatile global oil markets, stabilizing national energy supply. </a:t>
            </a:r>
          </a:p>
          <a:p>
            <a:r>
              <a:rPr lang="en-US" b="1" dirty="0" smtClean="0"/>
              <a:t>V2G </a:t>
            </a:r>
            <a:r>
              <a:rPr lang="en-US" b="1" dirty="0"/>
              <a:t>Potential:</a:t>
            </a:r>
            <a:r>
              <a:rPr lang="en-US" dirty="0"/>
              <a:t> Vehicle-to-Grid technology allows EVs to support the grid during peak demand.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07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Economic Impact: Lower Costs, New Opportunities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Fuel Cost Savings:</a:t>
            </a:r>
            <a:r>
              <a:rPr lang="en-US" dirty="0"/>
              <a:t> Electricity is significantly cheaper per mile than gasoline in most regions. </a:t>
            </a:r>
          </a:p>
          <a:p>
            <a:r>
              <a:rPr lang="en-US" b="1" dirty="0" smtClean="0"/>
              <a:t>Lower </a:t>
            </a:r>
            <a:r>
              <a:rPr lang="en-US" b="1" dirty="0"/>
              <a:t>Maintenance:</a:t>
            </a:r>
            <a:r>
              <a:rPr lang="en-US" dirty="0"/>
              <a:t> Fewer moving parts means reduced service needs (no oil changes, fewer brake pad replacements). </a:t>
            </a:r>
          </a:p>
          <a:p>
            <a:r>
              <a:rPr lang="en-US" b="1" dirty="0" smtClean="0"/>
              <a:t>Job </a:t>
            </a:r>
            <a:r>
              <a:rPr lang="en-US" b="1" dirty="0"/>
              <a:t>Creation:</a:t>
            </a:r>
            <a:r>
              <a:rPr lang="en-US" dirty="0"/>
              <a:t> Growth in battery manufacturing, charging infrastructure installation, and software development. </a:t>
            </a:r>
          </a:p>
          <a:p>
            <a:r>
              <a:rPr lang="en-US" b="1" dirty="0" smtClean="0"/>
              <a:t>Global </a:t>
            </a:r>
            <a:r>
              <a:rPr lang="en-US" b="1" dirty="0"/>
              <a:t>Competitiveness:</a:t>
            </a:r>
            <a:r>
              <a:rPr lang="en-US" dirty="0"/>
              <a:t> Positioning nations as leaders in future transportation technology.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43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3717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Environmental Imperative: Cleaning the Air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28600" y="1254777"/>
            <a:ext cx="8686799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Zero Tailpipe Emissions: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Immediately removes harmful pollutants (NOₓ, PM) from dense urban areas.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Lower Lifetime Emissions: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Even with manufacturing and grid energy, EVs generally result in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lower lifetime CO₂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than ICEs. </a:t>
            </a:r>
            <a:endParaRPr lang="en-US" alt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Grid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Decarbonization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EV benefits grow substantially as power generation shifts to renewables (Solar, Wind). </a:t>
            </a:r>
            <a:endParaRPr lang="en-US" alt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Energy Efficiency: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Electric motors convert </a:t>
            </a:r>
            <a:r>
              <a:rPr lang="en-US" altLang="en-US" sz="2800" dirty="0" smtClean="0">
                <a:latin typeface="Google Sans Text"/>
              </a:rPr>
              <a:t>approx.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77\%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of energy to motion, vs.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12–30%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ICEs.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67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environmental impact analysis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All stages of the life cycle were considered, starting from </a:t>
            </a:r>
          </a:p>
          <a:p>
            <a:pPr lvl="1"/>
            <a:r>
              <a:rPr lang="en-US" dirty="0" smtClean="0"/>
              <a:t>The extraction of natural resources to produce materials and</a:t>
            </a:r>
          </a:p>
          <a:p>
            <a:pPr lvl="1"/>
            <a:r>
              <a:rPr lang="en-US" dirty="0" smtClean="0"/>
              <a:t>Ending with conversion of the energy stored onboard the vehicle into mechanical energy for vehicle displacement and</a:t>
            </a:r>
          </a:p>
          <a:p>
            <a:pPr lvl="1"/>
            <a:r>
              <a:rPr lang="en-US" dirty="0" smtClean="0"/>
              <a:t>Other purposes (heating, cooling, lighting, etc.).</a:t>
            </a:r>
          </a:p>
          <a:p>
            <a:r>
              <a:rPr lang="en-US" dirty="0" smtClean="0"/>
              <a:t>In addition, vehicle production stages and end-of-life disposal are considered</a:t>
            </a:r>
          </a:p>
          <a:p>
            <a:r>
              <a:rPr lang="en-US" dirty="0" smtClean="0"/>
              <a:t>As it contributes to environmental impact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70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Economical Analysis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Vehicle price,</a:t>
            </a:r>
          </a:p>
          <a:p>
            <a:r>
              <a:rPr lang="en-US" dirty="0" smtClean="0"/>
              <a:t>Fuel cost, and</a:t>
            </a:r>
          </a:p>
          <a:p>
            <a:r>
              <a:rPr lang="en-US" dirty="0" smtClean="0"/>
              <a:t>Driving range.</a:t>
            </a:r>
          </a:p>
          <a:p>
            <a:r>
              <a:rPr lang="en-US" dirty="0" smtClean="0"/>
              <a:t>Maintenance costs</a:t>
            </a:r>
          </a:p>
          <a:p>
            <a:pPr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 rot="20746954">
            <a:off x="4252609" y="2110015"/>
            <a:ext cx="3886200" cy="2847904"/>
          </a:xfrm>
          <a:prstGeom prst="ellipse">
            <a:avLst/>
          </a:prstGeom>
          <a:solidFill>
            <a:schemeClr val="accent1">
              <a:alpha val="0"/>
            </a:schemeClr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953000" y="2590800"/>
            <a:ext cx="228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Cost of Battery replacement in </a:t>
            </a:r>
            <a:r>
              <a:rPr lang="en-US" sz="2800" dirty="0" err="1" smtClean="0"/>
              <a:t>Evs</a:t>
            </a:r>
            <a:r>
              <a:rPr lang="en-US" sz="2800" dirty="0" smtClean="0"/>
              <a:t> and HEVs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644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archive.nptel.ac.in/content/storage2/courses/108103009/module1/lec2/images/q1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52400"/>
            <a:ext cx="82296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5029200" y="1905000"/>
            <a:ext cx="914400" cy="5334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59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Environmental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Air pollution (AP) </a:t>
            </a:r>
          </a:p>
          <a:p>
            <a:pPr lvl="1"/>
            <a:r>
              <a:rPr lang="en-US" dirty="0" smtClean="0"/>
              <a:t>The main GHGs were CO</a:t>
            </a:r>
            <a:r>
              <a:rPr lang="en-US" baseline="-25000" dirty="0" smtClean="0"/>
              <a:t>2</a:t>
            </a:r>
            <a:r>
              <a:rPr lang="en-US" dirty="0" smtClean="0"/>
              <a:t> , CH</a:t>
            </a:r>
            <a:r>
              <a:rPr lang="en-US" baseline="-25000" dirty="0" smtClean="0"/>
              <a:t>4</a:t>
            </a:r>
            <a:r>
              <a:rPr lang="en-US" dirty="0" smtClean="0"/>
              <a:t> , N</a:t>
            </a:r>
            <a:r>
              <a:rPr lang="en-US" baseline="-25000" dirty="0" smtClean="0"/>
              <a:t>2</a:t>
            </a:r>
            <a:r>
              <a:rPr lang="en-US" dirty="0" smtClean="0"/>
              <a:t>O, and SF</a:t>
            </a:r>
            <a:r>
              <a:rPr lang="en-US" baseline="-25000" dirty="0" smtClean="0"/>
              <a:t>6</a:t>
            </a:r>
            <a:r>
              <a:rPr lang="en-US" dirty="0" smtClean="0"/>
              <a:t> (sulfur hexafluoride), which have GHG impact weighting coefficients relative to CO</a:t>
            </a:r>
            <a:r>
              <a:rPr lang="en-US" baseline="-25000" dirty="0" smtClean="0"/>
              <a:t>2</a:t>
            </a:r>
            <a:r>
              <a:rPr lang="en-US" dirty="0" smtClean="0"/>
              <a:t> of 1, 21, 310, and 24,900, respectively.</a:t>
            </a:r>
          </a:p>
          <a:p>
            <a:r>
              <a:rPr lang="en-US" dirty="0" smtClean="0"/>
              <a:t>Greenhouse gas (GHG) emissions</a:t>
            </a:r>
          </a:p>
          <a:p>
            <a:pPr lvl="1"/>
            <a:r>
              <a:rPr lang="en-US" dirty="0" smtClean="0"/>
              <a:t>For AP, the airborne pollutants CO, NO</a:t>
            </a:r>
            <a:r>
              <a:rPr lang="en-US" baseline="-25000" dirty="0" smtClean="0"/>
              <a:t>X</a:t>
            </a:r>
            <a:r>
              <a:rPr lang="en-US" dirty="0" smtClean="0"/>
              <a:t> , SO</a:t>
            </a:r>
            <a:r>
              <a:rPr lang="en-US" baseline="-25000" dirty="0" smtClean="0"/>
              <a:t>X</a:t>
            </a:r>
            <a:r>
              <a:rPr lang="en-US" dirty="0" smtClean="0"/>
              <a:t> , and VOCs are assigned the following weighting coefficients: 0.017, 1, 1.3, and 0.64, respectively.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66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  The vehicle production stage contributes to the total life cycle environmental impact through the pollution associated with</a:t>
            </a:r>
          </a:p>
          <a:p>
            <a:pPr lvl="0"/>
            <a:r>
              <a:rPr lang="en-US" dirty="0" smtClean="0"/>
              <a:t> The extraction and processing of material resources,</a:t>
            </a:r>
          </a:p>
          <a:p>
            <a:r>
              <a:rPr lang="en-US" dirty="0" smtClean="0"/>
              <a:t>Manufacturing and</a:t>
            </a:r>
          </a:p>
          <a:p>
            <a:r>
              <a:rPr lang="en-US" dirty="0" smtClean="0"/>
              <a:t>The vehicle disposal stage.</a:t>
            </a:r>
          </a:p>
          <a:p>
            <a:r>
              <a:rPr lang="en-US" dirty="0" smtClean="0"/>
              <a:t>Additional sources of GHG and AP emissions were associated with the fuel production and utilization stages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12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archive.nptel.ac.in/content/storage2/courses/108103009/module1/lec2/images/q5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91440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3149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electricity production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Regarding electricity production for the electric cars</a:t>
            </a:r>
          </a:p>
          <a:p>
            <a:pPr lvl="1"/>
            <a:r>
              <a:rPr lang="en-US" dirty="0" smtClean="0"/>
              <a:t>when electricity is produced from renewable energy sources and nuclear energy;</a:t>
            </a:r>
          </a:p>
          <a:p>
            <a:pPr lvl="1"/>
            <a:r>
              <a:rPr lang="en-US" dirty="0" smtClean="0"/>
              <a:t>when 50% of the electricity is produced from renewable energy sources and 50% from natural gas at an efficiency of 40%;</a:t>
            </a:r>
          </a:p>
          <a:p>
            <a:pPr lvl="1"/>
            <a:r>
              <a:rPr lang="en-US" dirty="0" smtClean="0"/>
              <a:t>when electricity is produced from natural gas at an efficiency of 40%.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94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archive.nptel.ac.in/content/storage2/courses/108103009/module1/lec2/images/q2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9144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https://archive.nptel.ac.in/content/storage2/courses/108103009/module1/lec2/images/q3.JP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00400"/>
            <a:ext cx="914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6356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Results of technical–economical–environmental Analysis: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This analysis showed that the hybrid and electric cars have advantages over the others</a:t>
            </a:r>
          </a:p>
          <a:p>
            <a:r>
              <a:rPr lang="en-US" dirty="0" smtClean="0"/>
              <a:t>If electricity is generated from renewable energy sources, the electric car is advantageous to the hybrid vehicle</a:t>
            </a:r>
          </a:p>
          <a:p>
            <a:r>
              <a:rPr lang="en-US" dirty="0" smtClean="0"/>
              <a:t>If the electricity is generated from fossil fuels, the electric car remains competitive only if the electricity is generated onboard.</a:t>
            </a:r>
          </a:p>
          <a:p>
            <a:r>
              <a:rPr lang="en-US" dirty="0" smtClean="0"/>
              <a:t>If the electricity is generated with an efficiency of 50–60% by a gas turbine engine connected to a high-capacity battery and electric motor, the electric car is superior in many respects.</a:t>
            </a:r>
          </a:p>
          <a:p>
            <a:r>
              <a:rPr lang="en-US" dirty="0" smtClean="0"/>
              <a:t>For electricity-generation scenarios 2 and 3, using ammonia as a means to store hydrogen onboard a vehicle is the best option among those analyzed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70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Hurdles to Mass Adoption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Charging Infrastructure:</a:t>
            </a:r>
            <a:r>
              <a:rPr lang="en-US" dirty="0"/>
              <a:t> Expanding accessible public fast-charging networks across all routes. </a:t>
            </a:r>
          </a:p>
          <a:p>
            <a:r>
              <a:rPr lang="en-US" b="1" dirty="0" smtClean="0"/>
              <a:t>Battery </a:t>
            </a:r>
            <a:r>
              <a:rPr lang="en-US" b="1" dirty="0"/>
              <a:t>Technology:</a:t>
            </a:r>
            <a:r>
              <a:rPr lang="en-US" dirty="0"/>
              <a:t> Reducing costs, improving density, and accelerating charging speeds (e.g., solid-state). </a:t>
            </a:r>
          </a:p>
          <a:p>
            <a:r>
              <a:rPr lang="en-US" b="1" dirty="0" smtClean="0"/>
              <a:t>Raw </a:t>
            </a:r>
            <a:r>
              <a:rPr lang="en-US" b="1" dirty="0"/>
              <a:t>Materials:</a:t>
            </a:r>
            <a:r>
              <a:rPr lang="en-US" dirty="0"/>
              <a:t> Ensuring ethical sourcing and implementing robust battery recycling programs. </a:t>
            </a:r>
          </a:p>
          <a:p>
            <a:r>
              <a:rPr lang="en-US" b="1" dirty="0" smtClean="0"/>
              <a:t>Initial </a:t>
            </a:r>
            <a:r>
              <a:rPr lang="en-US" b="1" dirty="0"/>
              <a:t>Cost:</a:t>
            </a:r>
            <a:r>
              <a:rPr lang="en-US" dirty="0"/>
              <a:t> Making EVs affordable for the mass market without heavy subsidies.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879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399" y="533400"/>
            <a:ext cx="8328991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5313" y="2133600"/>
            <a:ext cx="795337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3886200"/>
            <a:ext cx="792480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7200"/>
            <a:ext cx="9117465" cy="6019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Freeform 4"/>
          <p:cNvSpPr/>
          <p:nvPr/>
        </p:nvSpPr>
        <p:spPr>
          <a:xfrm>
            <a:off x="2057400" y="1066800"/>
            <a:ext cx="1551161" cy="629216"/>
          </a:xfrm>
          <a:custGeom>
            <a:avLst/>
            <a:gdLst>
              <a:gd name="connsiteX0" fmla="*/ 0 w 1551161"/>
              <a:gd name="connsiteY0" fmla="*/ 525101 h 629216"/>
              <a:gd name="connsiteX1" fmla="*/ 660903 w 1551161"/>
              <a:gd name="connsiteY1" fmla="*/ 0 h 629216"/>
              <a:gd name="connsiteX2" fmla="*/ 1412341 w 1551161"/>
              <a:gd name="connsiteY2" fmla="*/ 525101 h 629216"/>
              <a:gd name="connsiteX3" fmla="*/ 1493822 w 1551161"/>
              <a:gd name="connsiteY3" fmla="*/ 624689 h 629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1161" h="629216">
                <a:moveTo>
                  <a:pt x="0" y="525101"/>
                </a:moveTo>
                <a:cubicBezTo>
                  <a:pt x="212756" y="262550"/>
                  <a:pt x="425513" y="0"/>
                  <a:pt x="660903" y="0"/>
                </a:cubicBezTo>
                <a:cubicBezTo>
                  <a:pt x="896293" y="0"/>
                  <a:pt x="1273521" y="420986"/>
                  <a:pt x="1412341" y="525101"/>
                </a:cubicBezTo>
                <a:cubicBezTo>
                  <a:pt x="1551161" y="629216"/>
                  <a:pt x="1367074" y="583948"/>
                  <a:pt x="1493822" y="624689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733800" y="1219200"/>
            <a:ext cx="1551161" cy="629216"/>
          </a:xfrm>
          <a:custGeom>
            <a:avLst/>
            <a:gdLst>
              <a:gd name="connsiteX0" fmla="*/ 0 w 1551161"/>
              <a:gd name="connsiteY0" fmla="*/ 525101 h 629216"/>
              <a:gd name="connsiteX1" fmla="*/ 660903 w 1551161"/>
              <a:gd name="connsiteY1" fmla="*/ 0 h 629216"/>
              <a:gd name="connsiteX2" fmla="*/ 1412341 w 1551161"/>
              <a:gd name="connsiteY2" fmla="*/ 525101 h 629216"/>
              <a:gd name="connsiteX3" fmla="*/ 1493822 w 1551161"/>
              <a:gd name="connsiteY3" fmla="*/ 624689 h 629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1161" h="629216">
                <a:moveTo>
                  <a:pt x="0" y="525101"/>
                </a:moveTo>
                <a:cubicBezTo>
                  <a:pt x="212756" y="262550"/>
                  <a:pt x="425513" y="0"/>
                  <a:pt x="660903" y="0"/>
                </a:cubicBezTo>
                <a:cubicBezTo>
                  <a:pt x="896293" y="0"/>
                  <a:pt x="1273521" y="420986"/>
                  <a:pt x="1412341" y="525101"/>
                </a:cubicBezTo>
                <a:cubicBezTo>
                  <a:pt x="1551161" y="629216"/>
                  <a:pt x="1367074" y="583948"/>
                  <a:pt x="1493822" y="624689"/>
                </a:cubicBezTo>
              </a:path>
            </a:pathLst>
          </a:cu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/>
          <p:cNvCxnSpPr/>
          <p:nvPr/>
        </p:nvCxnSpPr>
        <p:spPr>
          <a:xfrm rot="16200000" flipV="1">
            <a:off x="2514600" y="2971800"/>
            <a:ext cx="1371600" cy="152400"/>
          </a:xfrm>
          <a:prstGeom prst="curvedConnector3">
            <a:avLst>
              <a:gd name="adj1" fmla="val 50000"/>
            </a:avLst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066800" y="2057400"/>
            <a:ext cx="609600" cy="2286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943600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Vehicle Acceleration (According to </a:t>
            </a:r>
            <a:r>
              <a:rPr lang="en-US" dirty="0" err="1"/>
              <a:t>newtons</a:t>
            </a:r>
            <a:r>
              <a:rPr lang="en-US" dirty="0"/>
              <a:t> second law)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48463" y="2736671"/>
            <a:ext cx="2362200" cy="1002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0" name="Group 9"/>
          <p:cNvGrpSpPr/>
          <p:nvPr/>
        </p:nvGrpSpPr>
        <p:grpSpPr>
          <a:xfrm rot="18713858">
            <a:off x="3413200" y="757292"/>
            <a:ext cx="3399827" cy="1457424"/>
            <a:chOff x="4419600" y="1524000"/>
            <a:chExt cx="4343400" cy="1371600"/>
          </a:xfrm>
        </p:grpSpPr>
        <p:sp>
          <p:nvSpPr>
            <p:cNvPr id="8" name="Left Arrow 7"/>
            <p:cNvSpPr/>
            <p:nvPr/>
          </p:nvSpPr>
          <p:spPr>
            <a:xfrm>
              <a:off x="4419600" y="1524000"/>
              <a:ext cx="4343400" cy="1371600"/>
            </a:xfrm>
            <a:prstGeom prst="leftArrow">
              <a:avLst>
                <a:gd name="adj1" fmla="val 40071"/>
                <a:gd name="adj2" fmla="val 50000"/>
              </a:avLst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37547" y="1833771"/>
              <a:ext cx="3276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is the total tractive effort of the vehicle</a:t>
              </a:r>
              <a:endParaRPr lang="en-US" sz="2000" dirty="0"/>
            </a:p>
          </p:txBody>
        </p:sp>
      </p:grpSp>
      <p:grpSp>
        <p:nvGrpSpPr>
          <p:cNvPr id="13" name="Group 12"/>
          <p:cNvGrpSpPr/>
          <p:nvPr/>
        </p:nvGrpSpPr>
        <p:grpSpPr>
          <a:xfrm rot="18682508">
            <a:off x="4199977" y="2839561"/>
            <a:ext cx="3124200" cy="1642908"/>
            <a:chOff x="3581400" y="1676400"/>
            <a:chExt cx="3124200" cy="1600200"/>
          </a:xfrm>
        </p:grpSpPr>
        <p:sp>
          <p:nvSpPr>
            <p:cNvPr id="11" name="Up Arrow Callout 10"/>
            <p:cNvSpPr/>
            <p:nvPr/>
          </p:nvSpPr>
          <p:spPr>
            <a:xfrm>
              <a:off x="3581400" y="1676400"/>
              <a:ext cx="3124200" cy="1600200"/>
            </a:xfrm>
            <a:prstGeom prst="upArrowCallout">
              <a:avLst/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33800" y="2362200"/>
              <a:ext cx="2971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Is the total resistance,</a:t>
              </a:r>
              <a:endParaRPr lang="en-US" sz="2400" dirty="0"/>
            </a:p>
          </p:txBody>
        </p:sp>
      </p:grpSp>
      <p:grpSp>
        <p:nvGrpSpPr>
          <p:cNvPr id="16" name="Group 15"/>
          <p:cNvGrpSpPr/>
          <p:nvPr/>
        </p:nvGrpSpPr>
        <p:grpSpPr>
          <a:xfrm rot="20041857">
            <a:off x="1157513" y="3329737"/>
            <a:ext cx="3094865" cy="1674411"/>
            <a:chOff x="856201" y="996935"/>
            <a:chExt cx="3639598" cy="2344760"/>
          </a:xfrm>
        </p:grpSpPr>
        <p:sp>
          <p:nvSpPr>
            <p:cNvPr id="14" name="Right Arrow Callout 13"/>
            <p:cNvSpPr/>
            <p:nvPr/>
          </p:nvSpPr>
          <p:spPr>
            <a:xfrm>
              <a:off x="856201" y="1066799"/>
              <a:ext cx="3639598" cy="2274896"/>
            </a:xfrm>
            <a:prstGeom prst="rightArrowCallout">
              <a:avLst/>
            </a:prstGeom>
            <a:solidFill>
              <a:schemeClr val="accent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31734" y="996935"/>
              <a:ext cx="1828800" cy="1323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 err="1" smtClean="0"/>
                <a:t>Mv</a:t>
              </a:r>
              <a:r>
                <a:rPr lang="en-US" sz="2000" i="1" dirty="0" smtClean="0"/>
                <a:t> is the total mass of the vehicle, and δ is the mass factor,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 txBox="1">
            <a:spLocks noGrp="1"/>
          </p:cNvSpPr>
          <p:nvPr>
            <p:ph idx="1"/>
          </p:nvPr>
        </p:nvSpPr>
        <p:spPr>
          <a:xfrm>
            <a:off x="990600" y="1524000"/>
            <a:ext cx="6705600" cy="3834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Total Tractive Force</a:t>
            </a:r>
          </a:p>
          <a:p>
            <a:pPr marL="342900" indent="-342900">
              <a:buAutoNum type="arabicPeriod"/>
            </a:pPr>
            <a:r>
              <a:rPr lang="en-US" dirty="0" smtClean="0"/>
              <a:t>Rolling Resistance Force(</a:t>
            </a:r>
            <a:r>
              <a:rPr lang="en-US" dirty="0" err="1" smtClean="0"/>
              <a:t>F</a:t>
            </a:r>
            <a:r>
              <a:rPr lang="en-US" baseline="-25000" dirty="0" err="1" smtClean="0"/>
              <a:t>rr</a:t>
            </a:r>
            <a:r>
              <a:rPr lang="en-US" dirty="0" smtClean="0"/>
              <a:t>)</a:t>
            </a:r>
          </a:p>
          <a:p>
            <a:pPr marL="342900" indent="-342900">
              <a:buAutoNum type="arabicPeriod"/>
            </a:pPr>
            <a:r>
              <a:rPr lang="en-US" dirty="0" smtClean="0"/>
              <a:t>Aerodynamic drag force(</a:t>
            </a:r>
            <a:r>
              <a:rPr lang="en-US" dirty="0" err="1" smtClean="0"/>
              <a:t>F</a:t>
            </a:r>
            <a:r>
              <a:rPr lang="en-US" baseline="-25000" dirty="0" err="1" smtClean="0"/>
              <a:t>aero</a:t>
            </a:r>
            <a:r>
              <a:rPr lang="en-US" dirty="0" smtClean="0"/>
              <a:t>)</a:t>
            </a:r>
          </a:p>
          <a:p>
            <a:pPr marL="342900" indent="-342900">
              <a:buAutoNum type="arabicPeriod"/>
            </a:pPr>
            <a:r>
              <a:rPr lang="en-US" dirty="0" smtClean="0"/>
              <a:t>Hill climbing Force(</a:t>
            </a:r>
            <a:r>
              <a:rPr lang="en-US" dirty="0" err="1" smtClean="0"/>
              <a:t>F</a:t>
            </a:r>
            <a:r>
              <a:rPr lang="en-US" baseline="-25000" dirty="0" err="1" smtClean="0"/>
              <a:t>hc</a:t>
            </a:r>
            <a:r>
              <a:rPr lang="en-US" dirty="0" smtClean="0"/>
              <a:t>)</a:t>
            </a:r>
          </a:p>
          <a:p>
            <a:pPr marL="342900" indent="-342900">
              <a:buAutoNum type="arabicPeriod"/>
            </a:pPr>
            <a:r>
              <a:rPr lang="en-US" dirty="0" smtClean="0"/>
              <a:t>Acceleration Force(</a:t>
            </a:r>
            <a:r>
              <a:rPr lang="en-US" dirty="0" err="1" smtClean="0"/>
              <a:t>F</a:t>
            </a:r>
            <a:r>
              <a:rPr lang="en-US" baseline="-25000" dirty="0" err="1" smtClean="0"/>
              <a:t>xi</a:t>
            </a:r>
            <a:r>
              <a:rPr lang="en-US" dirty="0" smtClean="0"/>
              <a:t>)</a:t>
            </a:r>
          </a:p>
          <a:p>
            <a:pPr marL="342900" lvl="2" indent="-342900"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      Linear Acceleration Force</a:t>
            </a:r>
          </a:p>
          <a:p>
            <a:pPr marL="342900" lvl="2" indent="-342900"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      Angular acceleration force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Total Power Required</a:t>
            </a:r>
            <a:endParaRPr lang="en-US" dirty="0"/>
          </a:p>
        </p:txBody>
      </p:sp>
      <p:sp>
        <p:nvSpPr>
          <p:cNvPr id="22" name="Content Placeholder 21"/>
          <p:cNvSpPr txBox="1">
            <a:spLocks noGrp="1"/>
          </p:cNvSpPr>
          <p:nvPr>
            <p:ph idx="1"/>
          </p:nvPr>
        </p:nvSpPr>
        <p:spPr>
          <a:xfrm>
            <a:off x="152400" y="1219200"/>
            <a:ext cx="8534400" cy="111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Total Power P = </a:t>
            </a:r>
            <a:r>
              <a:rPr lang="en-US" sz="2800" dirty="0" err="1" smtClean="0"/>
              <a:t>F</a:t>
            </a:r>
            <a:r>
              <a:rPr lang="en-US" sz="2800" baseline="-25000" dirty="0" err="1" smtClean="0"/>
              <a:t>te</a:t>
            </a:r>
            <a:r>
              <a:rPr lang="en-US" sz="2800" baseline="-25000" dirty="0" smtClean="0"/>
              <a:t> </a:t>
            </a:r>
            <a:r>
              <a:rPr lang="en-US" sz="2800" dirty="0" smtClean="0"/>
              <a:t>. V</a:t>
            </a:r>
          </a:p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52400" y="1676400"/>
            <a:ext cx="8686800" cy="134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F</a:t>
            </a:r>
            <a:r>
              <a:rPr lang="en-US" sz="2800" baseline="-25000" dirty="0" err="1"/>
              <a:t>te</a:t>
            </a:r>
            <a:r>
              <a:rPr lang="en-US" sz="2800" baseline="-25000" dirty="0"/>
              <a:t> </a:t>
            </a:r>
            <a:r>
              <a:rPr lang="en-US" sz="2800" dirty="0" smtClean="0"/>
              <a:t> (Total Tractive Power)  = </a:t>
            </a:r>
            <a:r>
              <a:rPr lang="en-US" sz="2800" dirty="0" err="1" smtClean="0"/>
              <a:t>F</a:t>
            </a:r>
            <a:r>
              <a:rPr lang="en-US" sz="2800" baseline="-25000" dirty="0" err="1" smtClean="0"/>
              <a:t>rr</a:t>
            </a:r>
            <a:r>
              <a:rPr lang="en-US" sz="2800" dirty="0" smtClean="0"/>
              <a:t> + F</a:t>
            </a:r>
            <a:r>
              <a:rPr lang="en-US" sz="2800" baseline="-25000" dirty="0" smtClean="0"/>
              <a:t>ad</a:t>
            </a:r>
            <a:r>
              <a:rPr lang="en-US" sz="2800" dirty="0" smtClean="0"/>
              <a:t> + </a:t>
            </a:r>
            <a:r>
              <a:rPr lang="en-US" sz="2800" dirty="0" err="1" smtClean="0"/>
              <a:t>F</a:t>
            </a:r>
            <a:r>
              <a:rPr lang="en-US" sz="2800" baseline="-25000" dirty="0" err="1" smtClean="0"/>
              <a:t>hc</a:t>
            </a:r>
            <a:r>
              <a:rPr lang="en-US" sz="2800" dirty="0" smtClean="0"/>
              <a:t> + </a:t>
            </a:r>
            <a:r>
              <a:rPr lang="en-US" sz="2800" dirty="0" err="1" smtClean="0"/>
              <a:t>F</a:t>
            </a:r>
            <a:r>
              <a:rPr lang="en-US" sz="2800" baseline="-25000" dirty="0" err="1" smtClean="0"/>
              <a:t>la</a:t>
            </a:r>
            <a:r>
              <a:rPr lang="en-US" sz="2800" dirty="0" smtClean="0"/>
              <a:t> + </a:t>
            </a:r>
            <a:r>
              <a:rPr lang="en-US" sz="2800" dirty="0" err="1" smtClean="0"/>
              <a:t>F</a:t>
            </a:r>
            <a:r>
              <a:rPr lang="en-US" sz="2800" baseline="-25000" dirty="0" err="1" smtClean="0"/>
              <a:t>wa</a:t>
            </a:r>
            <a:endParaRPr lang="en-US" sz="2800" baseline="-25000" dirty="0" smtClean="0"/>
          </a:p>
          <a:p>
            <a:endParaRPr lang="en-US" sz="3200" baseline="-25000" dirty="0"/>
          </a:p>
          <a:p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228600" y="2286000"/>
            <a:ext cx="8001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F</a:t>
            </a:r>
            <a:r>
              <a:rPr lang="en-US" sz="2800" baseline="-25000" dirty="0" err="1"/>
              <a:t>rr</a:t>
            </a:r>
            <a:r>
              <a:rPr lang="en-US" sz="2800" dirty="0"/>
              <a:t> </a:t>
            </a:r>
            <a:r>
              <a:rPr lang="en-US" sz="2800" dirty="0" smtClean="0"/>
              <a:t> - Rolling Resistance Force</a:t>
            </a:r>
          </a:p>
          <a:p>
            <a:r>
              <a:rPr lang="en-US" sz="2800" dirty="0" smtClean="0"/>
              <a:t>F</a:t>
            </a:r>
            <a:r>
              <a:rPr lang="en-US" sz="2800" baseline="-25000" dirty="0" smtClean="0"/>
              <a:t>ad</a:t>
            </a:r>
            <a:r>
              <a:rPr lang="en-US" sz="2800" dirty="0" smtClean="0"/>
              <a:t> – Aerodynamic Drag Force</a:t>
            </a:r>
          </a:p>
          <a:p>
            <a:r>
              <a:rPr lang="en-US" sz="2800" dirty="0" err="1" smtClean="0"/>
              <a:t>F</a:t>
            </a:r>
            <a:r>
              <a:rPr lang="en-US" sz="2800" baseline="-25000" dirty="0" err="1" smtClean="0"/>
              <a:t>hc</a:t>
            </a:r>
            <a:r>
              <a:rPr lang="en-US" sz="2800" dirty="0" smtClean="0"/>
              <a:t>  - Hill Climbing Force</a:t>
            </a:r>
          </a:p>
          <a:p>
            <a:r>
              <a:rPr lang="en-US" sz="2800" dirty="0" err="1" smtClean="0"/>
              <a:t>F</a:t>
            </a:r>
            <a:r>
              <a:rPr lang="en-US" sz="2800" baseline="-25000" dirty="0" err="1" smtClean="0"/>
              <a:t>la</a:t>
            </a:r>
            <a:r>
              <a:rPr lang="en-US" sz="2800" dirty="0" smtClean="0"/>
              <a:t>  - Linear Acceleration Force</a:t>
            </a:r>
          </a:p>
          <a:p>
            <a:r>
              <a:rPr lang="en-US" sz="2800" dirty="0" err="1" smtClean="0"/>
              <a:t>F</a:t>
            </a:r>
            <a:r>
              <a:rPr lang="en-US" sz="2800" baseline="-25000" dirty="0" err="1" smtClean="0"/>
              <a:t>wa</a:t>
            </a:r>
            <a:r>
              <a:rPr lang="en-US" sz="2800" dirty="0" smtClean="0"/>
              <a:t>  -  Angular Acceleration Force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5410200"/>
            <a:ext cx="30480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F</a:t>
            </a:r>
            <a:r>
              <a:rPr lang="en-US" sz="2800" baseline="-25000" dirty="0" err="1" smtClean="0"/>
              <a:t>rr</a:t>
            </a:r>
            <a:r>
              <a:rPr lang="en-US" sz="2800" baseline="-25000" dirty="0" smtClean="0"/>
              <a:t> </a:t>
            </a:r>
            <a:r>
              <a:rPr lang="en-US" sz="2800" dirty="0" smtClean="0"/>
              <a:t>= µ</a:t>
            </a:r>
            <a:r>
              <a:rPr lang="en-US" sz="2800" baseline="-25000" dirty="0" err="1" smtClean="0"/>
              <a:t>rr</a:t>
            </a:r>
            <a:r>
              <a:rPr lang="en-US" sz="2800" dirty="0" smtClean="0"/>
              <a:t> </a:t>
            </a:r>
            <a:r>
              <a:rPr lang="en-US" sz="2800" dirty="0" err="1" smtClean="0"/>
              <a:t>m.g</a:t>
            </a:r>
            <a:endParaRPr lang="en-US" sz="2800" baseline="-25000" dirty="0"/>
          </a:p>
        </p:txBody>
      </p:sp>
      <p:sp>
        <p:nvSpPr>
          <p:cNvPr id="7" name="TextBox 6"/>
          <p:cNvSpPr txBox="1"/>
          <p:nvPr/>
        </p:nvSpPr>
        <p:spPr>
          <a:xfrm>
            <a:off x="4343400" y="4648200"/>
            <a:ext cx="4419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 smtClean="0"/>
              <a:t>µ</a:t>
            </a:r>
            <a:r>
              <a:rPr lang="en-US" sz="2800" baseline="-25000" dirty="0" err="1" smtClean="0"/>
              <a:t>rr</a:t>
            </a:r>
            <a:r>
              <a:rPr lang="en-US" sz="2800" dirty="0" smtClean="0"/>
              <a:t>  - Rolling Resistance Constant</a:t>
            </a:r>
          </a:p>
          <a:p>
            <a:pPr marL="285750" indent="-285750">
              <a:buFontTx/>
              <a:buChar char="-"/>
            </a:pPr>
            <a:r>
              <a:rPr lang="en-US" sz="2800" dirty="0" smtClean="0"/>
              <a:t>m - Mass of the Vehicle </a:t>
            </a:r>
          </a:p>
          <a:p>
            <a:pPr marL="285750" indent="-285750">
              <a:buFontTx/>
              <a:buChar char="-"/>
            </a:pPr>
            <a:r>
              <a:rPr lang="en-US" sz="2800" dirty="0" smtClean="0"/>
              <a:t>g - Gravitational acceleration constant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152400" y="4648200"/>
            <a:ext cx="36613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Rolling Resistance Force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60887" y="1600200"/>
            <a:ext cx="742222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87569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https://archive.nptel.ac.in/content/storage2/courses/108103009/module2/lec3/images/22222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37958"/>
            <a:ext cx="8229600" cy="5115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3199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381000"/>
            <a:ext cx="47073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Aerodynamic Drag </a:t>
            </a:r>
            <a:r>
              <a:rPr lang="en-US" dirty="0" smtClean="0"/>
              <a:t>Force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7391400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i="1" dirty="0" smtClean="0"/>
              <a:t>F</a:t>
            </a:r>
            <a:r>
              <a:rPr lang="en-US" sz="2800" i="1" baseline="-25000" dirty="0" smtClean="0"/>
              <a:t>ad</a:t>
            </a:r>
            <a:r>
              <a:rPr lang="en-US" sz="2800" dirty="0"/>
              <a:t> = ½</a:t>
            </a:r>
            <a:r>
              <a:rPr lang="el-GR" sz="2800" dirty="0"/>
              <a:t>ρ</a:t>
            </a:r>
            <a:r>
              <a:rPr lang="en-US" sz="2800" i="1" dirty="0" smtClean="0"/>
              <a:t>C</a:t>
            </a:r>
            <a:r>
              <a:rPr lang="en-US" sz="2800" i="1" baseline="-25000" dirty="0"/>
              <a:t>d</a:t>
            </a:r>
            <a:r>
              <a:rPr lang="en-US" sz="2800" i="1" dirty="0" smtClean="0"/>
              <a:t>Av</a:t>
            </a:r>
            <a:r>
              <a:rPr lang="en-US" sz="2800" baseline="30000" dirty="0" smtClean="0"/>
              <a:t>2 </a:t>
            </a:r>
            <a:r>
              <a:rPr lang="en-US" sz="2800" dirty="0" smtClean="0"/>
              <a:t> </a:t>
            </a:r>
            <a:r>
              <a:rPr lang="en-US" sz="2800" dirty="0" err="1" smtClean="0"/>
              <a:t>Newtons</a:t>
            </a:r>
            <a:endParaRPr lang="en-US" sz="28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381000" y="1828800"/>
            <a:ext cx="4800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400" dirty="0" smtClean="0">
                <a:latin typeface="Palatino"/>
              </a:rPr>
              <a:t>ρ</a:t>
            </a:r>
            <a:r>
              <a:rPr lang="en-US" sz="2400" dirty="0" smtClean="0">
                <a:latin typeface="Palatino"/>
              </a:rPr>
              <a:t> – Air Density kg/m</a:t>
            </a:r>
            <a:r>
              <a:rPr lang="en-US" sz="2400" baseline="30000" dirty="0" smtClean="0">
                <a:latin typeface="Palatino"/>
              </a:rPr>
              <a:t>3</a:t>
            </a:r>
          </a:p>
          <a:p>
            <a:r>
              <a:rPr lang="en-US" sz="2400" i="1" dirty="0" smtClean="0">
                <a:latin typeface="Palatino"/>
              </a:rPr>
              <a:t>A – Frontal Area m</a:t>
            </a:r>
            <a:r>
              <a:rPr lang="en-US" sz="2400" i="1" baseline="30000" dirty="0" smtClean="0">
                <a:latin typeface="Palatino"/>
              </a:rPr>
              <a:t>2</a:t>
            </a:r>
          </a:p>
          <a:p>
            <a:r>
              <a:rPr lang="en-US" sz="2400" i="1" dirty="0" smtClean="0">
                <a:latin typeface="Palatino"/>
              </a:rPr>
              <a:t>C</a:t>
            </a:r>
            <a:r>
              <a:rPr lang="en-US" sz="2400" i="1" baseline="-25000" dirty="0" smtClean="0">
                <a:latin typeface="Palatino"/>
              </a:rPr>
              <a:t>d</a:t>
            </a:r>
            <a:r>
              <a:rPr lang="en-US" sz="2400" i="1" dirty="0" smtClean="0">
                <a:latin typeface="Palatino"/>
              </a:rPr>
              <a:t> – Drag Coefficient</a:t>
            </a:r>
          </a:p>
          <a:p>
            <a:r>
              <a:rPr lang="en-US" sz="2400" i="1" dirty="0" smtClean="0">
                <a:latin typeface="Palatino"/>
              </a:rPr>
              <a:t>v  - Velocity of the Vehicle m/s</a:t>
            </a:r>
            <a:r>
              <a:rPr lang="en-US" sz="2400" baseline="30000" dirty="0" smtClean="0">
                <a:latin typeface="Palatino"/>
              </a:rPr>
              <a:t> 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81000" y="54864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00600" y="1828800"/>
          <a:ext cx="3835400" cy="1929638"/>
        </p:xfrm>
        <a:graphic>
          <a:graphicData uri="http://schemas.openxmlformats.org/drawingml/2006/table">
            <a:tbl>
              <a:tblPr/>
              <a:tblGrid>
                <a:gridCol w="383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E232B"/>
                          </a:solidFill>
                          <a:latin typeface="+mj-lt"/>
                          <a:ea typeface="Times New Roman"/>
                          <a:cs typeface="Mangal"/>
                        </a:rPr>
                        <a:t> </a:t>
                      </a:r>
                      <a:r>
                        <a:rPr lang="en-US" sz="2400" dirty="0">
                          <a:solidFill>
                            <a:srgbClr val="0E232B"/>
                          </a:solidFill>
                          <a:latin typeface="+mj-lt"/>
                          <a:ea typeface="Times New Roman"/>
                          <a:cs typeface="Mangal"/>
                        </a:rPr>
                        <a:t>Reference values for drag coefficient (</a:t>
                      </a:r>
                      <a:r>
                        <a:rPr lang="en-US" sz="2400" b="1" i="1" dirty="0">
                          <a:solidFill>
                            <a:srgbClr val="0E232B"/>
                          </a:solidFill>
                          <a:latin typeface="+mj-lt"/>
                          <a:ea typeface="Times New Roman"/>
                          <a:cs typeface="Mangal"/>
                        </a:rPr>
                        <a:t>C</a:t>
                      </a:r>
                      <a:r>
                        <a:rPr lang="en-US" sz="2400" b="1" baseline="-25000" dirty="0">
                          <a:solidFill>
                            <a:srgbClr val="0E232B"/>
                          </a:solidFill>
                          <a:latin typeface="+mj-lt"/>
                          <a:ea typeface="Times New Roman"/>
                          <a:cs typeface="Mangal"/>
                        </a:rPr>
                        <a:t>D</a:t>
                      </a:r>
                      <a:r>
                        <a:rPr lang="en-US" sz="2400" dirty="0">
                          <a:solidFill>
                            <a:srgbClr val="0E232B"/>
                          </a:solidFill>
                          <a:latin typeface="+mj-lt"/>
                          <a:ea typeface="Times New Roman"/>
                          <a:cs typeface="Mangal"/>
                        </a:rPr>
                        <a:t>) and the frontal area (</a:t>
                      </a:r>
                      <a:r>
                        <a:rPr lang="en-US" sz="2400" b="1" i="1" dirty="0" err="1">
                          <a:solidFill>
                            <a:srgbClr val="0E232B"/>
                          </a:solidFill>
                          <a:latin typeface="+mj-lt"/>
                          <a:ea typeface="Times New Roman"/>
                          <a:cs typeface="Mangal"/>
                        </a:rPr>
                        <a:t>A</a:t>
                      </a:r>
                      <a:r>
                        <a:rPr lang="en-US" sz="2400" b="1" i="1" baseline="-25000" dirty="0" err="1">
                          <a:solidFill>
                            <a:srgbClr val="0E232B"/>
                          </a:solidFill>
                          <a:latin typeface="+mj-lt"/>
                          <a:ea typeface="Times New Roman"/>
                          <a:cs typeface="Mangal"/>
                        </a:rPr>
                        <a:t>f</a:t>
                      </a:r>
                      <a:r>
                        <a:rPr lang="en-US" sz="2400" dirty="0">
                          <a:solidFill>
                            <a:srgbClr val="0E232B"/>
                          </a:solidFill>
                          <a:latin typeface="+mj-lt"/>
                          <a:ea typeface="Times New Roman"/>
                          <a:cs typeface="Mangal"/>
                        </a:rPr>
                        <a:t> in m</a:t>
                      </a:r>
                      <a:r>
                        <a:rPr lang="en-US" sz="2400" b="1" baseline="30000" dirty="0">
                          <a:solidFill>
                            <a:srgbClr val="0E232B"/>
                          </a:solidFill>
                          <a:latin typeface="+mj-lt"/>
                          <a:ea typeface="Times New Roman"/>
                          <a:cs typeface="Mangal"/>
                        </a:rPr>
                        <a:t>2</a:t>
                      </a:r>
                      <a:r>
                        <a:rPr lang="en-US" sz="2400" dirty="0">
                          <a:solidFill>
                            <a:srgbClr val="0E232B"/>
                          </a:solidFill>
                          <a:latin typeface="+mj-lt"/>
                          <a:ea typeface="Times New Roman"/>
                          <a:cs typeface="Mangal"/>
                        </a:rPr>
                        <a:t>) for some vehicle types</a:t>
                      </a:r>
                      <a:endParaRPr lang="en-US" sz="2400" dirty="0">
                        <a:latin typeface="+mj-lt"/>
                        <a:ea typeface="Calibri"/>
                        <a:cs typeface="Mangal"/>
                      </a:endParaRPr>
                    </a:p>
                  </a:txBody>
                  <a:tcPr marL="9525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</a:pPr>
                      <a:endParaRPr lang="en-US" sz="2000" dirty="0">
                        <a:solidFill>
                          <a:srgbClr val="0E232B"/>
                        </a:solidFill>
                        <a:latin typeface="+mj-lt"/>
                        <a:ea typeface="Times New Roman"/>
                        <a:cs typeface="Mangal"/>
                      </a:endParaRPr>
                    </a:p>
                  </a:txBody>
                  <a:tcPr marL="9525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Picture 47" descr="https://archive.nptel.ac.in/content/storage2/courses/108103009/module2/lec3/images/1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3466498"/>
            <a:ext cx="5638800" cy="338134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7000" y="1524000"/>
            <a:ext cx="912891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0562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1505" y="631638"/>
            <a:ext cx="449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Hill Climbing 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5800" y="742752"/>
            <a:ext cx="34290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err="1" smtClean="0"/>
              <a:t>F</a:t>
            </a:r>
            <a:r>
              <a:rPr lang="en-US" sz="3200" baseline="-25000" dirty="0" err="1" smtClean="0"/>
              <a:t>hc</a:t>
            </a:r>
            <a:r>
              <a:rPr lang="en-US" sz="3200" dirty="0" smtClean="0"/>
              <a:t> = </a:t>
            </a:r>
            <a:r>
              <a:rPr lang="en-US" sz="3200" dirty="0" err="1" smtClean="0"/>
              <a:t>m.g.Sin</a:t>
            </a:r>
            <a:r>
              <a:rPr lang="el-GR" sz="3200" dirty="0"/>
              <a:t> </a:t>
            </a:r>
            <a:r>
              <a:rPr lang="el-GR" sz="3200" dirty="0" smtClean="0"/>
              <a:t>θ</a:t>
            </a:r>
            <a:r>
              <a:rPr lang="en-US" sz="3200" dirty="0" smtClean="0"/>
              <a:t> </a:t>
            </a:r>
            <a:endParaRPr lang="en-US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8798" y="1567363"/>
            <a:ext cx="438953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Linear </a:t>
            </a:r>
            <a:r>
              <a:rPr lang="en-US" sz="3200" dirty="0"/>
              <a:t>Acceleration </a:t>
            </a:r>
            <a:r>
              <a:rPr lang="en-US" sz="3200" dirty="0" smtClean="0"/>
              <a:t>Force</a:t>
            </a:r>
          </a:p>
          <a:p>
            <a:endParaRPr lang="en-US" sz="3200" dirty="0"/>
          </a:p>
        </p:txBody>
      </p:sp>
      <p:sp>
        <p:nvSpPr>
          <p:cNvPr id="7" name="Rectangle 6"/>
          <p:cNvSpPr/>
          <p:nvPr/>
        </p:nvSpPr>
        <p:spPr>
          <a:xfrm>
            <a:off x="5039004" y="1700916"/>
            <a:ext cx="19319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3200" dirty="0"/>
              <a:t>(</a:t>
            </a:r>
            <a:r>
              <a:rPr lang="en-US" sz="3200" dirty="0" err="1"/>
              <a:t>F</a:t>
            </a:r>
            <a:r>
              <a:rPr lang="en-US" sz="3200" baseline="-25000" dirty="0" err="1"/>
              <a:t>la</a:t>
            </a:r>
            <a:r>
              <a:rPr lang="en-US" sz="3200" dirty="0"/>
              <a:t>)  = </a:t>
            </a:r>
            <a:r>
              <a:rPr lang="en-US" sz="3200" dirty="0" err="1"/>
              <a:t>m.a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838200" y="3673098"/>
            <a:ext cx="25146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Rise / Run</a:t>
            </a:r>
          </a:p>
          <a:p>
            <a:endParaRPr lang="en-US" sz="2800" b="1" dirty="0" smtClean="0"/>
          </a:p>
          <a:p>
            <a:r>
              <a:rPr lang="en-US" sz="2800" b="1" dirty="0" err="1" smtClean="0"/>
              <a:t>F</a:t>
            </a:r>
            <a:r>
              <a:rPr lang="en-US" sz="2800" b="1" baseline="-25000" dirty="0" err="1" smtClean="0"/>
              <a:t>hc</a:t>
            </a:r>
            <a:r>
              <a:rPr lang="en-US" sz="2800" b="1" dirty="0" smtClean="0"/>
              <a:t> = </a:t>
            </a:r>
            <a:r>
              <a:rPr lang="en-US" sz="2800" b="1" dirty="0" err="1" smtClean="0"/>
              <a:t>m.g.Sin</a:t>
            </a:r>
            <a:r>
              <a:rPr lang="el-GR" sz="2800" b="1" dirty="0"/>
              <a:t> θ </a:t>
            </a:r>
            <a:endParaRPr lang="en-US" sz="2800" b="1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133" y="2438400"/>
            <a:ext cx="6172200" cy="4724400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308798" y="5105400"/>
            <a:ext cx="2872364" cy="1576034"/>
            <a:chOff x="4140548" y="2759661"/>
            <a:chExt cx="2872364" cy="1576034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4140548" y="2759661"/>
              <a:ext cx="2592473" cy="1258208"/>
            </a:xfrm>
            <a:prstGeom prst="rt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304453" y="4027918"/>
              <a:ext cx="5132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Run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 rot="16200000">
              <a:off x="6587154" y="336746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Rise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 rot="20221986">
              <a:off x="5037905" y="3083097"/>
              <a:ext cx="7312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Length</a:t>
              </a:r>
              <a:endParaRPr lang="en-US" dirty="0"/>
            </a:p>
          </p:txBody>
        </p:sp>
        <p:sp>
          <p:nvSpPr>
            <p:cNvPr id="16" name="Arc 15"/>
            <p:cNvSpPr/>
            <p:nvPr/>
          </p:nvSpPr>
          <p:spPr>
            <a:xfrm>
              <a:off x="4351930" y="3842658"/>
              <a:ext cx="351503" cy="403438"/>
            </a:xfrm>
            <a:prstGeom prst="arc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701969" y="3656198"/>
              <a:ext cx="64518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l-GR" sz="2400" dirty="0" smtClean="0"/>
                <a:t>θ</a:t>
              </a:r>
              <a:endParaRPr lang="en-US" sz="2400" dirty="0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2905404" y="3532862"/>
            <a:ext cx="4267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400" b="1" dirty="0" smtClean="0"/>
              <a:t>Θ</a:t>
            </a:r>
            <a:r>
              <a:rPr lang="en-US" sz="2400" b="1" dirty="0" smtClean="0"/>
              <a:t>  varies from 0 – 10 degree hill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8346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305800" cy="5943600"/>
          </a:xfrm>
        </p:spPr>
        <p:txBody>
          <a:bodyPr/>
          <a:lstStyle/>
          <a:p>
            <a:r>
              <a:rPr lang="en-US" dirty="0" smtClean="0"/>
              <a:t>Angular Acceleration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I= Moment of Inertia </a:t>
            </a:r>
          </a:p>
          <a:p>
            <a:r>
              <a:rPr lang="en-US" dirty="0" smtClean="0"/>
              <a:t>G= Gear ratio</a:t>
            </a:r>
          </a:p>
          <a:p>
            <a:r>
              <a:rPr lang="en-US" dirty="0" smtClean="0"/>
              <a:t>a = Acceleration </a:t>
            </a:r>
          </a:p>
          <a:p>
            <a:r>
              <a:rPr lang="en-US" dirty="0" smtClean="0"/>
              <a:t>r = radius of tire </a:t>
            </a:r>
          </a:p>
          <a:p>
            <a:r>
              <a:rPr lang="en-US" dirty="0" smtClean="0"/>
              <a:t>      = Efficiency of Gear </a:t>
            </a:r>
          </a:p>
          <a:p>
            <a:endParaRPr lang="en-US" dirty="0" smtClean="0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990600" y="1295399"/>
          <a:ext cx="2362200" cy="1481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" name="Equation" r:id="rId3" imgW="749160" imgH="469800" progId="Equation.3">
                  <p:embed/>
                </p:oleObj>
              </mc:Choice>
              <mc:Fallback>
                <p:oleObj name="Equation" r:id="rId3" imgW="749160" imgH="469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295399"/>
                        <a:ext cx="2362200" cy="1481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762000" y="5562600"/>
          <a:ext cx="6858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" name="Equation" r:id="rId5" imgW="177480" imgH="241200" progId="Equation.3">
                  <p:embed/>
                </p:oleObj>
              </mc:Choice>
              <mc:Fallback>
                <p:oleObj name="Equation" r:id="rId5" imgW="17748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562600"/>
                        <a:ext cx="685800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59436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065686"/>
              </p:ext>
            </p:extLst>
          </p:nvPr>
        </p:nvGraphicFramePr>
        <p:xfrm>
          <a:off x="533400" y="609600"/>
          <a:ext cx="8077201" cy="579120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36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4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6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Parameters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Notations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 Value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Units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Weight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m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    1,000.00 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Kg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Width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W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            1.00 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m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Height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H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            1.50 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Rolling Resistance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µ</a:t>
                      </a:r>
                      <a:r>
                        <a:rPr lang="en-US" sz="2800" u="none" strike="noStrike" baseline="-25000">
                          <a:effectLst/>
                        </a:rPr>
                        <a:t>rr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            0.02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Air Density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ƥ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            1.25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kg/m2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Drag Coefficient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err="1">
                          <a:effectLst/>
                        </a:rPr>
                        <a:t>Cd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            0.30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6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gravitational Force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g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            9.80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6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Speed in km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        </a:t>
                      </a:r>
                      <a:r>
                        <a:rPr lang="en-US" sz="2800" u="none" strike="noStrike" dirty="0" smtClean="0">
                          <a:effectLst/>
                        </a:rPr>
                        <a:t>40.00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err="1">
                          <a:effectLst/>
                        </a:rPr>
                        <a:t>kpmh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6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Frontal </a:t>
                      </a:r>
                      <a:r>
                        <a:rPr lang="en-US" sz="2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Area</a:t>
                      </a:r>
                      <a:endParaRPr lang="en-US" sz="2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solidFill>
                            <a:srgbClr val="FF0000"/>
                          </a:solidFill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           1.50 </a:t>
                      </a:r>
                      <a:endParaRPr lang="en-US" sz="2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m2</a:t>
                      </a:r>
                      <a:endParaRPr lang="en-US" sz="2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6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Velocity</a:t>
                      </a:r>
                      <a:endParaRPr lang="en-US" sz="2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endParaRPr lang="en-US" sz="2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         11.11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m/sec</a:t>
                      </a:r>
                      <a:endParaRPr lang="en-US" sz="2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0" y="228600"/>
            <a:ext cx="9144000" cy="590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Total Power = Total Tractive Force x Velocity</a:t>
            </a:r>
          </a:p>
          <a:p>
            <a:r>
              <a:rPr lang="en-US" dirty="0" smtClean="0"/>
              <a:t>Velocity = </a:t>
            </a:r>
            <a:r>
              <a:rPr lang="en-US" dirty="0" err="1" smtClean="0"/>
              <a:t>kmpm</a:t>
            </a:r>
            <a:r>
              <a:rPr lang="en-US" dirty="0" smtClean="0"/>
              <a:t> -&gt; m/s</a:t>
            </a:r>
          </a:p>
          <a:p>
            <a:pPr>
              <a:buNone/>
            </a:pPr>
            <a:r>
              <a:rPr lang="en-US" dirty="0" smtClean="0"/>
              <a:t>      </a:t>
            </a:r>
            <a:r>
              <a:rPr lang="en-US" dirty="0"/>
              <a:t>	</a:t>
            </a:r>
            <a:r>
              <a:rPr lang="en-US" dirty="0" smtClean="0"/>
              <a:t>         = 40 * 1000/3600</a:t>
            </a:r>
          </a:p>
          <a:p>
            <a:endParaRPr lang="en-US" dirty="0"/>
          </a:p>
          <a:p>
            <a:r>
              <a:rPr lang="en-US" dirty="0" smtClean="0"/>
              <a:t>Tractive Force =  </a:t>
            </a:r>
          </a:p>
          <a:p>
            <a:pPr>
              <a:buNone/>
            </a:pPr>
            <a:r>
              <a:rPr lang="en-US" dirty="0" smtClean="0"/>
              <a:t>Rolling Resistance Force +  Aerodynamic drag force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3886200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Total Power P = </a:t>
            </a:r>
            <a:r>
              <a:rPr lang="en-US" sz="3200" dirty="0" err="1" smtClean="0"/>
              <a:t>F</a:t>
            </a:r>
            <a:r>
              <a:rPr lang="en-US" sz="3200" baseline="-25000" dirty="0" err="1" smtClean="0"/>
              <a:t>te</a:t>
            </a:r>
            <a:r>
              <a:rPr lang="en-US" sz="3200" baseline="-25000" dirty="0" smtClean="0"/>
              <a:t> </a:t>
            </a:r>
            <a:r>
              <a:rPr lang="en-US" sz="3200" dirty="0" smtClean="0"/>
              <a:t>. v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152400" y="4648200"/>
            <a:ext cx="739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F</a:t>
            </a:r>
            <a:r>
              <a:rPr lang="en-US" sz="3200" baseline="-25000" dirty="0" err="1"/>
              <a:t>te</a:t>
            </a:r>
            <a:r>
              <a:rPr lang="en-US" sz="3200" baseline="-25000" dirty="0"/>
              <a:t> </a:t>
            </a:r>
            <a:r>
              <a:rPr lang="en-US" sz="3200" dirty="0" smtClean="0"/>
              <a:t> (Total Tractive Power)  = </a:t>
            </a:r>
            <a:r>
              <a:rPr lang="en-US" sz="3200" dirty="0" err="1" smtClean="0"/>
              <a:t>F</a:t>
            </a:r>
            <a:r>
              <a:rPr lang="en-US" sz="3200" baseline="-25000" dirty="0" err="1" smtClean="0"/>
              <a:t>rr</a:t>
            </a:r>
            <a:r>
              <a:rPr lang="en-US" sz="3200" dirty="0" smtClean="0"/>
              <a:t> + F</a:t>
            </a:r>
            <a:r>
              <a:rPr lang="en-US" sz="3200" baseline="-25000" dirty="0" smtClean="0"/>
              <a:t>ad</a:t>
            </a:r>
            <a:r>
              <a:rPr lang="en-US" sz="3200" dirty="0" smtClean="0"/>
              <a:t> </a:t>
            </a:r>
            <a:endParaRPr lang="en-US" sz="3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977011"/>
              </p:ext>
            </p:extLst>
          </p:nvPr>
        </p:nvGraphicFramePr>
        <p:xfrm>
          <a:off x="457200" y="5257800"/>
          <a:ext cx="7924800" cy="1521056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3544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9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Tractive Force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err="1">
                          <a:effectLst/>
                        </a:rPr>
                        <a:t>F</a:t>
                      </a:r>
                      <a:r>
                        <a:rPr lang="en-US" sz="2800" u="none" strike="noStrike" baseline="-25000" dirty="0" err="1">
                          <a:effectLst/>
                        </a:rPr>
                        <a:t>te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        </a:t>
                      </a:r>
                      <a:r>
                        <a:rPr lang="en-US" sz="2800" u="none" strike="noStrike" dirty="0" smtClean="0">
                          <a:effectLst/>
                        </a:rPr>
                        <a:t>230.72 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Nm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0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Total Power for 40Km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 smtClean="0">
                          <a:effectLst/>
                        </a:rPr>
                        <a:t>P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    </a:t>
                      </a:r>
                      <a:r>
                        <a:rPr lang="en-US" sz="2800" u="none" strike="noStrike" dirty="0" smtClean="0">
                          <a:effectLst/>
                        </a:rPr>
                        <a:t>2,563.58 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Watts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7615" cy="472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archive.nptel.ac.in/content/storage2/courses/108103009/module2/lec4/images/111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533400"/>
            <a:ext cx="8153400" cy="533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archive.nptel.ac.in/content/storage2/courses/108103009/module2/lec4/images/113.JP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066800"/>
            <a:ext cx="7696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Motor Operating Region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85800" y="1447800"/>
            <a:ext cx="8257393" cy="5087766"/>
            <a:chOff x="397745" y="1276350"/>
            <a:chExt cx="6025116" cy="3479698"/>
          </a:xfrm>
        </p:grpSpPr>
        <p:grpSp>
          <p:nvGrpSpPr>
            <p:cNvPr id="5" name="Group 9"/>
            <p:cNvGrpSpPr/>
            <p:nvPr/>
          </p:nvGrpSpPr>
          <p:grpSpPr>
            <a:xfrm>
              <a:off x="908050" y="1276350"/>
              <a:ext cx="5294630" cy="3057525"/>
              <a:chOff x="908050" y="1276350"/>
              <a:chExt cx="5294630" cy="3057525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908050" y="1276350"/>
                <a:ext cx="15875" cy="305752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923925" y="4333875"/>
                <a:ext cx="5278755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/>
            <p:cNvSpPr txBox="1"/>
            <p:nvPr/>
          </p:nvSpPr>
          <p:spPr>
            <a:xfrm rot="16200000">
              <a:off x="153408" y="1743945"/>
              <a:ext cx="915364" cy="4266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/>
                <a:t>Torque</a:t>
              </a:r>
              <a:endParaRPr lang="en-US" sz="32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37200" y="4356100"/>
              <a:ext cx="885661" cy="3999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/>
                <a:t>Speed</a:t>
              </a:r>
              <a:endParaRPr lang="en-US" sz="3200" dirty="0"/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1371600" y="2438400"/>
            <a:ext cx="3781299" cy="23939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5181600" y="2667000"/>
            <a:ext cx="3063331" cy="2971045"/>
          </a:xfrm>
          <a:custGeom>
            <a:avLst/>
            <a:gdLst>
              <a:gd name="connsiteX0" fmla="*/ 0 w 2235200"/>
              <a:gd name="connsiteY0" fmla="*/ 0 h 2032000"/>
              <a:gd name="connsiteX1" fmla="*/ 698500 w 2235200"/>
              <a:gd name="connsiteY1" fmla="*/ 1295400 h 2032000"/>
              <a:gd name="connsiteX2" fmla="*/ 2235200 w 2235200"/>
              <a:gd name="connsiteY2" fmla="*/ 2032000 h 2032000"/>
              <a:gd name="connsiteX3" fmla="*/ 2235200 w 2235200"/>
              <a:gd name="connsiteY3" fmla="*/ 2032000 h 20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5200" h="2032000">
                <a:moveTo>
                  <a:pt x="0" y="0"/>
                </a:moveTo>
                <a:cubicBezTo>
                  <a:pt x="162983" y="478366"/>
                  <a:pt x="325967" y="956733"/>
                  <a:pt x="698500" y="1295400"/>
                </a:cubicBezTo>
                <a:cubicBezTo>
                  <a:pt x="1071033" y="1634067"/>
                  <a:pt x="2235200" y="2032000"/>
                  <a:pt x="2235200" y="2032000"/>
                </a:cubicBezTo>
                <a:lnTo>
                  <a:pt x="2235200" y="2032000"/>
                </a:ln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rot="5400000">
            <a:off x="3544094" y="4304506"/>
            <a:ext cx="3276600" cy="15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24000" y="18288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Constant Torque Region</a:t>
            </a:r>
            <a:endParaRPr lang="en-US" sz="3200" dirty="0"/>
          </a:p>
        </p:txBody>
      </p:sp>
      <p:sp>
        <p:nvSpPr>
          <p:cNvPr id="14" name="TextBox 13"/>
          <p:cNvSpPr txBox="1"/>
          <p:nvPr/>
        </p:nvSpPr>
        <p:spPr>
          <a:xfrm>
            <a:off x="6019800" y="3276600"/>
            <a:ext cx="28454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Constant Power Region</a:t>
            </a:r>
            <a:endParaRPr lang="en-US" sz="3200" dirty="0"/>
          </a:p>
        </p:txBody>
      </p:sp>
      <p:sp>
        <p:nvSpPr>
          <p:cNvPr id="21" name="TextBox 20"/>
          <p:cNvSpPr txBox="1"/>
          <p:nvPr/>
        </p:nvSpPr>
        <p:spPr>
          <a:xfrm>
            <a:off x="2667000" y="5943600"/>
            <a:ext cx="50832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3200" dirty="0" smtClean="0"/>
              <a:t>ω</a:t>
            </a:r>
            <a:r>
              <a:rPr lang="en-US" sz="3200" baseline="-25000" dirty="0" smtClean="0"/>
              <a:t>c</a:t>
            </a:r>
          </a:p>
          <a:p>
            <a:pPr algn="ctr"/>
            <a:r>
              <a:rPr lang="en-US" sz="3200" dirty="0" smtClean="0"/>
              <a:t>(Base Speed or critical speed)</a:t>
            </a:r>
            <a:endParaRPr lang="en-US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6629400" y="1905000"/>
            <a:ext cx="152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P = T. </a:t>
            </a:r>
            <a:r>
              <a:rPr lang="el-GR" sz="3200" dirty="0" smtClean="0"/>
              <a:t>ω</a:t>
            </a:r>
            <a:endParaRPr lang="en-US" sz="3200" dirty="0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1447800" y="3200400"/>
            <a:ext cx="3733800" cy="2743200"/>
          </a:xfrm>
          <a:prstGeom prst="line">
            <a:avLst/>
          </a:prstGeom>
          <a:ln w="730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181600" y="3200400"/>
            <a:ext cx="2590800" cy="1588"/>
          </a:xfrm>
          <a:prstGeom prst="line">
            <a:avLst/>
          </a:prstGeom>
          <a:ln w="603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8534400" y="1301458"/>
            <a:ext cx="489978" cy="4642142"/>
            <a:chOff x="8534400" y="1301458"/>
            <a:chExt cx="489978" cy="4642142"/>
          </a:xfrm>
        </p:grpSpPr>
        <p:cxnSp>
          <p:nvCxnSpPr>
            <p:cNvPr id="24" name="Straight Connector 23"/>
            <p:cNvCxnSpPr/>
            <p:nvPr/>
          </p:nvCxnSpPr>
          <p:spPr>
            <a:xfrm rot="16200000" flipV="1">
              <a:off x="6324600" y="3657600"/>
              <a:ext cx="4495800" cy="7620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8719578" y="1301458"/>
              <a:ext cx="304800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 smtClean="0"/>
                <a:t>POwer</a:t>
              </a:r>
              <a:endParaRPr 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8229600" cy="324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Maximum torque of an electric vehicle is a simple function of angular speed. </a:t>
            </a:r>
          </a:p>
          <a:p>
            <a:r>
              <a:rPr lang="en-US" dirty="0" smtClean="0"/>
              <a:t>Mostly low speeds, the maximum torque is a constant </a:t>
            </a:r>
          </a:p>
          <a:p>
            <a:r>
              <a:rPr lang="en-US" dirty="0" smtClean="0"/>
              <a:t>Until the motor speed reaches a critical value after which the torque falls.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52400"/>
            <a:ext cx="7086600" cy="593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6172200"/>
            <a:ext cx="74199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Huge Variation in Motive power </a:t>
            </a:r>
          </a:p>
          <a:p>
            <a:pPr marL="285750" indent="-285750"/>
            <a:r>
              <a:rPr lang="en-US" dirty="0" smtClean="0"/>
              <a:t>Vehicle is fully loaded to unloaded condition</a:t>
            </a:r>
          </a:p>
          <a:p>
            <a:pPr marL="285750" indent="-285750"/>
            <a:r>
              <a:rPr lang="en-US" dirty="0" smtClean="0"/>
              <a:t>Vehicle in hill climbing condition</a:t>
            </a:r>
          </a:p>
          <a:p>
            <a:pPr marL="285750" indent="-285750"/>
            <a:r>
              <a:rPr lang="en-US" dirty="0" smtClean="0"/>
              <a:t>Vehicle Speed</a:t>
            </a:r>
          </a:p>
          <a:p>
            <a:r>
              <a:rPr lang="en-US" dirty="0" smtClean="0"/>
              <a:t>While Calculating Vehicle Power, all the extreme conditions to be taken in to consideration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: Typical Extreme Conditions</a:t>
            </a:r>
          </a:p>
          <a:p>
            <a:pPr marL="285750" indent="-285750"/>
            <a:r>
              <a:rPr lang="en-US" dirty="0" smtClean="0"/>
              <a:t>Over load : 20% of Full load</a:t>
            </a:r>
          </a:p>
          <a:p>
            <a:pPr marL="285750" indent="-285750"/>
            <a:r>
              <a:rPr lang="en-US" dirty="0" err="1" smtClean="0"/>
              <a:t>Gradience</a:t>
            </a:r>
            <a:r>
              <a:rPr lang="en-US" dirty="0" smtClean="0"/>
              <a:t> : 20%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Acceleration of Force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Vehicle will not be at constant speed. </a:t>
            </a:r>
          </a:p>
          <a:p>
            <a:r>
              <a:rPr lang="en-US" dirty="0" smtClean="0"/>
              <a:t>Dynamic equation for Acceleration force  (</a:t>
            </a:r>
            <a:r>
              <a:rPr lang="en-US" dirty="0" err="1" smtClean="0"/>
              <a:t>dv</a:t>
            </a:r>
            <a:r>
              <a:rPr lang="en-US" dirty="0" smtClean="0"/>
              <a:t>/</a:t>
            </a:r>
            <a:r>
              <a:rPr lang="en-US" dirty="0" err="1" smtClean="0"/>
              <a:t>dt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m.dv</a:t>
            </a:r>
            <a:r>
              <a:rPr lang="en-US" dirty="0" smtClean="0"/>
              <a:t>/</a:t>
            </a:r>
            <a:r>
              <a:rPr lang="en-US" dirty="0" err="1" smtClean="0"/>
              <a:t>dt</a:t>
            </a:r>
            <a:r>
              <a:rPr lang="en-US" dirty="0" smtClean="0"/>
              <a:t> = F</a:t>
            </a:r>
            <a:r>
              <a:rPr lang="en-US" baseline="-25000" dirty="0" smtClean="0"/>
              <a:t>t </a:t>
            </a:r>
            <a:r>
              <a:rPr lang="en-US" dirty="0" smtClean="0"/>
              <a:t> - (</a:t>
            </a:r>
            <a:r>
              <a:rPr lang="en-US" dirty="0" err="1" smtClean="0"/>
              <a:t>F</a:t>
            </a:r>
            <a:r>
              <a:rPr lang="en-US" baseline="-25000" dirty="0" err="1" smtClean="0"/>
              <a:t>rr</a:t>
            </a:r>
            <a:r>
              <a:rPr lang="en-US" dirty="0" smtClean="0"/>
              <a:t> + F</a:t>
            </a:r>
            <a:r>
              <a:rPr lang="en-US" baseline="-25000" dirty="0" smtClean="0"/>
              <a:t>ad</a:t>
            </a:r>
            <a:r>
              <a:rPr lang="en-US" dirty="0" smtClean="0"/>
              <a:t> +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hc</a:t>
            </a:r>
            <a:r>
              <a:rPr lang="en-US" dirty="0" smtClean="0"/>
              <a:t> )</a:t>
            </a:r>
          </a:p>
          <a:p>
            <a:r>
              <a:rPr lang="en-US" dirty="0" smtClean="0"/>
              <a:t>The Tractive Force greater than all resistance forces results into acceleration, similarly deceleration</a:t>
            </a:r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fast can vehicle reach the top speed?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410200"/>
          </a:xfrm>
        </p:spPr>
        <p:txBody>
          <a:bodyPr>
            <a:normAutofit/>
          </a:bodyPr>
          <a:lstStyle/>
          <a:p>
            <a:r>
              <a:rPr lang="en-US" dirty="0" smtClean="0"/>
              <a:t>Limiting Factors I</a:t>
            </a:r>
          </a:p>
          <a:p>
            <a:pPr lvl="1"/>
            <a:r>
              <a:rPr lang="en-US" dirty="0" smtClean="0"/>
              <a:t>Weight of vehicle</a:t>
            </a:r>
          </a:p>
          <a:p>
            <a:pPr lvl="1"/>
            <a:r>
              <a:rPr lang="en-US" dirty="0" smtClean="0"/>
              <a:t>Motor power of vehicle  </a:t>
            </a:r>
          </a:p>
          <a:p>
            <a:r>
              <a:rPr lang="en-US" dirty="0" smtClean="0"/>
              <a:t>Limiting Factors II</a:t>
            </a:r>
          </a:p>
          <a:p>
            <a:pPr lvl="1"/>
            <a:r>
              <a:rPr lang="en-US" dirty="0" smtClean="0"/>
              <a:t>The Drive wheels will spin on the ground if, tractive effort&gt;adhesive capability between tire and ground</a:t>
            </a:r>
          </a:p>
          <a:p>
            <a:pPr lvl="1"/>
            <a:r>
              <a:rPr lang="en-US" dirty="0" smtClean="0"/>
              <a:t>Significant Slipping on the ground for wet, icy, snow covered or soft soil</a:t>
            </a:r>
          </a:p>
          <a:p>
            <a:pPr lvl="1"/>
            <a:r>
              <a:rPr lang="en-US" dirty="0" smtClean="0"/>
              <a:t>Irrespective of the maximum torque power train can apply on wheel</a:t>
            </a:r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fast can vehicle reach the top speed?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Slip S (Tire) = (1 – V/r</a:t>
            </a:r>
            <a:r>
              <a:rPr lang="el-GR" dirty="0" smtClean="0"/>
              <a:t>ω</a:t>
            </a:r>
            <a:r>
              <a:rPr lang="en-US" dirty="0" smtClean="0"/>
              <a:t>) * 100% for running</a:t>
            </a:r>
          </a:p>
          <a:p>
            <a:r>
              <a:rPr lang="en-US" dirty="0" smtClean="0"/>
              <a:t>Slip S (Tire) = (1 – r</a:t>
            </a:r>
            <a:r>
              <a:rPr lang="el-GR" dirty="0" smtClean="0"/>
              <a:t>ω</a:t>
            </a:r>
            <a:r>
              <a:rPr lang="en-US" dirty="0" smtClean="0"/>
              <a:t>/V) * 100%  For Breaking</a:t>
            </a:r>
          </a:p>
          <a:p>
            <a:r>
              <a:rPr lang="en-US" dirty="0" smtClean="0"/>
              <a:t>V – Translatory Speed of Tire center,</a:t>
            </a:r>
          </a:p>
          <a:p>
            <a:r>
              <a:rPr lang="en-US" dirty="0" smtClean="0"/>
              <a:t> w – Angular speed of tire, </a:t>
            </a:r>
          </a:p>
          <a:p>
            <a:r>
              <a:rPr lang="en-US" dirty="0" smtClean="0"/>
              <a:t>r – Rolling radius of the tire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ttps://archive.nptel.ac.in/content/storage2/courses/108103009/module3/lec5/images/3.JP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990600"/>
            <a:ext cx="7620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2745" y="2280841"/>
            <a:ext cx="3274614" cy="476221"/>
          </a:xfrm>
          <a:prstGeom prst="rect">
            <a:avLst/>
          </a:prstGeom>
          <a:blipFill rotWithShape="0">
            <a:blip r:embed="rId3"/>
            <a:stretch>
              <a:fillRect l="-559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2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978" y="2875201"/>
            <a:ext cx="4163447" cy="476221"/>
          </a:xfrm>
          <a:prstGeom prst="rect">
            <a:avLst/>
          </a:prstGeom>
          <a:blipFill rotWithShape="0">
            <a:blip r:embed="rId4"/>
            <a:stretch>
              <a:fillRect l="-439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949" y="892975"/>
            <a:ext cx="21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Total Power P =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te</a:t>
            </a:r>
            <a:r>
              <a:rPr lang="en-US" baseline="-25000" dirty="0" smtClean="0"/>
              <a:t> </a:t>
            </a:r>
            <a:r>
              <a:rPr lang="en-US" dirty="0" smtClean="0"/>
              <a:t>. v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76324" y="1150896"/>
            <a:ext cx="4763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</a:t>
            </a:r>
            <a:r>
              <a:rPr lang="en-US" baseline="-25000" dirty="0" err="1"/>
              <a:t>te</a:t>
            </a:r>
            <a:r>
              <a:rPr lang="en-US" baseline="-25000" dirty="0"/>
              <a:t> </a:t>
            </a:r>
            <a:r>
              <a:rPr lang="en-US" dirty="0" smtClean="0"/>
              <a:t> Total Tractive Power  =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rr</a:t>
            </a:r>
            <a:r>
              <a:rPr lang="en-US" dirty="0" smtClean="0"/>
              <a:t> + F</a:t>
            </a:r>
            <a:r>
              <a:rPr lang="en-US" baseline="-25000" dirty="0" smtClean="0"/>
              <a:t>ad</a:t>
            </a:r>
            <a:r>
              <a:rPr lang="en-US" dirty="0" smtClean="0"/>
              <a:t> +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hc</a:t>
            </a:r>
            <a:r>
              <a:rPr lang="en-US" dirty="0" smtClean="0"/>
              <a:t> +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la</a:t>
            </a:r>
            <a:r>
              <a:rPr lang="en-US" dirty="0" smtClean="0"/>
              <a:t> +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wa</a:t>
            </a:r>
            <a:endParaRPr lang="en-US" baseline="-25000" dirty="0"/>
          </a:p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52400" y="1660432"/>
            <a:ext cx="15381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F</a:t>
            </a:r>
            <a:r>
              <a:rPr lang="en-US" baseline="-25000" dirty="0" err="1" smtClean="0"/>
              <a:t>rr</a:t>
            </a:r>
            <a:r>
              <a:rPr lang="en-US" baseline="-25000" dirty="0" smtClean="0"/>
              <a:t> </a:t>
            </a:r>
            <a:r>
              <a:rPr lang="en-US" dirty="0" smtClean="0"/>
              <a:t>= µ</a:t>
            </a:r>
            <a:r>
              <a:rPr lang="en-US" baseline="-25000" dirty="0" err="1" smtClean="0"/>
              <a:t>rr</a:t>
            </a:r>
            <a:r>
              <a:rPr lang="en-US" dirty="0" smtClean="0"/>
              <a:t> </a:t>
            </a:r>
            <a:r>
              <a:rPr lang="en-US" dirty="0" err="1" smtClean="0"/>
              <a:t>m.g</a:t>
            </a:r>
            <a:endParaRPr lang="en-US" baseline="-25000" dirty="0"/>
          </a:p>
        </p:txBody>
      </p:sp>
      <p:sp>
        <p:nvSpPr>
          <p:cNvPr id="31" name="Rectangle 30"/>
          <p:cNvSpPr/>
          <p:nvPr/>
        </p:nvSpPr>
        <p:spPr>
          <a:xfrm>
            <a:off x="1752600" y="1676400"/>
            <a:ext cx="289560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i="1" dirty="0" smtClean="0">
                <a:latin typeface="Palatino"/>
              </a:rPr>
              <a:t>F</a:t>
            </a:r>
            <a:r>
              <a:rPr lang="en-US" i="1" baseline="-25000" dirty="0" smtClean="0">
                <a:latin typeface="Palatino"/>
              </a:rPr>
              <a:t>ad</a:t>
            </a:r>
            <a:r>
              <a:rPr lang="en-US" dirty="0">
                <a:latin typeface="Palatino"/>
              </a:rPr>
              <a:t> = ½</a:t>
            </a:r>
            <a:r>
              <a:rPr lang="el-GR" dirty="0">
                <a:latin typeface="Palatino"/>
              </a:rPr>
              <a:t>ρ</a:t>
            </a:r>
            <a:r>
              <a:rPr lang="en-US" i="1" dirty="0" smtClean="0">
                <a:latin typeface="Palatino"/>
              </a:rPr>
              <a:t>C</a:t>
            </a:r>
            <a:r>
              <a:rPr lang="en-US" i="1" baseline="-25000" dirty="0">
                <a:latin typeface="Palatino"/>
              </a:rPr>
              <a:t>d</a:t>
            </a:r>
            <a:r>
              <a:rPr lang="en-US" i="1" dirty="0" smtClean="0">
                <a:latin typeface="Palatino"/>
              </a:rPr>
              <a:t>Av</a:t>
            </a:r>
            <a:r>
              <a:rPr lang="en-US" baseline="30000" dirty="0" smtClean="0">
                <a:latin typeface="Palatino"/>
              </a:rPr>
              <a:t>2 </a:t>
            </a:r>
            <a:r>
              <a:rPr lang="en-US" dirty="0" smtClean="0">
                <a:latin typeface="Palatino"/>
              </a:rPr>
              <a:t> </a:t>
            </a:r>
            <a:r>
              <a:rPr lang="en-US" dirty="0" err="1" smtClean="0">
                <a:latin typeface="Palatino"/>
              </a:rPr>
              <a:t>Newtons</a:t>
            </a:r>
            <a:endParaRPr lang="en-US" dirty="0" smtClean="0">
              <a:latin typeface="Palatino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10200" y="609600"/>
            <a:ext cx="16384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F</a:t>
            </a:r>
            <a:r>
              <a:rPr lang="en-US" baseline="-25000" dirty="0" err="1" smtClean="0"/>
              <a:t>hc</a:t>
            </a:r>
            <a:r>
              <a:rPr lang="en-US" dirty="0" smtClean="0"/>
              <a:t> = </a:t>
            </a:r>
            <a:r>
              <a:rPr lang="en-US" dirty="0" err="1" smtClean="0"/>
              <a:t>m.g.Sin</a:t>
            </a:r>
            <a:r>
              <a:rPr lang="en-US" dirty="0" smtClean="0"/>
              <a:t> </a:t>
            </a:r>
            <a:r>
              <a:rPr lang="el-GR" dirty="0" smtClean="0"/>
              <a:t>θ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724400" y="1752600"/>
            <a:ext cx="116730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F</a:t>
            </a:r>
            <a:r>
              <a:rPr lang="en-US" baseline="-25000" dirty="0" err="1"/>
              <a:t>la</a:t>
            </a:r>
            <a:r>
              <a:rPr lang="en-US" dirty="0"/>
              <a:t>)  = </a:t>
            </a:r>
            <a:r>
              <a:rPr lang="en-US" dirty="0" err="1"/>
              <a:t>m.a</a:t>
            </a:r>
            <a:endParaRPr lang="en-US" dirty="0"/>
          </a:p>
        </p:txBody>
      </p:sp>
      <p:sp>
        <p:nvSpPr>
          <p:cNvPr id="34" name="TextBox 3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42990" y="1475957"/>
            <a:ext cx="1113510" cy="505936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1447800" y="1447800"/>
            <a:ext cx="1600200" cy="30480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10800000">
            <a:off x="3733800" y="1524000"/>
            <a:ext cx="533400" cy="228600"/>
          </a:xfrm>
          <a:prstGeom prst="straightConnector1">
            <a:avLst/>
          </a:prstGeom>
          <a:ln w="508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10800000">
            <a:off x="4648200" y="1447800"/>
            <a:ext cx="457200" cy="381000"/>
          </a:xfrm>
          <a:prstGeom prst="straightConnector1">
            <a:avLst/>
          </a:prstGeom>
          <a:ln w="508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1"/>
          </p:cNvCxnSpPr>
          <p:nvPr/>
        </p:nvCxnSpPr>
        <p:spPr>
          <a:xfrm rot="10800000" flipV="1">
            <a:off x="4191000" y="794266"/>
            <a:ext cx="1219200" cy="501134"/>
          </a:xfrm>
          <a:prstGeom prst="straightConnector1">
            <a:avLst/>
          </a:prstGeom>
          <a:ln w="508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10800000">
            <a:off x="5181600" y="1371600"/>
            <a:ext cx="1371600" cy="228600"/>
          </a:xfrm>
          <a:prstGeom prst="straightConnector1">
            <a:avLst/>
          </a:prstGeom>
          <a:ln w="508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 Driving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EVs are a proven technology with deep historical roots. </a:t>
            </a:r>
          </a:p>
          <a:p>
            <a:r>
              <a:rPr lang="en-US" dirty="0" smtClean="0"/>
              <a:t>The </a:t>
            </a:r>
            <a:r>
              <a:rPr lang="en-US" dirty="0"/>
              <a:t>shift is crucial for </a:t>
            </a:r>
            <a:r>
              <a:rPr lang="en-US" b="1" dirty="0"/>
              <a:t>climate mitigation</a:t>
            </a:r>
            <a:r>
              <a:rPr lang="en-US" dirty="0"/>
              <a:t> and </a:t>
            </a:r>
            <a:r>
              <a:rPr lang="en-US" b="1" dirty="0"/>
              <a:t>local air quality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The transition offers tangible social and </a:t>
            </a:r>
            <a:r>
              <a:rPr lang="en-US" b="1" dirty="0"/>
              <a:t>economic benefits</a:t>
            </a:r>
            <a:r>
              <a:rPr lang="en-US" dirty="0"/>
              <a:t> (health, cost savings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</a:t>
            </a:r>
            <a:r>
              <a:rPr lang="en-US" dirty="0"/>
              <a:t>Continued innovation in batteries and infrastructure will define the next decade of mobility.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11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14361</TotalTime>
  <Words>2012</Words>
  <Application>Microsoft Office PowerPoint</Application>
  <PresentationFormat>On-screen Show (4:3)</PresentationFormat>
  <Paragraphs>313</Paragraphs>
  <Slides>57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Arial</vt:lpstr>
      <vt:lpstr>Calibri</vt:lpstr>
      <vt:lpstr>Cambria Math</vt:lpstr>
      <vt:lpstr>Google Sans Text</vt:lpstr>
      <vt:lpstr>Mangal</vt:lpstr>
      <vt:lpstr>Palatino</vt:lpstr>
      <vt:lpstr>Symbol</vt:lpstr>
      <vt:lpstr>Times New Roman</vt:lpstr>
      <vt:lpstr>Office Theme</vt:lpstr>
      <vt:lpstr>Equation</vt:lpstr>
      <vt:lpstr>Electric and Hybrid Vehicles Technology  </vt:lpstr>
      <vt:lpstr>Agenda </vt:lpstr>
      <vt:lpstr>EEM3202T: Electric and Hybrid Vehicle Technology  </vt:lpstr>
      <vt:lpstr>Course Outcomes </vt:lpstr>
      <vt:lpstr>PowerPoint Presentation</vt:lpstr>
      <vt:lpstr>PowerPoint Presentation</vt:lpstr>
      <vt:lpstr>Types of Vehicles </vt:lpstr>
      <vt:lpstr>Why Electric?</vt:lpstr>
      <vt:lpstr>EV History, Part I: Faster Than the Ford</vt:lpstr>
      <vt:lpstr>EV History, Part II: The End of the First Era</vt:lpstr>
      <vt:lpstr>The Modern Revival: The Road to High-Performance</vt:lpstr>
      <vt:lpstr>PowerPoint Presentation</vt:lpstr>
      <vt:lpstr>Overview of Electric Vehicles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Societal Benefits: Quieter, Healthier Communities</vt:lpstr>
      <vt:lpstr>Economic Impact: Lower Costs, New Opportunities</vt:lpstr>
      <vt:lpstr>The Environmental Imperative: Cleaning the Air</vt:lpstr>
      <vt:lpstr>environmental impact analysis </vt:lpstr>
      <vt:lpstr>Economical Analysis </vt:lpstr>
      <vt:lpstr>PowerPoint Presentation</vt:lpstr>
      <vt:lpstr>Environmental Analysis</vt:lpstr>
      <vt:lpstr>PowerPoint Presentation</vt:lpstr>
      <vt:lpstr>PowerPoint Presentation</vt:lpstr>
      <vt:lpstr>electricity production</vt:lpstr>
      <vt:lpstr>PowerPoint Presentation</vt:lpstr>
      <vt:lpstr>Results of technical–economical–environmental Analysis: </vt:lpstr>
      <vt:lpstr>Key Hurdles to Mass Adoption</vt:lpstr>
      <vt:lpstr>PowerPoint Presentation</vt:lpstr>
      <vt:lpstr>PowerPoint Presentation</vt:lpstr>
      <vt:lpstr>PowerPoint Presentation</vt:lpstr>
      <vt:lpstr>PowerPoint Presentation</vt:lpstr>
      <vt:lpstr>Total Power Required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Motor Operating Region</vt:lpstr>
      <vt:lpstr>PowerPoint Presentation</vt:lpstr>
      <vt:lpstr>PowerPoint Presentation</vt:lpstr>
      <vt:lpstr>Observation</vt:lpstr>
      <vt:lpstr>Acceleration of Force</vt:lpstr>
      <vt:lpstr>How fast can vehicle reach the top speed?</vt:lpstr>
      <vt:lpstr>How fast can vehicle reach the top speed?</vt:lpstr>
      <vt:lpstr>PowerPoint Presentation</vt:lpstr>
      <vt:lpstr>PowerPoint Presentation</vt:lpstr>
      <vt:lpstr>Conclusion: Driving the Future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and Hybrid Vehicles EL 3105D</dc:title>
  <dc:creator>Argade</dc:creator>
  <cp:lastModifiedBy>Sachin Argade</cp:lastModifiedBy>
  <cp:revision>124</cp:revision>
  <dcterms:created xsi:type="dcterms:W3CDTF">2022-07-20T07:36:26Z</dcterms:created>
  <dcterms:modified xsi:type="dcterms:W3CDTF">2025-12-17T06:29:51Z</dcterms:modified>
</cp:coreProperties>
</file>