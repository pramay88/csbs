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5" r:id="rId3"/>
    <p:sldId id="286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282" r:id="rId12"/>
    <p:sldId id="283" r:id="rId13"/>
    <p:sldId id="257" r:id="rId14"/>
    <p:sldId id="258" r:id="rId15"/>
    <p:sldId id="259" r:id="rId16"/>
    <p:sldId id="281" r:id="rId17"/>
    <p:sldId id="260" r:id="rId18"/>
    <p:sldId id="261" r:id="rId19"/>
    <p:sldId id="262" r:id="rId20"/>
    <p:sldId id="263" r:id="rId21"/>
    <p:sldId id="284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273" r:id="rId32"/>
    <p:sldId id="274" r:id="rId33"/>
    <p:sldId id="275" r:id="rId34"/>
    <p:sldId id="276" r:id="rId35"/>
    <p:sldId id="280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3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Unit 4: Hybrid Electric Vehicles 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err="1" smtClean="0"/>
              <a:t>Dr.</a:t>
            </a:r>
            <a:r>
              <a:rPr lang="en-IN" dirty="0" smtClean="0"/>
              <a:t> Sachin Argade 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History of Hybrid Vehicles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638800"/>
          </a:xfrm>
        </p:spPr>
        <p:txBody>
          <a:bodyPr>
            <a:normAutofit/>
          </a:bodyPr>
          <a:lstStyle/>
          <a:p>
            <a:r>
              <a:rPr lang="en-US" dirty="0" smtClean="0"/>
              <a:t>Gasoline-electric hybrid rail-car propulsion system in early 1889 -William H Patton from USA </a:t>
            </a:r>
          </a:p>
          <a:p>
            <a:r>
              <a:rPr lang="en-US" dirty="0" smtClean="0"/>
              <a:t>1899 Pieper establishment from Belgium and </a:t>
            </a:r>
            <a:r>
              <a:rPr lang="en-US" dirty="0" err="1" smtClean="0"/>
              <a:t>Vendoveli</a:t>
            </a:r>
            <a:r>
              <a:rPr lang="en-US" dirty="0" smtClean="0"/>
              <a:t> and Priestley Electric Carriage company France. </a:t>
            </a:r>
          </a:p>
          <a:p>
            <a:pPr lvl="1"/>
            <a:r>
              <a:rPr lang="en-US" dirty="0" smtClean="0"/>
              <a:t>Parallel hybrid with a small air-cooled gasoline engine assisted by an electric motor and lead–acid batteries - Pieper</a:t>
            </a:r>
          </a:p>
          <a:p>
            <a:pPr lvl="1"/>
            <a:r>
              <a:rPr lang="en-US" dirty="0" smtClean="0"/>
              <a:t>Another tricycle with series hybrid was created by </a:t>
            </a:r>
            <a:r>
              <a:rPr lang="en-US" dirty="0" err="1" smtClean="0"/>
              <a:t>Vendoveli</a:t>
            </a:r>
            <a:r>
              <a:rPr lang="en-US" dirty="0" smtClean="0"/>
              <a:t> and </a:t>
            </a:r>
            <a:r>
              <a:rPr lang="en-US" dirty="0" err="1" smtClean="0"/>
              <a:t>Pristely</a:t>
            </a:r>
            <a:r>
              <a:rPr lang="en-US" dirty="0" smtClean="0"/>
              <a:t> . 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37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 smtClean="0"/>
              <a:t>History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3340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Camille </a:t>
            </a:r>
            <a:r>
              <a:rPr lang="en-US" dirty="0" err="1" smtClean="0"/>
              <a:t>Jenatzy</a:t>
            </a:r>
            <a:r>
              <a:rPr lang="en-US" dirty="0" smtClean="0"/>
              <a:t> presented a parallel hybrid vehicle at the Paris Salon of 1903.</a:t>
            </a:r>
          </a:p>
          <a:p>
            <a:pPr lvl="1"/>
            <a:r>
              <a:rPr lang="en-US" dirty="0" smtClean="0"/>
              <a:t>A 6 hp gasoline engine with a 14 hp electric machine</a:t>
            </a:r>
          </a:p>
          <a:p>
            <a:r>
              <a:rPr lang="en-US" dirty="0" smtClean="0"/>
              <a:t>H. Krieger, built the second reported series hybrid vehicle in 1902. </a:t>
            </a:r>
          </a:p>
          <a:p>
            <a:pPr lvl="1"/>
            <a:r>
              <a:rPr lang="en-US" dirty="0" smtClean="0"/>
              <a:t>His design used two independent DC motors driving the front wheels. </a:t>
            </a:r>
          </a:p>
          <a:p>
            <a:pPr lvl="1"/>
            <a:r>
              <a:rPr lang="en-US" dirty="0" smtClean="0"/>
              <a:t>They drew their energy from 44 lead–acid cells that were recharged by a 4.5 hp alcohol spark-ignited engine coupled to a shunt DC generator.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915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History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Parallel and series type HEVs , were built during a period ranging from 1899 until 1914.</a:t>
            </a:r>
          </a:p>
          <a:p>
            <a:r>
              <a:rPr lang="en-US" dirty="0" err="1" smtClean="0"/>
              <a:t>Lohner</a:t>
            </a:r>
            <a:r>
              <a:rPr lang="en-US" dirty="0" smtClean="0"/>
              <a:t>-Porsche vehicle of 1903: </a:t>
            </a:r>
          </a:p>
          <a:p>
            <a:pPr lvl="1"/>
            <a:r>
              <a:rPr lang="en-US" dirty="0" smtClean="0"/>
              <a:t>used dynamic braking by short circuiting or by placing a resistance in the armature of the traction motors.</a:t>
            </a:r>
          </a:p>
          <a:p>
            <a:r>
              <a:rPr lang="en-US" dirty="0" smtClean="0"/>
              <a:t>Power electronics did not become available until the mid-1960s</a:t>
            </a:r>
          </a:p>
          <a:p>
            <a:pPr lvl="1"/>
            <a:r>
              <a:rPr lang="en-US" dirty="0" smtClean="0"/>
              <a:t>The greatest problem that these early designs had to cope with was the difficulty of controlling the electric machine.</a:t>
            </a:r>
          </a:p>
        </p:txBody>
      </p:sp>
    </p:spTree>
    <p:extLst>
      <p:ext uri="{BB962C8B-B14F-4D97-AF65-F5344CB8AC3E}">
        <p14:creationId xmlns:p14="http://schemas.microsoft.com/office/powerpoint/2010/main" val="1856869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1143000"/>
          </a:xfrm>
        </p:spPr>
        <p:txBody>
          <a:bodyPr/>
          <a:lstStyle/>
          <a:p>
            <a:r>
              <a:rPr lang="en-US" dirty="0" smtClean="0"/>
              <a:t>History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410200"/>
          </a:xfrm>
        </p:spPr>
        <p:txBody>
          <a:bodyPr>
            <a:normAutofit/>
          </a:bodyPr>
          <a:lstStyle/>
          <a:p>
            <a:r>
              <a:rPr lang="en-US" dirty="0" smtClean="0"/>
              <a:t>In 1975, Dr. Victor Wouk, along with his colleagues built a parallel hybrid version of a Buick Skylark</a:t>
            </a:r>
          </a:p>
          <a:p>
            <a:pPr lvl="1"/>
            <a:r>
              <a:rPr lang="en-US" dirty="0" smtClean="0"/>
              <a:t>The engine was a Mazda rotary engine, coupled to a manual transmission. </a:t>
            </a:r>
          </a:p>
          <a:p>
            <a:pPr lvl="1"/>
            <a:r>
              <a:rPr lang="en-US" dirty="0" smtClean="0"/>
              <a:t>It was assisted by a 15 hp separately excited DC machine, located in front of the transmission. </a:t>
            </a:r>
          </a:p>
          <a:p>
            <a:pPr lvl="1"/>
            <a:r>
              <a:rPr lang="en-US" dirty="0" smtClean="0"/>
              <a:t>Eight 12 V automotive batteries were used for energy storage. </a:t>
            </a:r>
          </a:p>
          <a:p>
            <a:pPr lvl="1"/>
            <a:r>
              <a:rPr lang="en-US" dirty="0" smtClean="0"/>
              <a:t>A top speed of 80 mph (129 km/h) was achieved with acceleration from 0 to 60 mph in 16 sec.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698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1143000"/>
          </a:xfrm>
        </p:spPr>
        <p:txBody>
          <a:bodyPr/>
          <a:lstStyle/>
          <a:p>
            <a:r>
              <a:rPr lang="en-US" dirty="0" smtClean="0"/>
              <a:t>History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4102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The series hybrid design was revived by Dr. Ernest H. Wakefield in 1967, when working for Linear Alpha Inc.</a:t>
            </a:r>
          </a:p>
          <a:p>
            <a:pPr lvl="1"/>
            <a:r>
              <a:rPr lang="en-US" dirty="0" smtClean="0"/>
              <a:t>A small engine-AC generator, with an output of 3 kW, was used to keep a battery pack charged.</a:t>
            </a:r>
          </a:p>
          <a:p>
            <a:r>
              <a:rPr lang="en-US" dirty="0" smtClean="0"/>
              <a:t>Other approaches studied during the 1970s and early 1980s used range extenders,</a:t>
            </a:r>
          </a:p>
          <a:p>
            <a:pPr lvl="1"/>
            <a:r>
              <a:rPr lang="en-US" dirty="0" smtClean="0"/>
              <a:t>similar in concept to the French </a:t>
            </a:r>
            <a:r>
              <a:rPr lang="en-US" dirty="0" err="1" smtClean="0"/>
              <a:t>Vendovelli</a:t>
            </a:r>
            <a:r>
              <a:rPr lang="en-US" dirty="0" smtClean="0"/>
              <a:t> and Priestly 1899 design.</a:t>
            </a:r>
          </a:p>
          <a:p>
            <a:r>
              <a:rPr lang="en-US" dirty="0" smtClean="0"/>
              <a:t>Other prototypes of hybrid vehicles were built by</a:t>
            </a:r>
          </a:p>
          <a:p>
            <a:pPr lvl="1"/>
            <a:r>
              <a:rPr lang="en-US" dirty="0" smtClean="0"/>
              <a:t>The Electric Auto Corporation in 1982 </a:t>
            </a:r>
          </a:p>
          <a:p>
            <a:pPr lvl="1"/>
            <a:r>
              <a:rPr lang="en-US" dirty="0" smtClean="0"/>
              <a:t>And by the Briggs &amp; Stratton Corporation in 1980. </a:t>
            </a:r>
          </a:p>
          <a:p>
            <a:pPr lvl="1"/>
            <a:r>
              <a:rPr lang="en-US" dirty="0" smtClean="0"/>
              <a:t>Both of these were parallel hybrid vehicles.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995697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History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334000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Two oil crises of 1973 and 1977, growing environmental concerns (still not single HEV)</a:t>
            </a:r>
          </a:p>
          <a:p>
            <a:r>
              <a:rPr lang="en-US" dirty="0" smtClean="0"/>
              <a:t>Focus was drawn by the electric vehicles (1980’s)</a:t>
            </a:r>
          </a:p>
          <a:p>
            <a:r>
              <a:rPr lang="en-US" dirty="0" smtClean="0"/>
              <a:t>The lack of interest in hybrid electric vehicles</a:t>
            </a:r>
          </a:p>
          <a:p>
            <a:pPr lvl="1"/>
            <a:r>
              <a:rPr lang="en-US" dirty="0" smtClean="0"/>
              <a:t>during this period may be attributed to the lack of practical power electronics, modern electric motors, and battery technologies.</a:t>
            </a:r>
          </a:p>
          <a:p>
            <a:r>
              <a:rPr lang="en-US" dirty="0" smtClean="0"/>
              <a:t>1990s The Ford Motor Corporation initiated the Ford Hybrid Electric Vehicle Challenge, </a:t>
            </a:r>
          </a:p>
          <a:p>
            <a:pPr lvl="1"/>
            <a:r>
              <a:rPr lang="en-US" dirty="0" smtClean="0"/>
              <a:t>which drew efforts from universities to develop hybrid versions of production automobiles.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442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 smtClean="0"/>
              <a:t>History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102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In the U.S., Dodge built the Intrepid ESX 1, 2, and 3. </a:t>
            </a:r>
          </a:p>
          <a:p>
            <a:pPr lvl="1"/>
            <a:r>
              <a:rPr lang="en-US" dirty="0" smtClean="0"/>
              <a:t>The ESX-1 was a series hybrid vehicle, powered by a small turbocharged three cylinder diesel engine and a battery pack. </a:t>
            </a:r>
          </a:p>
          <a:p>
            <a:pPr lvl="1"/>
            <a:r>
              <a:rPr lang="en-US" dirty="0" smtClean="0"/>
              <a:t>Two 100 hp electric motors were located in the rear wheels.</a:t>
            </a:r>
          </a:p>
          <a:p>
            <a:r>
              <a:rPr lang="en-US" dirty="0" smtClean="0"/>
              <a:t>The Ford Prodigy and GM Precept </a:t>
            </a:r>
          </a:p>
          <a:p>
            <a:pPr lvl="1"/>
            <a:r>
              <a:rPr lang="en-US" dirty="0" smtClean="0"/>
              <a:t>The U.S. government launched the Partnership for a New Generation of Vehicles (PNGV), which included the goal of a midsize sedan that could achieve 80 mpg.</a:t>
            </a:r>
          </a:p>
          <a:p>
            <a:pPr lvl="1"/>
            <a:r>
              <a:rPr lang="en-US" dirty="0" smtClean="0"/>
              <a:t>Parallel hybrid electric vehicles powered by small turbocharged diesel engines coupled to dry clutch manual transmissions</a:t>
            </a:r>
          </a:p>
          <a:p>
            <a:pPr lvl="1"/>
            <a:r>
              <a:rPr lang="en-US" dirty="0" smtClean="0"/>
              <a:t>Both of them achieved the objective, but production did not follow.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394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1143000"/>
          </a:xfrm>
        </p:spPr>
        <p:txBody>
          <a:bodyPr/>
          <a:lstStyle/>
          <a:p>
            <a:r>
              <a:rPr lang="en-US" dirty="0" smtClean="0"/>
              <a:t>History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6388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French Renault Next</a:t>
            </a:r>
          </a:p>
          <a:p>
            <a:pPr lvl="1"/>
            <a:r>
              <a:rPr lang="en-US" dirty="0" smtClean="0"/>
              <a:t>Efforts in Europe</a:t>
            </a:r>
          </a:p>
          <a:p>
            <a:pPr lvl="1"/>
            <a:r>
              <a:rPr lang="en-US" dirty="0" smtClean="0"/>
              <a:t>a small parallel hybrid vehicle using a 750 cc spark-ignited engine and two electric motors.</a:t>
            </a:r>
          </a:p>
          <a:p>
            <a:pPr lvl="1"/>
            <a:r>
              <a:rPr lang="en-US" dirty="0" smtClean="0"/>
              <a:t>This prototype achieved 29.4 km/l (70 mpg) with maximum speed and acceleration performance comparable to conventional vehicles.</a:t>
            </a:r>
          </a:p>
          <a:p>
            <a:r>
              <a:rPr lang="en-US" dirty="0" smtClean="0"/>
              <a:t>Volkswagen Chico</a:t>
            </a:r>
          </a:p>
          <a:p>
            <a:pPr lvl="1"/>
            <a:r>
              <a:rPr lang="en-US" dirty="0" smtClean="0"/>
              <a:t>a small electric vehicle, with a nickel–metal hydride battery pack and a three-phase induction motor.</a:t>
            </a:r>
          </a:p>
          <a:p>
            <a:pPr lvl="1"/>
            <a:r>
              <a:rPr lang="en-US" dirty="0" smtClean="0"/>
              <a:t>A small two-cylinder gasoline engine was used to recharge the batteries and provide additional power for high-speed cruising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512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History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638800"/>
          </a:xfrm>
        </p:spPr>
        <p:txBody>
          <a:bodyPr>
            <a:normAutofit/>
          </a:bodyPr>
          <a:lstStyle/>
          <a:p>
            <a:r>
              <a:rPr lang="en-US" dirty="0" smtClean="0"/>
              <a:t>The most significant effort in the development and commercialization of hybrid electric vehicles was made by Japanese manufacturers</a:t>
            </a:r>
          </a:p>
          <a:p>
            <a:r>
              <a:rPr lang="en-US" dirty="0" smtClean="0"/>
              <a:t>In 1997,</a:t>
            </a:r>
          </a:p>
          <a:p>
            <a:pPr lvl="1"/>
            <a:r>
              <a:rPr lang="en-US" dirty="0" smtClean="0"/>
              <a:t>Toyota released the </a:t>
            </a:r>
            <a:r>
              <a:rPr lang="en-US" dirty="0" err="1" smtClean="0"/>
              <a:t>Prius</a:t>
            </a:r>
            <a:r>
              <a:rPr lang="en-US" dirty="0" smtClean="0"/>
              <a:t> sedan in Japan.</a:t>
            </a:r>
          </a:p>
          <a:p>
            <a:pPr lvl="1"/>
            <a:r>
              <a:rPr lang="en-US" dirty="0" smtClean="0"/>
              <a:t> Honda also released its Insight and Civic Hybrid.</a:t>
            </a:r>
          </a:p>
          <a:p>
            <a:r>
              <a:rPr lang="en-US" dirty="0" smtClean="0"/>
              <a:t>Toyota </a:t>
            </a:r>
            <a:r>
              <a:rPr lang="en-US" dirty="0" err="1" smtClean="0"/>
              <a:t>Prius</a:t>
            </a:r>
            <a:r>
              <a:rPr lang="en-US" dirty="0" smtClean="0"/>
              <a:t> and Honda Insight vehicles have a historical value </a:t>
            </a:r>
          </a:p>
          <a:p>
            <a:pPr lvl="1"/>
            <a:r>
              <a:rPr lang="en-US" dirty="0" smtClean="0"/>
              <a:t>As they are the first hybrid vehicles commercialized in the modern era to respond to the problem of personal vehicle fuel consumption.</a:t>
            </a:r>
          </a:p>
        </p:txBody>
      </p:sp>
    </p:spTree>
    <p:extLst>
      <p:ext uri="{BB962C8B-B14F-4D97-AF65-F5344CB8AC3E}">
        <p14:creationId xmlns:p14="http://schemas.microsoft.com/office/powerpoint/2010/main" val="864249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360" y="63342"/>
            <a:ext cx="6685280" cy="6685280"/>
          </a:xfrm>
        </p:spPr>
      </p:pic>
    </p:spTree>
    <p:extLst>
      <p:ext uri="{BB962C8B-B14F-4D97-AF65-F5344CB8AC3E}">
        <p14:creationId xmlns:p14="http://schemas.microsoft.com/office/powerpoint/2010/main" val="2674517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440" y="-60960"/>
            <a:ext cx="6918960" cy="6918960"/>
          </a:xfrm>
        </p:spPr>
      </p:pic>
    </p:spTree>
    <p:extLst>
      <p:ext uri="{BB962C8B-B14F-4D97-AF65-F5344CB8AC3E}">
        <p14:creationId xmlns:p14="http://schemas.microsoft.com/office/powerpoint/2010/main" val="6680029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Global Transport Energy Crisis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 smtClean="0"/>
              <a:t>Increasing </a:t>
            </a:r>
            <a:r>
              <a:rPr sz="2800" dirty="0"/>
              <a:t>vehicle density causes rapid fuel depletion. </a:t>
            </a:r>
            <a:endParaRPr lang="en-IN" sz="2800" dirty="0" smtClean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 smtClean="0"/>
              <a:t>Major </a:t>
            </a:r>
            <a:r>
              <a:rPr sz="2800" dirty="0"/>
              <a:t>concerns include greenhouse gas emissions, global warming, and urban pollution. </a:t>
            </a:r>
            <a:endParaRPr lang="en-IN" sz="2800" dirty="0" smtClean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 smtClean="0"/>
              <a:t>HEVs </a:t>
            </a:r>
            <a:r>
              <a:rPr sz="2800" dirty="0"/>
              <a:t>provide an intermediate technological solution.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Thermodynamic Limitation of IC Engines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/>
              <a:t>Thermal efficiency of spark ignition engines: 25–30</a:t>
            </a:r>
            <a:r>
              <a:rPr sz="2800" dirty="0" smtClean="0"/>
              <a:t>%.</a:t>
            </a:r>
            <a:endParaRPr lang="en-IN" sz="2800" dirty="0" smtClean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 smtClean="0"/>
              <a:t> </a:t>
            </a:r>
            <a:r>
              <a:rPr sz="2800" dirty="0"/>
              <a:t>Diesel engines: 30–35%. </a:t>
            </a:r>
            <a:endParaRPr lang="en-IN" sz="2800" dirty="0" smtClean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 smtClean="0"/>
              <a:t>Energy </a:t>
            </a:r>
            <a:r>
              <a:rPr sz="2800" dirty="0"/>
              <a:t>losses: Exhaust heat (35%), Cooling losses (30%), Friction losses (10%). </a:t>
            </a:r>
            <a:endParaRPr lang="en-IN" sz="2800" dirty="0" smtClean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 smtClean="0"/>
              <a:t>This </a:t>
            </a:r>
            <a:r>
              <a:rPr sz="2800" dirty="0"/>
              <a:t>inefficiency motivates hybridization.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Energy Wastage During Braking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/>
              <a:t>In conventional vehicles, kinetic energy during braking is converted entirely into heat through friction brakes. </a:t>
            </a:r>
            <a:endParaRPr lang="en-IN" sz="2800" dirty="0" smtClean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 smtClean="0"/>
              <a:t>This </a:t>
            </a:r>
            <a:r>
              <a:rPr sz="2800" dirty="0"/>
              <a:t>wasted energy can be recovered using regenerative braking in HEVs.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240" y="91440"/>
            <a:ext cx="6766560" cy="6766560"/>
          </a:xfrm>
        </p:spPr>
      </p:pic>
    </p:spTree>
    <p:extLst>
      <p:ext uri="{BB962C8B-B14F-4D97-AF65-F5344CB8AC3E}">
        <p14:creationId xmlns:p14="http://schemas.microsoft.com/office/powerpoint/2010/main" val="39666269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Definition &amp; Operating Philosophy of HEV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/>
              <a:t>HEV integrates two propulsion systems: </a:t>
            </a:r>
            <a:endParaRPr lang="en-IN" sz="2800" dirty="0" smtClean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 smtClean="0"/>
              <a:t>IC </a:t>
            </a:r>
            <a:r>
              <a:rPr sz="2800" dirty="0"/>
              <a:t>Engine + Electric Motor. </a:t>
            </a:r>
            <a:endParaRPr lang="en-IN" sz="2800" dirty="0" smtClean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 smtClean="0"/>
              <a:t>The </a:t>
            </a:r>
            <a:r>
              <a:rPr sz="2800" dirty="0"/>
              <a:t>control strategy ensures the engine operates near its optimal efficiency zone while the motor assists during transient loads.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Modes of Operation in HEVs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  <a:defRPr sz="1800">
                <a:solidFill>
                  <a:srgbClr val="000000"/>
                </a:solidFill>
              </a:defRPr>
            </a:pPr>
            <a:r>
              <a:rPr sz="2800" dirty="0"/>
              <a:t>1. Engine-only mode (Highway)</a:t>
            </a:r>
          </a:p>
          <a:p>
            <a:pPr marL="0" indent="0">
              <a:buNone/>
            </a:pPr>
            <a:r>
              <a:rPr sz="2800" dirty="0"/>
              <a:t>2. Motor-only mode (Low speed)</a:t>
            </a:r>
          </a:p>
          <a:p>
            <a:pPr marL="0" indent="0">
              <a:buNone/>
            </a:pPr>
            <a:r>
              <a:rPr sz="2800" dirty="0"/>
              <a:t>3. Combined mode (Acceleration)</a:t>
            </a:r>
          </a:p>
          <a:p>
            <a:pPr marL="0" indent="0">
              <a:buNone/>
            </a:pPr>
            <a:r>
              <a:rPr sz="2800" dirty="0"/>
              <a:t>4. Regenerative braking mode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Detailed HEV Architecture with Power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20116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sz="2000" dirty="0"/>
              <a:t>Internal Combustion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828800"/>
            <a:ext cx="20116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sz="2000" dirty="0"/>
              <a:t>Motor / Generator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0" y="1828800"/>
            <a:ext cx="20116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sz="2000" dirty="0"/>
              <a:t>Battery Pack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657600"/>
            <a:ext cx="20116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sz="2000" dirty="0"/>
              <a:t>Transmission &amp; Wheels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68880" y="2286000"/>
            <a:ext cx="7315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212080" y="2286000"/>
            <a:ext cx="7315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114800" y="2743200"/>
            <a:ext cx="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Energy Flow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/>
              <a:t>Chemical Energy (Fuel) → </a:t>
            </a:r>
            <a:r>
              <a:rPr lang="en-IN" sz="2800" dirty="0" smtClean="0"/>
              <a:t>  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 smtClean="0"/>
              <a:t>Mechanical </a:t>
            </a:r>
            <a:r>
              <a:rPr sz="2800" dirty="0"/>
              <a:t>Energy (Engine) → </a:t>
            </a:r>
            <a:r>
              <a:rPr lang="en-IN" sz="2800" dirty="0" smtClean="0"/>
              <a:t>  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 smtClean="0"/>
              <a:t>Electrical </a:t>
            </a:r>
            <a:r>
              <a:rPr sz="2800" dirty="0"/>
              <a:t>Energy (Generator) → </a:t>
            </a:r>
            <a:r>
              <a:rPr lang="en-IN" sz="2800" dirty="0" smtClean="0"/>
              <a:t> 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 smtClean="0"/>
              <a:t>Chemical </a:t>
            </a:r>
            <a:r>
              <a:rPr sz="2800" dirty="0"/>
              <a:t>Storage (Battery) </a:t>
            </a:r>
            <a:r>
              <a:rPr sz="2800" dirty="0" smtClean="0"/>
              <a:t>→</a:t>
            </a:r>
            <a:r>
              <a:rPr lang="en-IN" sz="2800" dirty="0" smtClean="0"/>
              <a:t>  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 smtClean="0"/>
              <a:t>Electrical </a:t>
            </a:r>
            <a:r>
              <a:rPr sz="2800" dirty="0"/>
              <a:t>→ </a:t>
            </a:r>
            <a:r>
              <a:rPr lang="en-IN" sz="2800" dirty="0" smtClean="0"/>
              <a:t>  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 smtClean="0"/>
              <a:t>Mechanical </a:t>
            </a:r>
            <a:r>
              <a:rPr sz="2800" dirty="0"/>
              <a:t>(Motor) → </a:t>
            </a:r>
            <a:r>
              <a:rPr lang="en-IN" sz="2800" dirty="0" smtClean="0"/>
              <a:t>  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 smtClean="0"/>
              <a:t>Vehicle </a:t>
            </a:r>
            <a:r>
              <a:rPr sz="2800" dirty="0"/>
              <a:t>Motion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695" r="14059"/>
          <a:stretch/>
        </p:blipFill>
        <p:spPr>
          <a:xfrm>
            <a:off x="1620430" y="472392"/>
            <a:ext cx="5999570" cy="638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9572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Mathematical Efficiency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/>
              <a:t>Overall efficiency of series HEV:</a:t>
            </a:r>
          </a:p>
          <a:p>
            <a:r>
              <a:rPr sz="2800" dirty="0" err="1"/>
              <a:t>η_total</a:t>
            </a:r>
            <a:r>
              <a:rPr sz="2800" dirty="0"/>
              <a:t> = </a:t>
            </a:r>
            <a:r>
              <a:rPr sz="2800" dirty="0" err="1"/>
              <a:t>η_engine</a:t>
            </a:r>
            <a:r>
              <a:rPr sz="2800" dirty="0"/>
              <a:t> × </a:t>
            </a:r>
            <a:r>
              <a:rPr sz="2800" dirty="0" err="1"/>
              <a:t>η_generator</a:t>
            </a:r>
            <a:r>
              <a:rPr sz="2800" dirty="0"/>
              <a:t> × </a:t>
            </a:r>
            <a:r>
              <a:rPr sz="2800" dirty="0" err="1"/>
              <a:t>η_motor</a:t>
            </a:r>
            <a:endParaRPr sz="2800" dirty="0"/>
          </a:p>
          <a:p>
            <a:r>
              <a:rPr sz="2800" dirty="0"/>
              <a:t>If </a:t>
            </a:r>
            <a:r>
              <a:rPr sz="2800" dirty="0" err="1"/>
              <a:t>η_engine</a:t>
            </a:r>
            <a:r>
              <a:rPr sz="2800" dirty="0"/>
              <a:t>=0.35, </a:t>
            </a:r>
            <a:r>
              <a:rPr sz="2800" dirty="0" err="1"/>
              <a:t>η_gen</a:t>
            </a:r>
            <a:r>
              <a:rPr sz="2800" dirty="0"/>
              <a:t>=0.9, </a:t>
            </a:r>
            <a:r>
              <a:rPr sz="2800" dirty="0" err="1"/>
              <a:t>η_motor</a:t>
            </a:r>
            <a:r>
              <a:rPr sz="2800" dirty="0"/>
              <a:t>=0.92</a:t>
            </a:r>
          </a:p>
          <a:p>
            <a:r>
              <a:rPr sz="2800" dirty="0" err="1"/>
              <a:t>η_total</a:t>
            </a:r>
            <a:r>
              <a:rPr sz="2800" dirty="0"/>
              <a:t> ≈ 0.29 (29%)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Power Balance Equation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/>
              <a:t>Total propulsion power required:</a:t>
            </a:r>
          </a:p>
          <a:p>
            <a:r>
              <a:rPr sz="2800" dirty="0" err="1"/>
              <a:t>P_total</a:t>
            </a:r>
            <a:r>
              <a:rPr sz="2800" dirty="0"/>
              <a:t> = </a:t>
            </a:r>
            <a:r>
              <a:rPr sz="2800" dirty="0" err="1"/>
              <a:t>P_engine</a:t>
            </a:r>
            <a:r>
              <a:rPr sz="2800" dirty="0"/>
              <a:t> + </a:t>
            </a:r>
            <a:r>
              <a:rPr sz="2800" dirty="0" err="1"/>
              <a:t>P_motor</a:t>
            </a:r>
            <a:endParaRPr sz="2800" dirty="0"/>
          </a:p>
          <a:p>
            <a:r>
              <a:rPr sz="2800" dirty="0"/>
              <a:t>This allows load sharing and downsizing of the engine.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Battery Energy Equation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/>
              <a:t>Stored Energy = V × I × t</a:t>
            </a:r>
          </a:p>
          <a:p>
            <a:r>
              <a:rPr sz="2800" dirty="0"/>
              <a:t>Energy capacity (kWh) = Voltage × Ampere-hour / 1000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rPr dirty="0" smtClean="0"/>
              <a:t>Fuel </a:t>
            </a:r>
            <a:r>
              <a:rPr dirty="0"/>
              <a:t>Saving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/>
              <a:t>Vehicle distance = 20,000 km/year</a:t>
            </a:r>
          </a:p>
          <a:p>
            <a:r>
              <a:rPr sz="2800" dirty="0"/>
              <a:t>ICE mileage = 14 km/l</a:t>
            </a:r>
          </a:p>
          <a:p>
            <a:r>
              <a:rPr sz="2800" dirty="0"/>
              <a:t>HEV mileage = 24 km/l</a:t>
            </a:r>
          </a:p>
          <a:p>
            <a:r>
              <a:rPr sz="2800" dirty="0"/>
              <a:t>Fuel ICE = 1428 L</a:t>
            </a:r>
          </a:p>
          <a:p>
            <a:r>
              <a:rPr sz="2800" dirty="0"/>
              <a:t>Fuel HEV = 833 L</a:t>
            </a:r>
          </a:p>
          <a:p>
            <a:r>
              <a:rPr sz="2800" dirty="0"/>
              <a:t>Saving = 595 L per year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rPr dirty="0" smtClean="0"/>
              <a:t>CO</a:t>
            </a:r>
            <a:r>
              <a:rPr dirty="0"/>
              <a:t>₂ Reduction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/>
              <a:t>CO₂ emission factor = 2.3 kg/L</a:t>
            </a:r>
          </a:p>
          <a:p>
            <a:r>
              <a:rPr sz="2800" dirty="0"/>
              <a:t>Fuel saved = 595 L</a:t>
            </a:r>
          </a:p>
          <a:p>
            <a:r>
              <a:rPr sz="2800" dirty="0"/>
              <a:t>CO₂ reduction = 1368.5 kg/year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rPr dirty="0" smtClean="0"/>
              <a:t>Regenerative </a:t>
            </a:r>
            <a:r>
              <a:rPr dirty="0"/>
              <a:t>Energy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/>
              <a:t>Mass = 1500 kg</a:t>
            </a:r>
          </a:p>
          <a:p>
            <a:r>
              <a:rPr sz="2800" dirty="0"/>
              <a:t>Speed = 72 km/h (20 m/s)</a:t>
            </a:r>
          </a:p>
          <a:p>
            <a:r>
              <a:rPr sz="2800" dirty="0"/>
              <a:t>E = 1/2 mv²</a:t>
            </a:r>
          </a:p>
          <a:p>
            <a:r>
              <a:rPr sz="2800" dirty="0"/>
              <a:t>E = 0.5 ×1500×400 = 300,000 J</a:t>
            </a:r>
          </a:p>
          <a:p>
            <a:r>
              <a:rPr sz="2800" dirty="0"/>
              <a:t>If regen efficiency = 60%</a:t>
            </a:r>
          </a:p>
          <a:p>
            <a:r>
              <a:rPr sz="2800" dirty="0"/>
              <a:t>Recovered energy = 180,000 J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Advantages of Hybridization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  <a:defRPr sz="1800">
                <a:solidFill>
                  <a:srgbClr val="000000"/>
                </a:solidFill>
              </a:defRPr>
            </a:pPr>
            <a:r>
              <a:rPr sz="2800" dirty="0"/>
              <a:t>• Improved fuel economy</a:t>
            </a:r>
          </a:p>
          <a:p>
            <a:pPr marL="0" indent="0">
              <a:buNone/>
            </a:pPr>
            <a:r>
              <a:rPr sz="2800" dirty="0"/>
              <a:t>• Reduced engine size</a:t>
            </a:r>
          </a:p>
          <a:p>
            <a:pPr marL="0" indent="0">
              <a:buNone/>
            </a:pPr>
            <a:r>
              <a:rPr sz="2800" dirty="0"/>
              <a:t>• Lower emissions</a:t>
            </a:r>
          </a:p>
          <a:p>
            <a:pPr marL="0" indent="0">
              <a:buNone/>
            </a:pPr>
            <a:r>
              <a:rPr sz="2800" dirty="0"/>
              <a:t>• Energy recovery capability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  <a:defRPr sz="1800">
                <a:solidFill>
                  <a:srgbClr val="000000"/>
                </a:solidFill>
              </a:defRPr>
            </a:pPr>
            <a:r>
              <a:rPr sz="2800" dirty="0"/>
              <a:t>• Higher cost</a:t>
            </a:r>
          </a:p>
          <a:p>
            <a:pPr marL="0" indent="0">
              <a:buNone/>
            </a:pPr>
            <a:r>
              <a:rPr sz="2800" dirty="0"/>
              <a:t>• Battery degradation</a:t>
            </a:r>
          </a:p>
          <a:p>
            <a:pPr marL="0" indent="0">
              <a:buNone/>
            </a:pPr>
            <a:r>
              <a:rPr sz="2800" dirty="0"/>
              <a:t>• Complex control algorithms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Control Strategy in HEVs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/>
              <a:t>Energy Management System determines power split based on:</a:t>
            </a:r>
          </a:p>
          <a:p>
            <a:r>
              <a:rPr sz="2800" dirty="0" smtClean="0"/>
              <a:t>State </a:t>
            </a:r>
            <a:r>
              <a:rPr sz="2800" dirty="0"/>
              <a:t>of Charge (SOC)</a:t>
            </a:r>
          </a:p>
          <a:p>
            <a:r>
              <a:rPr sz="2800" dirty="0" smtClean="0"/>
              <a:t>Driver </a:t>
            </a:r>
            <a:r>
              <a:rPr sz="2800" dirty="0"/>
              <a:t>demand</a:t>
            </a:r>
          </a:p>
          <a:p>
            <a:r>
              <a:rPr sz="2800" dirty="0" smtClean="0"/>
              <a:t>Vehicle </a:t>
            </a:r>
            <a:r>
              <a:rPr sz="2800" dirty="0"/>
              <a:t>speed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SOC Operating Range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/>
              <a:t>Battery SOC typically maintained between 40–80% to maximize lifespan and efficiency.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Lifecycle Emission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/>
              <a:t>Manufacturing emissions + Operating emissions + Recycling emissions.</a:t>
            </a:r>
          </a:p>
          <a:p>
            <a:r>
              <a:rPr sz="2800" dirty="0"/>
              <a:t>HEVs reduce lifecycle emissions compared to ICE vehicles.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Comparison with EV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/>
              <a:t>HEV: Smaller battery, no charging dependency.</a:t>
            </a:r>
          </a:p>
          <a:p>
            <a:r>
              <a:rPr sz="2800" dirty="0"/>
              <a:t>EV: Zero tailpipe emission but depends on grid mix.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Indian Context &amp;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 smtClean="0"/>
              <a:t>FAME</a:t>
            </a:r>
            <a:r>
              <a:rPr lang="en-IN" sz="2800" dirty="0" smtClean="0"/>
              <a:t>(</a:t>
            </a:r>
            <a:r>
              <a:rPr lang="en-US" sz="2800" dirty="0"/>
              <a:t>Faster Adoption and Manufacturing of Electric </a:t>
            </a:r>
            <a:r>
              <a:rPr lang="en-US" sz="2800" dirty="0" smtClean="0"/>
              <a:t>Vehicles)</a:t>
            </a:r>
            <a:r>
              <a:rPr sz="2800" dirty="0" smtClean="0"/>
              <a:t>-II </a:t>
            </a:r>
            <a:r>
              <a:rPr sz="2800" dirty="0"/>
              <a:t>scheme promotes electrified vehicles.</a:t>
            </a:r>
          </a:p>
          <a:p>
            <a:r>
              <a:rPr sz="2800" dirty="0"/>
              <a:t>BS6 norms require lower emissions.</a:t>
            </a:r>
          </a:p>
          <a:p>
            <a:r>
              <a:rPr sz="2800" dirty="0"/>
              <a:t>Hybrid technology supports compliance.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/>
              <a:t>Hybrid Electric Vehicles significantly enhance fuel efficiency and reduce emissions. </a:t>
            </a:r>
            <a:endParaRPr lang="en-IN" sz="2800" dirty="0" smtClean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 smtClean="0"/>
              <a:t>They </a:t>
            </a:r>
            <a:r>
              <a:rPr sz="2800" dirty="0"/>
              <a:t>represent a crucial transitional technology toward full electrification.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1326</Words>
  <Application>Microsoft Office PowerPoint</Application>
  <PresentationFormat>On-screen Show (4:3)</PresentationFormat>
  <Paragraphs>160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Unit 4: Hybrid Electric Vehicles </vt:lpstr>
      <vt:lpstr>History of Hybrid Vehicles </vt:lpstr>
      <vt:lpstr>History </vt:lpstr>
      <vt:lpstr>History </vt:lpstr>
      <vt:lpstr>History</vt:lpstr>
      <vt:lpstr>History </vt:lpstr>
      <vt:lpstr>History </vt:lpstr>
      <vt:lpstr>History </vt:lpstr>
      <vt:lpstr>History </vt:lpstr>
      <vt:lpstr>History </vt:lpstr>
      <vt:lpstr>PowerPoint Presentation</vt:lpstr>
      <vt:lpstr>PowerPoint Presentation</vt:lpstr>
      <vt:lpstr>Global Transport Energy Crisis</vt:lpstr>
      <vt:lpstr>Thermodynamic Limitation of IC Engines</vt:lpstr>
      <vt:lpstr>Energy Wastage During Braking</vt:lpstr>
      <vt:lpstr>PowerPoint Presentation</vt:lpstr>
      <vt:lpstr>Definition &amp; Operating Philosophy of HEV</vt:lpstr>
      <vt:lpstr>Modes of Operation in HEVs</vt:lpstr>
      <vt:lpstr>Detailed HEV Architecture with Power Flow</vt:lpstr>
      <vt:lpstr>Energy Flow Analysis</vt:lpstr>
      <vt:lpstr>PowerPoint Presentation</vt:lpstr>
      <vt:lpstr>Mathematical Efficiency Analysis</vt:lpstr>
      <vt:lpstr>Power Balance Equation</vt:lpstr>
      <vt:lpstr>Battery Energy Equation</vt:lpstr>
      <vt:lpstr>Fuel Saving</vt:lpstr>
      <vt:lpstr>CO₂ Reduction</vt:lpstr>
      <vt:lpstr>Regenerative Energy</vt:lpstr>
      <vt:lpstr>Advantages of Hybridization</vt:lpstr>
      <vt:lpstr>Limitations</vt:lpstr>
      <vt:lpstr>Control Strategy in HEVs</vt:lpstr>
      <vt:lpstr>SOC Operating Range</vt:lpstr>
      <vt:lpstr>Lifecycle Emission Analysis</vt:lpstr>
      <vt:lpstr>Comparison with EV</vt:lpstr>
      <vt:lpstr>Indian Context &amp; Policy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4: Hybrid Electric Vehicles – Advanced Lecture</dc:title>
  <dc:subject/>
  <dc:creator/>
  <cp:keywords/>
  <dc:description>generated using python-pptx</dc:description>
  <cp:lastModifiedBy>Sachin Argade</cp:lastModifiedBy>
  <cp:revision>23</cp:revision>
  <dcterms:created xsi:type="dcterms:W3CDTF">2013-01-27T09:14:16Z</dcterms:created>
  <dcterms:modified xsi:type="dcterms:W3CDTF">2026-03-05T09:51:26Z</dcterms:modified>
  <cp:category/>
</cp:coreProperties>
</file>